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74" r:id="rId5"/>
    <p:sldId id="256" r:id="rId6"/>
    <p:sldId id="275" r:id="rId7"/>
    <p:sldId id="263" r:id="rId8"/>
    <p:sldId id="271" r:id="rId9"/>
    <p:sldId id="260" r:id="rId10"/>
    <p:sldId id="261" r:id="rId11"/>
    <p:sldId id="264" r:id="rId12"/>
    <p:sldId id="262" r:id="rId13"/>
    <p:sldId id="265" r:id="rId14"/>
    <p:sldId id="266" r:id="rId15"/>
    <p:sldId id="267" r:id="rId16"/>
    <p:sldId id="269" r:id="rId17"/>
    <p:sldId id="268" r:id="rId18"/>
    <p:sldId id="270" r:id="rId19"/>
    <p:sldId id="272" r:id="rId20"/>
    <p:sldId id="273" r:id="rId21"/>
    <p:sldId id="276" r:id="rId22"/>
    <p:sldId id="277" r:id="rId23"/>
    <p:sldId id="278" r:id="rId24"/>
    <p:sldId id="279" r:id="rId25"/>
    <p:sldId id="283" r:id="rId26"/>
    <p:sldId id="284" r:id="rId27"/>
    <p:sldId id="280" r:id="rId28"/>
    <p:sldId id="285" r:id="rId29"/>
    <p:sldId id="281" r:id="rId30"/>
    <p:sldId id="286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3A4C"/>
    <a:srgbClr val="5A00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0" autoAdjust="0"/>
    <p:restoredTop sz="94660"/>
  </p:normalViewPr>
  <p:slideViewPr>
    <p:cSldViewPr snapToGrid="0">
      <p:cViewPr>
        <p:scale>
          <a:sx n="125" d="100"/>
          <a:sy n="125" d="100"/>
        </p:scale>
        <p:origin x="-859" y="-20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3A3ED-033A-452F-9E0F-2CD6A4EF3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1673C6-EF47-404D-B228-AA9231419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039C78-55FE-446B-885E-B828093F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443FEB-F3DE-4B49-A76B-7AAD6F68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2BCAF0-4F04-4353-BF61-18B7E622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9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B8487-43FA-431F-8A13-609269C0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69B1CC-00C2-4980-B54F-D830D6DA8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C3669-7E68-4E29-883F-2EDC65F5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2FDC99-EC7D-4AC6-BFEB-D3651A18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52555-7594-4387-AC04-ED37083E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10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6736F-3818-4487-916B-A61984F6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6F4264-B025-42B9-9650-09A6AC265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9CF65-E279-41CC-A7C6-0C7CFE20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40A4DC-A83D-4A22-9A2B-98BA33A1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D0F44-5998-48AC-820E-5F9BB0F4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9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00272-4800-483F-A4A2-A9C0B51C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2BC37-C67C-42BE-8A91-7FF88E352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29310C-E19C-4F98-A1D5-79B6930E0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B382FB-05CF-4E3E-98C7-8369AF896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B5DBFB-5ADB-4A79-98B7-9BD9B3173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299753-2886-4DDE-9162-CC84EE89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29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A1F98-A313-4821-B9CE-0E15F1177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8A319E-65C4-4620-A805-72D6469DE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122058-9599-49BF-B2F6-EA0A23CFF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6CF167-ADF2-4AA5-B667-8E916B72D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1C98DC-EB3D-48FC-A95F-F2A5AD1840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901261-9749-402E-B2CB-BAC63A4A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0E8921-0B1E-431C-9A22-4DC1DC44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37A46E-ADC1-4D2B-BE43-BC7FBB0D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329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6E6B3-B61D-46AD-8326-2AA964AB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6C6922-101E-421D-A3DC-F560AFA3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B418F0-FA92-427D-9405-116E2ED3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4B0CAE-0AE2-446F-8004-4FF7D38F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34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7A3389-7813-4BE3-A175-04DBF52A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5896CF0-3443-4EBB-B1CF-68C1A473D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7F224E-219B-40DA-A5BE-76593F57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14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2A3C4-A964-4AD1-9329-8409D732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54EB8-9DC5-4442-93DB-0F79D3665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DE0A22-E3C3-4463-BAF5-10569C99E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C84BFF-E432-4609-8196-F2FCD74F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BBDDC4-B0CB-4965-8C39-E8A30A0D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F31C27-0CD8-4D28-940B-F5F7625D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23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C512B-4DC6-4F35-9BE6-9A081FE9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75FE21-9477-4AF0-A306-EBDDB0EB3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C57D70-9BFA-40D3-80F5-A3F2BBAD3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23E153-CF36-4B51-8FD7-5EE959BC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90D33A-3C90-406E-96CC-6F3B37C8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1F8809-80BA-46AE-AB4C-FBCFCA3C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87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7E838-FE9A-40FC-8FC3-DFF0887BF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9CF8D1-4C2D-4845-83EB-4EF4C81CF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C1995A-66FF-4F69-A8ED-9EEF089C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02CB2-A52E-4CC4-B35B-9FFAD2DD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01E24E-B3E1-4F3C-B893-237960B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79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57C713-0C8C-4C25-988C-99D04F596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671223-CF79-4ECC-AC86-D6508D660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CB75EA-CEC7-423A-A12C-EBD7A34F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7D34EC-86F4-42BA-BEF5-FD69E3632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3B5284-BD64-4C96-A9A7-316D93FE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1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581EEC-7F27-458C-88C2-7AB2A682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B72BA9-332E-4C18-AAB0-E028B6FDB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69576"/>
            <a:ext cx="10515600" cy="5307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0206B7-1E58-48DE-A4A9-3554D0D9D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A8D0A-F850-421B-BDF3-1D36E7456028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390C3-9598-412F-B71E-7DBDF2E5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3A2CEF-576C-4EF1-8B1E-06BE2647F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BFA48-7805-478E-8405-732A556BA3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96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71722A8-1B6B-49E5-BFAF-1478C773CCB0}"/>
              </a:ext>
            </a:extLst>
          </p:cNvPr>
          <p:cNvSpPr txBox="1"/>
          <p:nvPr/>
        </p:nvSpPr>
        <p:spPr>
          <a:xfrm>
            <a:off x="401052" y="449179"/>
            <a:ext cx="19189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旧数据集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（老师使用</a:t>
            </a:r>
            <a:r>
              <a:rPr lang="en-US" altLang="zh-CN" sz="2800" dirty="0"/>
              <a:t>combat</a:t>
            </a:r>
            <a:r>
              <a:rPr lang="zh-CN" altLang="en-US" sz="2800" dirty="0"/>
              <a:t>预先处理的数据集）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B629E7C-ED51-45BD-A1F1-FE7CC58E6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001" y="200447"/>
            <a:ext cx="9470947" cy="645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7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04F0CA-991D-40DB-A6E8-CE14A0FFF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725" y="121096"/>
            <a:ext cx="9897275" cy="67369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1722A8-1B6B-49E5-BFAF-1478C773CCB0}"/>
              </a:ext>
            </a:extLst>
          </p:cNvPr>
          <p:cNvSpPr txBox="1"/>
          <p:nvPr/>
        </p:nvSpPr>
        <p:spPr>
          <a:xfrm>
            <a:off x="401052" y="449179"/>
            <a:ext cx="18936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新数据集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新数据集更加平衡一些</a:t>
            </a:r>
          </a:p>
        </p:txBody>
      </p:sp>
    </p:spTree>
    <p:extLst>
      <p:ext uri="{BB962C8B-B14F-4D97-AF65-F5344CB8AC3E}">
        <p14:creationId xmlns:p14="http://schemas.microsoft.com/office/powerpoint/2010/main" val="3754339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44963D5-5514-4BE7-80ED-BC6B9FCA1F50}"/>
              </a:ext>
            </a:extLst>
          </p:cNvPr>
          <p:cNvSpPr txBox="1"/>
          <p:nvPr/>
        </p:nvSpPr>
        <p:spPr>
          <a:xfrm>
            <a:off x="673768" y="242559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combat </a:t>
            </a:r>
            <a:r>
              <a:rPr lang="en-US" altLang="zh-CN" sz="2800" dirty="0" err="1"/>
              <a:t>regressout</a:t>
            </a:r>
            <a:endParaRPr lang="zh-CN" alt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39EA8F-D08B-4AF4-AD25-4A32654F0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1076675"/>
            <a:ext cx="12192000" cy="53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22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44963D5-5514-4BE7-80ED-BC6B9FCA1F50}"/>
              </a:ext>
            </a:extLst>
          </p:cNvPr>
          <p:cNvSpPr txBox="1"/>
          <p:nvPr/>
        </p:nvSpPr>
        <p:spPr>
          <a:xfrm>
            <a:off x="673768" y="242559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combat </a:t>
            </a:r>
            <a:r>
              <a:rPr lang="en-US" altLang="zh-CN" sz="2800" dirty="0" err="1"/>
              <a:t>regressout</a:t>
            </a:r>
            <a:endParaRPr lang="zh-CN" alt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39EA8F-D08B-4AF4-AD25-4A32654F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833" b="47043"/>
          <a:stretch/>
        </p:blipFill>
        <p:spPr>
          <a:xfrm>
            <a:off x="396240" y="1151859"/>
            <a:ext cx="11561848" cy="45987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ABDF3A6-97F4-4088-AFA8-EA849ACABA54}"/>
              </a:ext>
            </a:extLst>
          </p:cNvPr>
          <p:cNvSpPr txBox="1"/>
          <p:nvPr/>
        </p:nvSpPr>
        <p:spPr>
          <a:xfrm>
            <a:off x="206408" y="5831840"/>
            <a:ext cx="115403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可以见两条发育轨迹</a:t>
            </a:r>
            <a:endParaRPr lang="en-US" altLang="zh-CN" sz="2400" dirty="0"/>
          </a:p>
          <a:p>
            <a:r>
              <a:rPr lang="en-US" altLang="zh-CN" sz="2400" dirty="0"/>
              <a:t>Epiblast - </a:t>
            </a:r>
            <a:r>
              <a:rPr lang="zh-CN" altLang="en-US" sz="2400" dirty="0"/>
              <a:t>原条细胞</a:t>
            </a:r>
            <a:r>
              <a:rPr lang="en-US" altLang="zh-CN" sz="2400" dirty="0"/>
              <a:t> –</a:t>
            </a:r>
            <a:r>
              <a:rPr lang="zh-CN" altLang="en-US" sz="2400" dirty="0"/>
              <a:t>新生中胚层 </a:t>
            </a:r>
            <a:r>
              <a:rPr lang="en-US" altLang="zh-CN" sz="2400" dirty="0"/>
              <a:t>| Epiblast - </a:t>
            </a:r>
            <a:r>
              <a:rPr lang="zh-CN" altLang="en-US" sz="2400" dirty="0"/>
              <a:t>原条细胞</a:t>
            </a:r>
            <a:r>
              <a:rPr lang="en-US" altLang="zh-CN" sz="2400" dirty="0"/>
              <a:t> –</a:t>
            </a:r>
            <a:r>
              <a:rPr lang="zh-CN" altLang="en-US" sz="2400" dirty="0"/>
              <a:t> 前原条细胞 </a:t>
            </a:r>
            <a:r>
              <a:rPr lang="en-US" altLang="zh-CN" sz="2400" dirty="0"/>
              <a:t>– Def. endoderm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71643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F98C78D-B3A8-43EA-ABBD-B77420AD5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779"/>
            <a:ext cx="12192000" cy="532644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44963D5-5514-4BE7-80ED-BC6B9FCA1F50}"/>
              </a:ext>
            </a:extLst>
          </p:cNvPr>
          <p:cNvSpPr txBox="1"/>
          <p:nvPr/>
        </p:nvSpPr>
        <p:spPr>
          <a:xfrm>
            <a:off x="673768" y="242559"/>
            <a:ext cx="4277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MNN </a:t>
            </a:r>
            <a:r>
              <a:rPr lang="en-US" altLang="zh-CN" sz="2800" dirty="0" err="1"/>
              <a:t>regressout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4649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F98C78D-B3A8-43EA-ABBD-B77420AD53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50" b="46662"/>
          <a:stretch/>
        </p:blipFill>
        <p:spPr>
          <a:xfrm>
            <a:off x="170922" y="831819"/>
            <a:ext cx="11850155" cy="47815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44963D5-5514-4BE7-80ED-BC6B9FCA1F50}"/>
              </a:ext>
            </a:extLst>
          </p:cNvPr>
          <p:cNvSpPr txBox="1"/>
          <p:nvPr/>
        </p:nvSpPr>
        <p:spPr>
          <a:xfrm>
            <a:off x="673768" y="242559"/>
            <a:ext cx="42771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MNN </a:t>
            </a:r>
            <a:r>
              <a:rPr lang="en-US" altLang="zh-CN" sz="2800" dirty="0" err="1"/>
              <a:t>regressout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DDF7A1-CC44-4E72-ADE7-E852E3CB9622}"/>
              </a:ext>
            </a:extLst>
          </p:cNvPr>
          <p:cNvSpPr txBox="1"/>
          <p:nvPr/>
        </p:nvSpPr>
        <p:spPr>
          <a:xfrm>
            <a:off x="988728" y="5750560"/>
            <a:ext cx="100912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可以见两条发育轨迹</a:t>
            </a:r>
            <a:endParaRPr lang="en-US" altLang="zh-CN" sz="2800" dirty="0"/>
          </a:p>
          <a:p>
            <a:r>
              <a:rPr lang="en-US" altLang="zh-CN" sz="2800" dirty="0"/>
              <a:t>Epiblast - </a:t>
            </a:r>
            <a:r>
              <a:rPr lang="zh-CN" altLang="en-US" sz="2800" dirty="0"/>
              <a:t>原条细胞</a:t>
            </a:r>
            <a:r>
              <a:rPr lang="en-US" altLang="zh-CN" sz="2800" dirty="0"/>
              <a:t> –</a:t>
            </a:r>
            <a:r>
              <a:rPr lang="zh-CN" altLang="en-US" sz="2800" dirty="0"/>
              <a:t>新生中胚层 </a:t>
            </a:r>
            <a:r>
              <a:rPr lang="en-US" altLang="zh-CN" sz="2800" dirty="0"/>
              <a:t>| </a:t>
            </a:r>
            <a:r>
              <a:rPr lang="zh-CN" altLang="en-US" sz="2800" dirty="0"/>
              <a:t>但是前原条细胞后的断掉了</a:t>
            </a:r>
          </a:p>
        </p:txBody>
      </p:sp>
    </p:spTree>
    <p:extLst>
      <p:ext uri="{BB962C8B-B14F-4D97-AF65-F5344CB8AC3E}">
        <p14:creationId xmlns:p14="http://schemas.microsoft.com/office/powerpoint/2010/main" val="1089340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44963D5-5514-4BE7-80ED-BC6B9FCA1F50}"/>
              </a:ext>
            </a:extLst>
          </p:cNvPr>
          <p:cNvSpPr txBox="1"/>
          <p:nvPr/>
        </p:nvSpPr>
        <p:spPr>
          <a:xfrm>
            <a:off x="673768" y="242559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combat </a:t>
            </a:r>
            <a:r>
              <a:rPr lang="en-US" altLang="zh-CN" sz="2800" dirty="0" err="1"/>
              <a:t>regressout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C0C957-159D-4A14-A73C-06826701FA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00" r="25583" b="-206"/>
          <a:stretch/>
        </p:blipFill>
        <p:spPr>
          <a:xfrm>
            <a:off x="0" y="1230613"/>
            <a:ext cx="12118600" cy="511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0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44963D5-5514-4BE7-80ED-BC6B9FCA1F50}"/>
              </a:ext>
            </a:extLst>
          </p:cNvPr>
          <p:cNvSpPr txBox="1"/>
          <p:nvPr/>
        </p:nvSpPr>
        <p:spPr>
          <a:xfrm>
            <a:off x="673768" y="242559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combat </a:t>
            </a:r>
            <a:r>
              <a:rPr lang="en-US" altLang="zh-CN" sz="2800" dirty="0" err="1"/>
              <a:t>regressout</a:t>
            </a: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A993CE-0ACF-4AEC-AF03-073BCB8F24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33" t="5154" r="208" b="5433"/>
          <a:stretch/>
        </p:blipFill>
        <p:spPr>
          <a:xfrm>
            <a:off x="673768" y="1239519"/>
            <a:ext cx="6844632" cy="503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18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12F7CE-92CD-4BC5-8CCD-F6B5DD022056}"/>
              </a:ext>
            </a:extLst>
          </p:cNvPr>
          <p:cNvSpPr txBox="1"/>
          <p:nvPr/>
        </p:nvSpPr>
        <p:spPr>
          <a:xfrm>
            <a:off x="673768" y="242559"/>
            <a:ext cx="94756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combat </a:t>
            </a:r>
            <a:r>
              <a:rPr lang="en-US" altLang="zh-CN" sz="2800" dirty="0" err="1"/>
              <a:t>regressout</a:t>
            </a:r>
            <a:r>
              <a:rPr lang="en-US" altLang="zh-CN" sz="2800" dirty="0"/>
              <a:t> </a:t>
            </a:r>
            <a:r>
              <a:rPr lang="zh-CN" altLang="en-US" sz="2800" dirty="0"/>
              <a:t>比较原条和新生中胚层 火山图</a:t>
            </a:r>
            <a:endParaRPr lang="en-US" altLang="zh-CN" sz="2800" dirty="0"/>
          </a:p>
          <a:p>
            <a:r>
              <a:rPr lang="zh-CN" altLang="en-US" sz="2800" dirty="0"/>
              <a:t>蓝色为新生中胚层相较于原条下调的基因</a:t>
            </a:r>
            <a:endParaRPr lang="en-US" altLang="zh-CN" sz="2800" dirty="0"/>
          </a:p>
          <a:p>
            <a:r>
              <a:rPr lang="zh-CN" altLang="en-US" sz="2800" dirty="0"/>
              <a:t>红色为新生中胚层相较于原条下调的基因</a:t>
            </a:r>
            <a:endParaRPr lang="en-US" altLang="zh-CN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E2180A-8408-4068-9D24-EF2BDF7DD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284" y="1876927"/>
            <a:ext cx="6641431" cy="498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7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E186D53-0389-4B7C-96BF-394E33F89F32}"/>
              </a:ext>
            </a:extLst>
          </p:cNvPr>
          <p:cNvSpPr txBox="1"/>
          <p:nvPr/>
        </p:nvSpPr>
        <p:spPr>
          <a:xfrm>
            <a:off x="673768" y="242559"/>
            <a:ext cx="99726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新数据集 </a:t>
            </a:r>
            <a:r>
              <a:rPr lang="en-US" altLang="zh-CN" sz="2000" dirty="0"/>
              <a:t>combat </a:t>
            </a:r>
            <a:r>
              <a:rPr lang="en-US" altLang="zh-CN" sz="2000" dirty="0" err="1"/>
              <a:t>regressout</a:t>
            </a:r>
            <a:r>
              <a:rPr lang="en-US" altLang="zh-CN" sz="2000" dirty="0"/>
              <a:t> </a:t>
            </a:r>
            <a:r>
              <a:rPr lang="zh-CN" altLang="en-US" sz="2000" dirty="0"/>
              <a:t>比较原条和新生中胚层细胞</a:t>
            </a:r>
            <a:endParaRPr lang="en-US" altLang="zh-CN" sz="2000" dirty="0"/>
          </a:p>
          <a:p>
            <a:r>
              <a:rPr lang="zh-CN" altLang="en-US" sz="2000" dirty="0"/>
              <a:t>右半为，在比较中前</a:t>
            </a:r>
            <a:r>
              <a:rPr lang="en-US" altLang="zh-CN" sz="2000" dirty="0"/>
              <a:t>10</a:t>
            </a:r>
            <a:r>
              <a:rPr lang="zh-CN" altLang="en-US" sz="2000" dirty="0"/>
              <a:t>个</a:t>
            </a:r>
            <a:r>
              <a:rPr lang="en-US" altLang="zh-CN" sz="2000" dirty="0"/>
              <a:t>p-value</a:t>
            </a:r>
            <a:r>
              <a:rPr lang="zh-CN" altLang="en-US" sz="2000" dirty="0"/>
              <a:t>最小的基因。左半为，</a:t>
            </a:r>
            <a:r>
              <a:rPr lang="en-US" altLang="zh-CN" sz="2000" dirty="0"/>
              <a:t>10</a:t>
            </a:r>
            <a:r>
              <a:rPr lang="zh-CN" altLang="en-US" sz="2000" dirty="0"/>
              <a:t>个</a:t>
            </a:r>
            <a:r>
              <a:rPr lang="en-US" altLang="zh-CN" sz="2000" dirty="0"/>
              <a:t>log fold change</a:t>
            </a:r>
            <a:r>
              <a:rPr lang="zh-CN" altLang="en-US" sz="2000" dirty="0"/>
              <a:t>最大的基因</a:t>
            </a:r>
            <a:endParaRPr lang="en-US" altLang="zh-CN" sz="2000" dirty="0"/>
          </a:p>
          <a:p>
            <a:r>
              <a:rPr lang="zh-CN" altLang="en-US" sz="2000" dirty="0"/>
              <a:t>组合成下图的</a:t>
            </a:r>
            <a:r>
              <a:rPr lang="en-US" altLang="zh-CN" sz="2000" dirty="0"/>
              <a:t>20</a:t>
            </a:r>
            <a:r>
              <a:rPr lang="zh-CN" altLang="en-US" sz="2000" dirty="0"/>
              <a:t>个基因  蓝色为原条 棕色为新生中胚层</a:t>
            </a:r>
            <a:endParaRPr lang="en-US" altLang="zh-CN" sz="2000" dirty="0"/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0B065239-6F5B-4B21-ACE8-E4E6A065C661}"/>
              </a:ext>
            </a:extLst>
          </p:cNvPr>
          <p:cNvSpPr/>
          <p:nvPr/>
        </p:nvSpPr>
        <p:spPr>
          <a:xfrm rot="5400000">
            <a:off x="3340907" y="253096"/>
            <a:ext cx="345715" cy="36677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56883BA8-DC5F-4F3A-A6F6-F5BBB70A37C6}"/>
              </a:ext>
            </a:extLst>
          </p:cNvPr>
          <p:cNvSpPr/>
          <p:nvPr/>
        </p:nvSpPr>
        <p:spPr>
          <a:xfrm rot="5400000">
            <a:off x="7081000" y="249330"/>
            <a:ext cx="345715" cy="36677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FA75EA0-7E32-42F2-B85E-F88C80BD076D}"/>
              </a:ext>
            </a:extLst>
          </p:cNvPr>
          <p:cNvSpPr txBox="1"/>
          <p:nvPr/>
        </p:nvSpPr>
        <p:spPr>
          <a:xfrm>
            <a:off x="5697742" y="1522382"/>
            <a:ext cx="2911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前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p-value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最小的基因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4A24AA-11EC-47D7-9404-AAE1D0553C46}"/>
              </a:ext>
            </a:extLst>
          </p:cNvPr>
          <p:cNvSpPr txBox="1"/>
          <p:nvPr/>
        </p:nvSpPr>
        <p:spPr>
          <a:xfrm>
            <a:off x="1679884" y="1531701"/>
            <a:ext cx="3740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前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log fold change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最大的基因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94905C-2421-4C2B-BBA2-08D53EFC2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86" y="2461346"/>
            <a:ext cx="8681711" cy="399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17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E186D53-0389-4B7C-96BF-394E33F89F32}"/>
              </a:ext>
            </a:extLst>
          </p:cNvPr>
          <p:cNvSpPr txBox="1"/>
          <p:nvPr/>
        </p:nvSpPr>
        <p:spPr>
          <a:xfrm>
            <a:off x="673769" y="242559"/>
            <a:ext cx="113861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combat </a:t>
            </a:r>
            <a:r>
              <a:rPr lang="en-US" altLang="zh-CN" sz="2800" dirty="0" err="1"/>
              <a:t>regressout</a:t>
            </a:r>
            <a:r>
              <a:rPr lang="en-US" altLang="zh-CN" sz="2800" dirty="0"/>
              <a:t> </a:t>
            </a:r>
            <a:r>
              <a:rPr lang="zh-CN" altLang="en-US" sz="2800" dirty="0"/>
              <a:t>比较原条和新生中胚层</a:t>
            </a:r>
            <a:endParaRPr lang="en-US" altLang="zh-CN" sz="2800" dirty="0"/>
          </a:p>
          <a:p>
            <a:r>
              <a:rPr lang="zh-CN" altLang="en-US" sz="2800" dirty="0"/>
              <a:t>选择</a:t>
            </a:r>
            <a:r>
              <a:rPr lang="zh-CN" altLang="en-US" sz="2800" b="1" dirty="0"/>
              <a:t>前</a:t>
            </a:r>
            <a:r>
              <a:rPr lang="en-US" altLang="zh-CN" sz="2800" b="1" dirty="0"/>
              <a:t>10</a:t>
            </a:r>
            <a:r>
              <a:rPr lang="zh-CN" altLang="en-US" sz="2800" b="1" dirty="0"/>
              <a:t>个</a:t>
            </a:r>
            <a:r>
              <a:rPr lang="en-US" altLang="zh-CN" sz="2800" b="1" dirty="0"/>
              <a:t>p-value</a:t>
            </a:r>
            <a:r>
              <a:rPr lang="zh-CN" altLang="en-US" sz="2800" dirty="0"/>
              <a:t>最小的基因</a:t>
            </a:r>
            <a:endParaRPr lang="en-US" altLang="zh-CN" sz="2800" dirty="0"/>
          </a:p>
          <a:p>
            <a:r>
              <a:rPr lang="zh-CN" altLang="en-US" sz="2800" dirty="0"/>
              <a:t>在整个</a:t>
            </a:r>
            <a:r>
              <a:rPr lang="en-US" altLang="zh-CN" sz="2800" dirty="0"/>
              <a:t>E6.5-E7.5</a:t>
            </a:r>
            <a:r>
              <a:rPr lang="zh-CN" altLang="en-US" sz="2800" dirty="0"/>
              <a:t>发育过程中，即全数据集，</a:t>
            </a:r>
            <a:r>
              <a:rPr lang="en-US" altLang="zh-CN" sz="2800" dirty="0"/>
              <a:t>DPT</a:t>
            </a:r>
            <a:r>
              <a:rPr lang="zh-CN" altLang="en-US" sz="2800" dirty="0"/>
              <a:t>算法计算出的拟时间轴上基因表达变化情况。</a:t>
            </a:r>
            <a:endParaRPr lang="en-US" altLang="zh-CN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3DDC13-DED2-448B-9950-E9FC45E3C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710" y="1678093"/>
            <a:ext cx="3884930" cy="517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0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9E186D53-0389-4B7C-96BF-394E33F89F32}"/>
              </a:ext>
            </a:extLst>
          </p:cNvPr>
          <p:cNvSpPr txBox="1"/>
          <p:nvPr/>
        </p:nvSpPr>
        <p:spPr>
          <a:xfrm>
            <a:off x="673769" y="242559"/>
            <a:ext cx="113861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新数据集 </a:t>
            </a:r>
            <a:r>
              <a:rPr lang="en-US" altLang="zh-CN" sz="2800" dirty="0"/>
              <a:t>combat </a:t>
            </a:r>
            <a:r>
              <a:rPr lang="en-US" altLang="zh-CN" sz="2800" dirty="0" err="1"/>
              <a:t>regressout</a:t>
            </a:r>
            <a:r>
              <a:rPr lang="en-US" altLang="zh-CN" sz="2800" dirty="0"/>
              <a:t> </a:t>
            </a:r>
            <a:r>
              <a:rPr lang="zh-CN" altLang="en-US" sz="2800" dirty="0"/>
              <a:t>比较原条和新生中胚层</a:t>
            </a:r>
            <a:endParaRPr lang="en-US" altLang="zh-CN" sz="2800" dirty="0"/>
          </a:p>
          <a:p>
            <a:r>
              <a:rPr lang="zh-CN" altLang="en-US" sz="2800" dirty="0"/>
              <a:t>选择</a:t>
            </a:r>
            <a:r>
              <a:rPr lang="zh-CN" altLang="en-US" sz="2800" b="1" dirty="0"/>
              <a:t>前</a:t>
            </a:r>
            <a:r>
              <a:rPr lang="en-US" altLang="zh-CN" sz="2800" b="1" dirty="0"/>
              <a:t>15</a:t>
            </a:r>
            <a:r>
              <a:rPr lang="zh-CN" altLang="en-US" sz="2800" b="1" dirty="0"/>
              <a:t>个</a:t>
            </a:r>
            <a:r>
              <a:rPr lang="en-US" altLang="zh-CN" sz="2800" b="1" dirty="0"/>
              <a:t>p-value</a:t>
            </a:r>
            <a:r>
              <a:rPr lang="zh-CN" altLang="en-US" sz="2800" dirty="0"/>
              <a:t>最小的基因</a:t>
            </a:r>
            <a:endParaRPr lang="en-US" altLang="zh-CN" sz="2800" dirty="0"/>
          </a:p>
          <a:p>
            <a:r>
              <a:rPr lang="zh-CN" altLang="en-US" sz="2800" dirty="0"/>
              <a:t>在整个</a:t>
            </a:r>
            <a:r>
              <a:rPr lang="en-US" altLang="zh-CN" sz="2800" dirty="0"/>
              <a:t>E6.5-E7.5</a:t>
            </a:r>
            <a:r>
              <a:rPr lang="zh-CN" altLang="en-US" sz="2800" dirty="0"/>
              <a:t>发育过程中，即全数据集，</a:t>
            </a:r>
            <a:r>
              <a:rPr lang="en-US" altLang="zh-CN" sz="2800" dirty="0"/>
              <a:t>DPT</a:t>
            </a:r>
            <a:r>
              <a:rPr lang="zh-CN" altLang="en-US" sz="2800" dirty="0"/>
              <a:t>算法计算出的拟时间轴上基因表达变化情况。</a:t>
            </a:r>
            <a:endParaRPr lang="en-US" altLang="zh-CN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390C71-C5EF-4EE5-8428-1B842EB4A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690" y="1645920"/>
            <a:ext cx="390906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6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10082-36BC-4024-8313-43123E6C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DAVID</a:t>
            </a:r>
            <a:r>
              <a:rPr lang="zh-CN" altLang="en-US" dirty="0"/>
              <a:t>分析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EC34DB97-E148-48BF-A156-E0311A38A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43346"/>
            <a:ext cx="10515600" cy="5160220"/>
          </a:xfrm>
        </p:spPr>
      </p:pic>
    </p:spTree>
    <p:extLst>
      <p:ext uri="{BB962C8B-B14F-4D97-AF65-F5344CB8AC3E}">
        <p14:creationId xmlns:p14="http://schemas.microsoft.com/office/powerpoint/2010/main" val="1057512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129C5-28A3-4DFB-B169-6EA69C05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新生中胚层相较于原条的</a:t>
            </a:r>
            <a:r>
              <a:rPr lang="zh-CN" altLang="en-US" b="1" dirty="0"/>
              <a:t>上调基因</a:t>
            </a:r>
            <a:r>
              <a:rPr lang="zh-CN" altLang="en-US" dirty="0"/>
              <a:t>的注释聚类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CC77DD6-303D-4B9F-B4CD-ECF73DA41D28}"/>
              </a:ext>
            </a:extLst>
          </p:cNvPr>
          <p:cNvSpPr txBox="1">
            <a:spLocks/>
          </p:cNvSpPr>
          <p:nvPr/>
        </p:nvSpPr>
        <p:spPr>
          <a:xfrm>
            <a:off x="838200" y="681038"/>
            <a:ext cx="1051560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选择了</a:t>
            </a:r>
            <a:r>
              <a:rPr lang="en-US" altLang="zh-CN" dirty="0" err="1"/>
              <a:t>logfoldchange</a:t>
            </a:r>
            <a:r>
              <a:rPr lang="en-US" altLang="zh-CN" dirty="0"/>
              <a:t>&gt;2.0 p&lt;0.01</a:t>
            </a:r>
            <a:r>
              <a:rPr lang="zh-CN" altLang="en-US" dirty="0"/>
              <a:t>的</a:t>
            </a:r>
            <a:r>
              <a:rPr lang="en-US" altLang="zh-CN" dirty="0"/>
              <a:t>655</a:t>
            </a:r>
            <a:r>
              <a:rPr lang="zh-CN" altLang="en-US" dirty="0"/>
              <a:t>个基因</a:t>
            </a: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1D49DAB6-860B-4980-92D5-45D8672C2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567425"/>
              </p:ext>
            </p:extLst>
          </p:nvPr>
        </p:nvGraphicFramePr>
        <p:xfrm>
          <a:off x="838200" y="1225551"/>
          <a:ext cx="10515600" cy="5618716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996339">
                  <a:extLst>
                    <a:ext uri="{9D8B030D-6E8A-4147-A177-3AD203B41FA5}">
                      <a16:colId xmlns:a16="http://schemas.microsoft.com/office/drawing/2014/main" val="3956087209"/>
                    </a:ext>
                  </a:extLst>
                </a:gridCol>
                <a:gridCol w="5072094">
                  <a:extLst>
                    <a:ext uri="{9D8B030D-6E8A-4147-A177-3AD203B41FA5}">
                      <a16:colId xmlns:a16="http://schemas.microsoft.com/office/drawing/2014/main" val="3863068903"/>
                    </a:ext>
                  </a:extLst>
                </a:gridCol>
                <a:gridCol w="754430">
                  <a:extLst>
                    <a:ext uri="{9D8B030D-6E8A-4147-A177-3AD203B41FA5}">
                      <a16:colId xmlns:a16="http://schemas.microsoft.com/office/drawing/2014/main" val="3390874942"/>
                    </a:ext>
                  </a:extLst>
                </a:gridCol>
                <a:gridCol w="1241909">
                  <a:extLst>
                    <a:ext uri="{9D8B030D-6E8A-4147-A177-3AD203B41FA5}">
                      <a16:colId xmlns:a16="http://schemas.microsoft.com/office/drawing/2014/main" val="250760118"/>
                    </a:ext>
                  </a:extLst>
                </a:gridCol>
                <a:gridCol w="1450828">
                  <a:extLst>
                    <a:ext uri="{9D8B030D-6E8A-4147-A177-3AD203B41FA5}">
                      <a16:colId xmlns:a16="http://schemas.microsoft.com/office/drawing/2014/main" val="1967078565"/>
                    </a:ext>
                  </a:extLst>
                </a:gridCol>
              </a:tblGrid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Annotation Cluster 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Enrichment Score: 5.439395956753312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2510276330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Category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Term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Count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PValue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1125827305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GOTERM_BP_DIRECT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GO:0006357~regulation of transcription by RNA polymerase II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68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10.914927768860354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3.297627692427184E-8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376706345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GOTERM_MF_DIRECT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GO:0000978~RNA polymerase II cis-regulatory region sequence-specific DNA binding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53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8.507223113964688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1.3351745611808524E-7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2403914252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UP_KW_MOLECULAR_FUNCTION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KW-0238~DNA-binding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76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12.199036918138042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1.1311186199120095E-4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2770355378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GOTERM_MF_DIRECT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GO:0000981~DNA-binding transcription factor activity, RNA polymerase II-specific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41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6.5810593900481535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3.508878663705462E-4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3095277316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1454710723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Annotation Cluster 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Enrichment Score: 5.113622385245808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839448226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Category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Term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Count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PValue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2537389685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GOTERM_MF_DIRECT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GO:0003677~DNA binding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63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10.112359550561797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5.1390294700673244E-8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4049184842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UP_KW_BIOLOGICAL_PROCESS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KW-0805~Transcription regulation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90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14.446227929373997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1.9016347119890705E-5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4001855069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UP_KW_BIOLOGICAL_PROCESS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KW-0804~Transcription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91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14.606741573033707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3.176830933895965E-5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595104492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UP_KW_MOLECULAR_FUNCTION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KW-0238~DNA-binding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76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12.199036918138042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1.1311186199120095E-4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1255960248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507083914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Annotation Cluster 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Enrichment Score: 3.7131253002285773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89946751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Category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Term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Count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%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PValue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1049848028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UP_KW_MOLECULAR_FUNCTION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KW-0489~Methyltransferase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2.7287319422150884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8.945016806398706E-5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1962983107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GOTERM_BP_DIRECT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GO:0032259~methylation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1.9261637239165328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1.85504976242555E-4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3265756034"/>
                  </a:ext>
                </a:extLst>
              </a:tr>
              <a:tr h="160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UP_KW_LIGAND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KW-0949~S-adenosyl-L-methionine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</a:rPr>
                        <a:t>16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</a:rPr>
                        <a:t>2.568218298555377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</a:rPr>
                        <a:t>4.37207269301212E-4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64" marR="6964" marT="6964" marB="0" anchor="ctr"/>
                </a:tc>
                <a:extLst>
                  <a:ext uri="{0D108BD9-81ED-4DB2-BD59-A6C34878D82A}">
                    <a16:rowId xmlns:a16="http://schemas.microsoft.com/office/drawing/2014/main" val="2948877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903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E789E5E-3037-4023-8933-3F97AFCE3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86936"/>
              </p:ext>
            </p:extLst>
          </p:nvPr>
        </p:nvGraphicFramePr>
        <p:xfrm>
          <a:off x="533400" y="10240"/>
          <a:ext cx="11239500" cy="6676314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175220">
                  <a:extLst>
                    <a:ext uri="{9D8B030D-6E8A-4147-A177-3AD203B41FA5}">
                      <a16:colId xmlns:a16="http://schemas.microsoft.com/office/drawing/2014/main" val="966362701"/>
                    </a:ext>
                  </a:extLst>
                </a:gridCol>
                <a:gridCol w="1232085">
                  <a:extLst>
                    <a:ext uri="{9D8B030D-6E8A-4147-A177-3AD203B41FA5}">
                      <a16:colId xmlns:a16="http://schemas.microsoft.com/office/drawing/2014/main" val="2508122956"/>
                    </a:ext>
                  </a:extLst>
                </a:gridCol>
                <a:gridCol w="8832195">
                  <a:extLst>
                    <a:ext uri="{9D8B030D-6E8A-4147-A177-3AD203B41FA5}">
                      <a16:colId xmlns:a16="http://schemas.microsoft.com/office/drawing/2014/main" val="4210379928"/>
                    </a:ext>
                  </a:extLst>
                </a:gridCol>
              </a:tblGrid>
              <a:tr h="557545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Cluster_ID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Enrichment Score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Description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2481773824"/>
                  </a:ext>
                </a:extLst>
              </a:tr>
              <a:tr h="557545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5.44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effectLst/>
                        </a:rPr>
                        <a:t>RNA</a:t>
                      </a:r>
                      <a:r>
                        <a:rPr lang="zh-CN" altLang="en-US" sz="1600" b="1">
                          <a:effectLst/>
                        </a:rPr>
                        <a:t>聚合酶</a:t>
                      </a:r>
                      <a:r>
                        <a:rPr lang="en-US" altLang="zh-CN" sz="1600" b="1">
                          <a:effectLst/>
                        </a:rPr>
                        <a:t>II</a:t>
                      </a:r>
                      <a:r>
                        <a:rPr lang="zh-CN" altLang="en-US" sz="1600" b="1">
                          <a:effectLst/>
                        </a:rPr>
                        <a:t>转录调控网络</a:t>
                      </a:r>
                      <a:r>
                        <a:rPr lang="zh-CN" altLang="en-US" sz="1600">
                          <a:effectLst/>
                        </a:rPr>
                        <a:t>：</a:t>
                      </a:r>
                      <a:r>
                        <a:rPr lang="en-US" altLang="zh-CN" sz="1600">
                          <a:effectLst/>
                        </a:rPr>
                        <a:t>DNA</a:t>
                      </a:r>
                      <a:r>
                        <a:rPr lang="zh-CN" altLang="en-US" sz="1600">
                          <a:effectLst/>
                        </a:rPr>
                        <a:t>结合转录因子介导的顺式调控元件特异性结合（</a:t>
                      </a:r>
                      <a:r>
                        <a:rPr lang="en-US" altLang="zh-CN" sz="1600">
                          <a:effectLst/>
                        </a:rPr>
                        <a:t>Brachyury</a:t>
                      </a:r>
                      <a:r>
                        <a:rPr lang="zh-CN" altLang="en-US" sz="1600">
                          <a:effectLst/>
                        </a:rPr>
                        <a:t>等中胚层主调控因子激活）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2582702742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2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5.11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effectLst/>
                        </a:rPr>
                        <a:t>核心转录机制</a:t>
                      </a:r>
                      <a:r>
                        <a:rPr lang="zh-CN" altLang="en-US" sz="1600">
                          <a:effectLst/>
                        </a:rPr>
                        <a:t>：</a:t>
                      </a:r>
                      <a:r>
                        <a:rPr lang="en-US" altLang="zh-CN" sz="1600">
                          <a:effectLst/>
                        </a:rPr>
                        <a:t>DNA</a:t>
                      </a:r>
                      <a:r>
                        <a:rPr lang="zh-CN" altLang="en-US" sz="1600">
                          <a:effectLst/>
                        </a:rPr>
                        <a:t>结合蛋白驱动的转录起始与调控网络（多能性退出核心机制）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1490923091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3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3.71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effectLst/>
                        </a:rPr>
                        <a:t>表观遗传重塑</a:t>
                      </a:r>
                      <a:r>
                        <a:rPr lang="zh-CN" altLang="en-US" sz="1600">
                          <a:effectLst/>
                        </a:rPr>
                        <a:t>：</a:t>
                      </a:r>
                      <a:r>
                        <a:rPr lang="en-US" altLang="zh-CN" sz="1600">
                          <a:effectLst/>
                        </a:rPr>
                        <a:t>S-</a:t>
                      </a:r>
                      <a:r>
                        <a:rPr lang="zh-CN" altLang="en-US" sz="1600">
                          <a:effectLst/>
                        </a:rPr>
                        <a:t>腺苷甲硫氨酸依赖的甲基化修饰（组蛋白</a:t>
                      </a:r>
                      <a:r>
                        <a:rPr lang="en-US" altLang="zh-CN" sz="1600">
                          <a:effectLst/>
                        </a:rPr>
                        <a:t>H3K36me3</a:t>
                      </a:r>
                      <a:r>
                        <a:rPr lang="zh-CN" altLang="en-US" sz="1600">
                          <a:effectLst/>
                        </a:rPr>
                        <a:t>标记增强子区域）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3215173997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4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3.49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金属离子结合枢纽</a:t>
                      </a:r>
                      <a:r>
                        <a:rPr lang="zh-CN" altLang="en-US" sz="1600" dirty="0">
                          <a:effectLst/>
                        </a:rPr>
                        <a:t>：锌指结构域主导的</a:t>
                      </a:r>
                      <a:r>
                        <a:rPr lang="en-US" altLang="zh-CN" sz="1600" dirty="0">
                          <a:effectLst/>
                        </a:rPr>
                        <a:t>DNA</a:t>
                      </a:r>
                      <a:r>
                        <a:rPr lang="zh-CN" altLang="en-US" sz="1600" dirty="0">
                          <a:effectLst/>
                        </a:rPr>
                        <a:t>结合与染色质重塑（调控</a:t>
                      </a:r>
                      <a:r>
                        <a:rPr lang="en-US" altLang="zh-CN" sz="1600" dirty="0">
                          <a:effectLst/>
                        </a:rPr>
                        <a:t>EMT</a:t>
                      </a:r>
                      <a:r>
                        <a:rPr lang="zh-CN" altLang="en-US" sz="1600" dirty="0">
                          <a:effectLst/>
                        </a:rPr>
                        <a:t>关键因子</a:t>
                      </a:r>
                      <a:r>
                        <a:rPr lang="en-US" altLang="zh-CN" sz="1600" dirty="0">
                          <a:effectLst/>
                        </a:rPr>
                        <a:t>SNAI1</a:t>
                      </a:r>
                      <a:r>
                        <a:rPr lang="zh-CN" altLang="en-US" sz="1600" dirty="0">
                          <a:effectLst/>
                        </a:rPr>
                        <a:t>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1060398981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5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3.17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effectLst/>
                        </a:rPr>
                        <a:t>细胞极性建立</a:t>
                      </a:r>
                      <a:r>
                        <a:rPr lang="zh-CN" altLang="en-US" sz="1600">
                          <a:effectLst/>
                        </a:rPr>
                        <a:t>：鸟苷酸交换因子介导的小</a:t>
                      </a:r>
                      <a:r>
                        <a:rPr lang="en-US" altLang="zh-CN" sz="1600">
                          <a:effectLst/>
                        </a:rPr>
                        <a:t>GTP</a:t>
                      </a:r>
                      <a:r>
                        <a:rPr lang="zh-CN" altLang="en-US" sz="1600">
                          <a:effectLst/>
                        </a:rPr>
                        <a:t>酶信号级联（</a:t>
                      </a:r>
                      <a:r>
                        <a:rPr lang="en-US" altLang="zh-CN" sz="1600">
                          <a:effectLst/>
                        </a:rPr>
                        <a:t>RhoA</a:t>
                      </a:r>
                      <a:r>
                        <a:rPr lang="zh-CN" altLang="en-US" sz="1600">
                          <a:effectLst/>
                        </a:rPr>
                        <a:t>调控原条细胞迁移）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1069888880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6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3.02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effectLst/>
                        </a:rPr>
                        <a:t>翻译后修饰系统</a:t>
                      </a:r>
                      <a:r>
                        <a:rPr lang="zh-CN" altLang="en-US" sz="1600">
                          <a:effectLst/>
                        </a:rPr>
                        <a:t>：</a:t>
                      </a:r>
                      <a:r>
                        <a:rPr lang="en-US" altLang="zh-CN" sz="1600">
                          <a:effectLst/>
                        </a:rPr>
                        <a:t>SUMO</a:t>
                      </a:r>
                      <a:r>
                        <a:rPr lang="zh-CN" altLang="en-US" sz="1600">
                          <a:effectLst/>
                        </a:rPr>
                        <a:t>化介导的核质转运调控（</a:t>
                      </a:r>
                      <a:r>
                        <a:rPr lang="en-US" altLang="zh-CN" sz="1600">
                          <a:effectLst/>
                        </a:rPr>
                        <a:t>Wnt</a:t>
                      </a:r>
                      <a:r>
                        <a:rPr lang="zh-CN" altLang="en-US" sz="1600">
                          <a:effectLst/>
                        </a:rPr>
                        <a:t>信号通路关键因子修饰）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783878939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7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2.90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effectLst/>
                        </a:rPr>
                        <a:t>基因组稳定性维持</a:t>
                      </a:r>
                      <a:r>
                        <a:rPr lang="zh-CN" altLang="en-US" sz="1600">
                          <a:effectLst/>
                        </a:rPr>
                        <a:t>：</a:t>
                      </a:r>
                      <a:r>
                        <a:rPr lang="en-US" altLang="zh-CN" sz="1600">
                          <a:effectLst/>
                        </a:rPr>
                        <a:t>DNA</a:t>
                      </a:r>
                      <a:r>
                        <a:rPr lang="zh-CN" altLang="en-US" sz="1600">
                          <a:effectLst/>
                        </a:rPr>
                        <a:t>损伤修复复合体（快速增殖细胞的复制压力响应）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605407784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8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2.58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effectLst/>
                        </a:rPr>
                        <a:t>细胞周期引擎</a:t>
                      </a:r>
                      <a:r>
                        <a:rPr lang="zh-CN" altLang="en-US" sz="1600">
                          <a:effectLst/>
                        </a:rPr>
                        <a:t>：有丝分裂相关蛋白激酶网络（</a:t>
                      </a:r>
                      <a:r>
                        <a:rPr lang="en-US" altLang="zh-CN" sz="1600">
                          <a:effectLst/>
                        </a:rPr>
                        <a:t>G2/M</a:t>
                      </a:r>
                      <a:r>
                        <a:rPr lang="zh-CN" altLang="en-US" sz="1600">
                          <a:effectLst/>
                        </a:rPr>
                        <a:t>期检查点特异性激活）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1462420774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9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2.54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锌指蛋白异构体库</a:t>
                      </a:r>
                      <a:r>
                        <a:rPr lang="zh-CN" altLang="en-US" sz="1600" dirty="0">
                          <a:effectLst/>
                        </a:rPr>
                        <a:t>：</a:t>
                      </a:r>
                      <a:r>
                        <a:rPr lang="en-US" altLang="zh-CN" sz="1600" dirty="0">
                          <a:effectLst/>
                        </a:rPr>
                        <a:t>C2H2</a:t>
                      </a:r>
                      <a:r>
                        <a:rPr lang="zh-CN" altLang="en-US" sz="1600" dirty="0">
                          <a:effectLst/>
                        </a:rPr>
                        <a:t>型锌指结构域多样性（建立细胞命运特异性转录程序）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177338262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10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2.44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细胞骨架重构</a:t>
                      </a:r>
                      <a:r>
                        <a:rPr lang="zh-CN" altLang="en-US" sz="1600" dirty="0">
                          <a:effectLst/>
                        </a:rPr>
                        <a:t>：微管结合蛋白介导的形态发生（上皮</a:t>
                      </a:r>
                      <a:r>
                        <a:rPr lang="en-US" altLang="zh-CN" sz="1600" dirty="0">
                          <a:effectLst/>
                        </a:rPr>
                        <a:t>-</a:t>
                      </a:r>
                      <a:r>
                        <a:rPr lang="zh-CN" altLang="en-US" sz="1600" dirty="0">
                          <a:effectLst/>
                        </a:rPr>
                        <a:t>间充质转化力学基础）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680473892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11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2.14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effectLst/>
                        </a:rPr>
                        <a:t>mRNA</a:t>
                      </a:r>
                      <a:r>
                        <a:rPr lang="zh-CN" altLang="en-US" sz="1600" b="1">
                          <a:effectLst/>
                        </a:rPr>
                        <a:t>稳定性调控</a:t>
                      </a:r>
                      <a:r>
                        <a:rPr lang="zh-CN" altLang="en-US" sz="1600">
                          <a:effectLst/>
                        </a:rPr>
                        <a:t>：</a:t>
                      </a:r>
                      <a:r>
                        <a:rPr lang="en-US" altLang="zh-CN" sz="1600">
                          <a:effectLst/>
                        </a:rPr>
                        <a:t>P-body</a:t>
                      </a:r>
                      <a:r>
                        <a:rPr lang="zh-CN" altLang="en-US" sz="1600">
                          <a:effectLst/>
                        </a:rPr>
                        <a:t>介导的脱腺苷酸化降解（</a:t>
                      </a:r>
                      <a:r>
                        <a:rPr lang="en-US" altLang="zh-CN" sz="1600">
                          <a:effectLst/>
                        </a:rPr>
                        <a:t>Nodal</a:t>
                      </a:r>
                      <a:r>
                        <a:rPr lang="zh-CN" altLang="en-US" sz="1600">
                          <a:effectLst/>
                        </a:rPr>
                        <a:t>信号通路</a:t>
                      </a:r>
                      <a:r>
                        <a:rPr lang="en-US" altLang="zh-CN" sz="1600">
                          <a:effectLst/>
                        </a:rPr>
                        <a:t>mRNA</a:t>
                      </a:r>
                      <a:r>
                        <a:rPr lang="zh-CN" altLang="en-US" sz="1600">
                          <a:effectLst/>
                        </a:rPr>
                        <a:t>动态调控）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683959402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12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1.97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增强子特异性结合</a:t>
                      </a:r>
                      <a:r>
                        <a:rPr lang="zh-CN" altLang="en-US" sz="1600" dirty="0">
                          <a:effectLst/>
                        </a:rPr>
                        <a:t>：序列特异性</a:t>
                      </a:r>
                      <a:r>
                        <a:rPr lang="en-US" altLang="zh-CN" sz="1600" dirty="0">
                          <a:effectLst/>
                        </a:rPr>
                        <a:t>DNA</a:t>
                      </a:r>
                      <a:r>
                        <a:rPr lang="zh-CN" altLang="en-US" sz="1600" dirty="0">
                          <a:effectLst/>
                        </a:rPr>
                        <a:t>结合因子（中胚层增强子三维结构锚定）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4176446161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13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1.69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effectLst/>
                        </a:rPr>
                        <a:t>端粒动态维护</a:t>
                      </a:r>
                      <a:r>
                        <a:rPr lang="zh-CN" altLang="en-US" sz="1600">
                          <a:effectLst/>
                        </a:rPr>
                        <a:t>：端粒双链</a:t>
                      </a:r>
                      <a:r>
                        <a:rPr lang="en-US" altLang="zh-CN" sz="1600">
                          <a:effectLst/>
                        </a:rPr>
                        <a:t>DNA</a:t>
                      </a:r>
                      <a:r>
                        <a:rPr lang="zh-CN" altLang="en-US" sz="1600">
                          <a:effectLst/>
                        </a:rPr>
                        <a:t>结合蛋白复合体（染色质核膜锚定机制）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285730561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14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1.68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酪氨酸去磷酸化调控</a:t>
                      </a:r>
                      <a:r>
                        <a:rPr lang="zh-CN" altLang="en-US" sz="1600" dirty="0">
                          <a:effectLst/>
                        </a:rPr>
                        <a:t>：金属依赖性磷酸酶活性（</a:t>
                      </a:r>
                      <a:r>
                        <a:rPr lang="en-US" altLang="zh-CN" sz="1600" dirty="0" err="1">
                          <a:effectLst/>
                        </a:rPr>
                        <a:t>Wnt</a:t>
                      </a:r>
                      <a:r>
                        <a:rPr lang="zh-CN" altLang="en-US" sz="1600" dirty="0">
                          <a:effectLst/>
                        </a:rPr>
                        <a:t>信号通路负反馈节点）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4174804585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15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1.58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细胞运动性基础</a:t>
                      </a:r>
                      <a:r>
                        <a:rPr lang="zh-CN" altLang="en-US" sz="1600" dirty="0">
                          <a:effectLst/>
                        </a:rPr>
                        <a:t>：肌动蛋白微丝结合蛋白网络（原条延伸的收缩力产生）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483302773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16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1.57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转录起始复合体</a:t>
                      </a:r>
                      <a:r>
                        <a:rPr lang="zh-CN" altLang="en-US" sz="1600" dirty="0">
                          <a:effectLst/>
                        </a:rPr>
                        <a:t>：</a:t>
                      </a:r>
                      <a:r>
                        <a:rPr lang="en-US" altLang="zh-CN" sz="1600" dirty="0">
                          <a:effectLst/>
                        </a:rPr>
                        <a:t>TFIID</a:t>
                      </a:r>
                      <a:r>
                        <a:rPr lang="zh-CN" altLang="en-US" sz="1600" dirty="0">
                          <a:effectLst/>
                        </a:rPr>
                        <a:t>复合体介导的</a:t>
                      </a:r>
                      <a:r>
                        <a:rPr lang="en-US" altLang="zh-CN" sz="1600" dirty="0">
                          <a:effectLst/>
                        </a:rPr>
                        <a:t>RNA</a:t>
                      </a:r>
                      <a:r>
                        <a:rPr lang="zh-CN" altLang="en-US" sz="1600" dirty="0">
                          <a:effectLst/>
                        </a:rPr>
                        <a:t>聚合酶</a:t>
                      </a:r>
                      <a:r>
                        <a:rPr lang="en-US" altLang="zh-CN" sz="1600" dirty="0">
                          <a:effectLst/>
                        </a:rPr>
                        <a:t>II</a:t>
                      </a:r>
                      <a:r>
                        <a:rPr lang="zh-CN" altLang="en-US" sz="1600" dirty="0">
                          <a:effectLst/>
                        </a:rPr>
                        <a:t>招募（多能性基因沉默机制）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967959308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17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1.37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b="1" dirty="0">
                          <a:effectLst/>
                        </a:rPr>
                        <a:t>GTP</a:t>
                      </a:r>
                      <a:r>
                        <a:rPr lang="zh-CN" altLang="en-US" sz="1600" b="1" dirty="0">
                          <a:effectLst/>
                        </a:rPr>
                        <a:t>酶活性调控</a:t>
                      </a:r>
                      <a:r>
                        <a:rPr lang="zh-CN" altLang="en-US" sz="1600" dirty="0">
                          <a:effectLst/>
                        </a:rPr>
                        <a:t>：小</a:t>
                      </a:r>
                      <a:r>
                        <a:rPr lang="en-US" altLang="zh-CN" sz="1600" dirty="0">
                          <a:effectLst/>
                        </a:rPr>
                        <a:t>G</a:t>
                      </a:r>
                      <a:r>
                        <a:rPr lang="zh-CN" altLang="en-US" sz="1600" dirty="0">
                          <a:effectLst/>
                        </a:rPr>
                        <a:t>蛋白结合与异戊二烯化修饰（膜定位信号转导枢纽）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2086244741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18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1.36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染色质拓扑重塑</a:t>
                      </a:r>
                      <a:r>
                        <a:rPr lang="zh-CN" altLang="en-US" sz="1600" dirty="0">
                          <a:effectLst/>
                        </a:rPr>
                        <a:t>：</a:t>
                      </a:r>
                      <a:r>
                        <a:rPr lang="en-US" altLang="zh-CN" sz="1600" dirty="0">
                          <a:effectLst/>
                        </a:rPr>
                        <a:t>ATP</a:t>
                      </a:r>
                      <a:r>
                        <a:rPr lang="zh-CN" altLang="en-US" sz="1600" dirty="0">
                          <a:effectLst/>
                        </a:rPr>
                        <a:t>依赖的染色质环挤压机器（</a:t>
                      </a:r>
                      <a:r>
                        <a:rPr lang="en-US" altLang="zh-CN" sz="1600" dirty="0">
                          <a:effectLst/>
                        </a:rPr>
                        <a:t>CTCF</a:t>
                      </a:r>
                      <a:r>
                        <a:rPr lang="zh-CN" altLang="en-US" sz="1600" dirty="0">
                          <a:effectLst/>
                        </a:rPr>
                        <a:t>介导的增强子</a:t>
                      </a:r>
                      <a:r>
                        <a:rPr lang="en-US" altLang="zh-CN" sz="1600" dirty="0">
                          <a:effectLst/>
                        </a:rPr>
                        <a:t>-</a:t>
                      </a:r>
                      <a:r>
                        <a:rPr lang="zh-CN" altLang="en-US" sz="1600" dirty="0">
                          <a:effectLst/>
                        </a:rPr>
                        <a:t>启动子互作）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3641527472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19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1.35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膜融合事件</a:t>
                      </a:r>
                      <a:r>
                        <a:rPr lang="zh-CN" altLang="en-US" sz="1600" dirty="0">
                          <a:effectLst/>
                        </a:rPr>
                        <a:t>：</a:t>
                      </a:r>
                      <a:r>
                        <a:rPr lang="en-US" altLang="zh-CN" sz="1600" dirty="0">
                          <a:effectLst/>
                        </a:rPr>
                        <a:t>SNARE</a:t>
                      </a:r>
                      <a:r>
                        <a:rPr lang="zh-CN" altLang="en-US" sz="1600" dirty="0">
                          <a:effectLst/>
                        </a:rPr>
                        <a:t>复合体介导的囊泡运输（形态发生素梯度形成）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3981961834"/>
                  </a:ext>
                </a:extLst>
              </a:tr>
              <a:tr h="292696"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20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>
                          <a:effectLst/>
                        </a:rPr>
                        <a:t>1.27</a:t>
                      </a:r>
                    </a:p>
                  </a:txBody>
                  <a:tcPr marL="27774" marR="27774" marT="12819" marB="12819"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内质网压力响应</a:t>
                      </a:r>
                      <a:r>
                        <a:rPr lang="zh-CN" altLang="en-US" sz="1600" dirty="0">
                          <a:effectLst/>
                        </a:rPr>
                        <a:t>：膜结合核糖体复合体（分泌型信号分子折叠质量控制）</a:t>
                      </a:r>
                    </a:p>
                  </a:txBody>
                  <a:tcPr marL="27774" marR="27774" marT="12819" marB="12819" anchor="ctr"/>
                </a:tc>
                <a:extLst>
                  <a:ext uri="{0D108BD9-81ED-4DB2-BD59-A6C34878D82A}">
                    <a16:rowId xmlns:a16="http://schemas.microsoft.com/office/drawing/2014/main" val="1822927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159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129C5-28A3-4DFB-B169-6EA69C05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新生中胚层相较于原条的</a:t>
            </a:r>
            <a:r>
              <a:rPr lang="zh-CN" altLang="en-US" b="1" dirty="0"/>
              <a:t>下调基因</a:t>
            </a:r>
            <a:r>
              <a:rPr lang="zh-CN" altLang="en-US" dirty="0"/>
              <a:t>的注释聚类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CC77DD6-303D-4B9F-B4CD-ECF73DA41D28}"/>
              </a:ext>
            </a:extLst>
          </p:cNvPr>
          <p:cNvSpPr txBox="1">
            <a:spLocks/>
          </p:cNvSpPr>
          <p:nvPr/>
        </p:nvSpPr>
        <p:spPr>
          <a:xfrm>
            <a:off x="838200" y="681038"/>
            <a:ext cx="10515600" cy="544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选择了</a:t>
            </a:r>
            <a:r>
              <a:rPr lang="en-US" altLang="zh-CN" dirty="0" err="1"/>
              <a:t>logfoldchange</a:t>
            </a:r>
            <a:r>
              <a:rPr lang="en-US" altLang="zh-CN" dirty="0"/>
              <a:t>&lt;-2.0 p&lt;0.01</a:t>
            </a:r>
            <a:r>
              <a:rPr lang="zh-CN" altLang="en-US" dirty="0"/>
              <a:t>的</a:t>
            </a:r>
            <a:r>
              <a:rPr lang="en-US" altLang="zh-CN" dirty="0"/>
              <a:t>415</a:t>
            </a:r>
            <a:r>
              <a:rPr lang="zh-CN" altLang="en-US" dirty="0"/>
              <a:t>个基因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3BC068E0-B64B-47F6-B6EE-DAB657E92B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082689"/>
              </p:ext>
            </p:extLst>
          </p:nvPr>
        </p:nvGraphicFramePr>
        <p:xfrm>
          <a:off x="838200" y="1654357"/>
          <a:ext cx="10515600" cy="4716804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002971">
                  <a:extLst>
                    <a:ext uri="{9D8B030D-6E8A-4147-A177-3AD203B41FA5}">
                      <a16:colId xmlns:a16="http://schemas.microsoft.com/office/drawing/2014/main" val="3167995552"/>
                    </a:ext>
                  </a:extLst>
                </a:gridCol>
                <a:gridCol w="5054009">
                  <a:extLst>
                    <a:ext uri="{9D8B030D-6E8A-4147-A177-3AD203B41FA5}">
                      <a16:colId xmlns:a16="http://schemas.microsoft.com/office/drawing/2014/main" val="633958720"/>
                    </a:ext>
                  </a:extLst>
                </a:gridCol>
                <a:gridCol w="756937">
                  <a:extLst>
                    <a:ext uri="{9D8B030D-6E8A-4147-A177-3AD203B41FA5}">
                      <a16:colId xmlns:a16="http://schemas.microsoft.com/office/drawing/2014/main" val="262549459"/>
                    </a:ext>
                  </a:extLst>
                </a:gridCol>
                <a:gridCol w="1246035">
                  <a:extLst>
                    <a:ext uri="{9D8B030D-6E8A-4147-A177-3AD203B41FA5}">
                      <a16:colId xmlns:a16="http://schemas.microsoft.com/office/drawing/2014/main" val="3332829270"/>
                    </a:ext>
                  </a:extLst>
                </a:gridCol>
                <a:gridCol w="1455648">
                  <a:extLst>
                    <a:ext uri="{9D8B030D-6E8A-4147-A177-3AD203B41FA5}">
                      <a16:colId xmlns:a16="http://schemas.microsoft.com/office/drawing/2014/main" val="132330217"/>
                    </a:ext>
                  </a:extLst>
                </a:gridCol>
              </a:tblGrid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Annotation Cluster 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Enrichment Score: 7.3777424644729965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3560528779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Category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Term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%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PValue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2454486100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GOTERM_CC_DIRECT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GO:0005789~endoplasmic reticulum membrane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43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10.96938775510204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2.611667426438478E-10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487293153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GOTERM_CC_DIRECT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GO:0005783~endoplasmic reticulum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41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10.459183673469388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2.3781075868809188E-7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1420257542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UP_KW_CELLULAR_COMPONENT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KW-0256~Endoplasmic reticulum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51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13.010204081632654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1.1847405021024097E-6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3984453601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1637052965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Annotation Cluster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Enrichment Score: 5.58900297462382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1152832212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Category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Term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Count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%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PValue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2373953938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GOTERM_BP_DIRECT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GO:0006338~chromatin remodeling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37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9.438775510204081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1.5679950388580102E-9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4252702042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GOTERM_MF_DIRECT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GO:0005524~ATP binding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47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11.989795918367346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9.223967120735926E-8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2092903416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UP_KW_LIGAND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KW-0547~Nucleotide-binding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57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14.540816326530612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3.744030747096822E-4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2657508778"/>
                  </a:ext>
                </a:extLst>
              </a:tr>
              <a:tr h="1607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UP_KW_LIGAND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KW-0067~ATP-binding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46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11.73469387755102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8.135537746189522E-4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987" marR="6987" marT="6987" marB="0" anchor="ctr"/>
                </a:tc>
                <a:extLst>
                  <a:ext uri="{0D108BD9-81ED-4DB2-BD59-A6C34878D82A}">
                    <a16:rowId xmlns:a16="http://schemas.microsoft.com/office/drawing/2014/main" val="1060578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724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55240BD-2372-408B-AD87-234D507D6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178693"/>
              </p:ext>
            </p:extLst>
          </p:nvPr>
        </p:nvGraphicFramePr>
        <p:xfrm>
          <a:off x="143510" y="-169246"/>
          <a:ext cx="12048491" cy="7134056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30579">
                  <a:extLst>
                    <a:ext uri="{9D8B030D-6E8A-4147-A177-3AD203B41FA5}">
                      <a16:colId xmlns:a16="http://schemas.microsoft.com/office/drawing/2014/main" val="1181651067"/>
                    </a:ext>
                  </a:extLst>
                </a:gridCol>
                <a:gridCol w="1956917">
                  <a:extLst>
                    <a:ext uri="{9D8B030D-6E8A-4147-A177-3AD203B41FA5}">
                      <a16:colId xmlns:a16="http://schemas.microsoft.com/office/drawing/2014/main" val="3645305643"/>
                    </a:ext>
                  </a:extLst>
                </a:gridCol>
                <a:gridCol w="7287029">
                  <a:extLst>
                    <a:ext uri="{9D8B030D-6E8A-4147-A177-3AD203B41FA5}">
                      <a16:colId xmlns:a16="http://schemas.microsoft.com/office/drawing/2014/main" val="1713247701"/>
                    </a:ext>
                  </a:extLst>
                </a:gridCol>
                <a:gridCol w="2373966">
                  <a:extLst>
                    <a:ext uri="{9D8B030D-6E8A-4147-A177-3AD203B41FA5}">
                      <a16:colId xmlns:a16="http://schemas.microsoft.com/office/drawing/2014/main" val="1746795712"/>
                    </a:ext>
                  </a:extLst>
                </a:gridCol>
              </a:tblGrid>
              <a:tr h="848133">
                <a:tc>
                  <a:txBody>
                    <a:bodyPr/>
                    <a:lstStyle/>
                    <a:p>
                      <a:endParaRPr 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effectLst/>
                        </a:rPr>
                        <a:t>Enrichment Score</a:t>
                      </a:r>
                    </a:p>
                    <a:p>
                      <a:endParaRPr 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effectLst/>
                        </a:rPr>
                        <a:t>Description</a:t>
                      </a:r>
                    </a:p>
                    <a:p>
                      <a:endParaRPr lang="zh-CN" altLang="en-US" sz="2000" dirty="0"/>
                    </a:p>
                  </a:txBody>
                  <a:tcPr marL="26143" marR="26143" marT="13071" marB="13071"/>
                </a:tc>
                <a:tc>
                  <a:txBody>
                    <a:bodyPr/>
                    <a:lstStyle/>
                    <a:p>
                      <a:r>
                        <a:rPr lang="en-US" altLang="zh-CN" sz="2000" dirty="0"/>
                        <a:t>Selected Genes</a:t>
                      </a:r>
                      <a:endParaRPr lang="zh-CN" altLang="en-US" sz="2000" dirty="0"/>
                    </a:p>
                  </a:txBody>
                  <a:tcPr marL="26143" marR="26143" marT="13071" marB="13071"/>
                </a:tc>
                <a:extLst>
                  <a:ext uri="{0D108BD9-81ED-4DB2-BD59-A6C34878D82A}">
                    <a16:rowId xmlns:a16="http://schemas.microsoft.com/office/drawing/2014/main" val="2270531499"/>
                  </a:ext>
                </a:extLst>
              </a:tr>
              <a:tr h="573280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7.38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内质网膜相关蛋白的合成与修饰</a:t>
                      </a:r>
                      <a:r>
                        <a:rPr lang="zh-CN" altLang="en-US" sz="2000" dirty="0">
                          <a:effectLst/>
                        </a:rPr>
                        <a:t>：内质网膜结构功能及分泌系统调控机制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RTN3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1386456612"/>
                  </a:ext>
                </a:extLst>
              </a:tr>
              <a:tr h="573280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2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5.59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染色质动态调控枢纽</a:t>
                      </a:r>
                      <a:r>
                        <a:rPr lang="zh-CN" altLang="en-US" sz="2000">
                          <a:effectLst/>
                        </a:rPr>
                        <a:t>：</a:t>
                      </a:r>
                      <a:r>
                        <a:rPr lang="en-US" altLang="zh-CN" sz="2000">
                          <a:effectLst/>
                        </a:rPr>
                        <a:t>ATP</a:t>
                      </a:r>
                      <a:r>
                        <a:rPr lang="zh-CN" altLang="en-US" sz="2000">
                          <a:effectLst/>
                        </a:rPr>
                        <a:t>依赖的染色质重塑复合体与核苷酸结合活性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SMG1, PANK3, MCM7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3221071747"/>
                  </a:ext>
                </a:extLst>
              </a:tr>
              <a:tr h="690668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3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3.85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effectLst/>
                        </a:rPr>
                        <a:t>DNA</a:t>
                      </a:r>
                      <a:r>
                        <a:rPr lang="zh-CN" altLang="en-US" sz="2000" b="1" dirty="0">
                          <a:effectLst/>
                        </a:rPr>
                        <a:t>复制与染色体重塑的</a:t>
                      </a:r>
                      <a:r>
                        <a:rPr lang="en-US" altLang="zh-CN" sz="2000" b="1" dirty="0">
                          <a:effectLst/>
                        </a:rPr>
                        <a:t>ATP</a:t>
                      </a:r>
                      <a:r>
                        <a:rPr lang="zh-CN" altLang="en-US" sz="2000" b="1" dirty="0">
                          <a:effectLst/>
                        </a:rPr>
                        <a:t>依赖机制</a:t>
                      </a:r>
                      <a:r>
                        <a:rPr lang="zh-CN" altLang="en-US" sz="2000" dirty="0">
                          <a:effectLst/>
                        </a:rPr>
                        <a:t>：解旋酶活性驱动的</a:t>
                      </a:r>
                      <a:r>
                        <a:rPr lang="en-US" altLang="zh-CN" sz="2000" dirty="0">
                          <a:effectLst/>
                        </a:rPr>
                        <a:t>DNA</a:t>
                      </a:r>
                      <a:r>
                        <a:rPr lang="zh-CN" altLang="en-US" sz="2000" dirty="0">
                          <a:effectLst/>
                        </a:rPr>
                        <a:t>复制起始</a:t>
                      </a:r>
                      <a:r>
                        <a:rPr lang="en-US" altLang="zh-CN" sz="2000" dirty="0">
                          <a:effectLst/>
                        </a:rPr>
                        <a:t>/</a:t>
                      </a:r>
                      <a:r>
                        <a:rPr lang="zh-CN" altLang="en-US" sz="2000" dirty="0">
                          <a:effectLst/>
                        </a:rPr>
                        <a:t>延伸及染色质环挤压机器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POLQ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2369693412"/>
                  </a:ext>
                </a:extLst>
              </a:tr>
              <a:tr h="573280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4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3.53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高尔基体膜运输系统</a:t>
                      </a:r>
                      <a:r>
                        <a:rPr lang="zh-CN" altLang="en-US" sz="2000" dirty="0">
                          <a:effectLst/>
                        </a:rPr>
                        <a:t>：囊泡运输与蛋白质糖基化修饰网络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GALNT12, RTN3, TMEM87A, COPB2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1200692639"/>
                  </a:ext>
                </a:extLst>
              </a:tr>
              <a:tr h="35953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5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2.76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线粒体能量代谢核心</a:t>
                      </a:r>
                      <a:r>
                        <a:rPr lang="zh-CN" altLang="en-US" sz="2000">
                          <a:effectLst/>
                        </a:rPr>
                        <a:t>：线粒体基质与内膜的氧化磷酸化系统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FEN1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4101223297"/>
                  </a:ext>
                </a:extLst>
              </a:tr>
              <a:tr h="573280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6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2.42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核受体信号整合</a:t>
                      </a:r>
                      <a:r>
                        <a:rPr lang="zh-CN" altLang="en-US" sz="2000" dirty="0">
                          <a:effectLst/>
                        </a:rPr>
                        <a:t>：类固醇</a:t>
                      </a:r>
                      <a:r>
                        <a:rPr lang="en-US" altLang="zh-CN" sz="2000" dirty="0">
                          <a:effectLst/>
                        </a:rPr>
                        <a:t>/</a:t>
                      </a:r>
                      <a:r>
                        <a:rPr lang="zh-CN" altLang="en-US" sz="2000" dirty="0">
                          <a:effectLst/>
                        </a:rPr>
                        <a:t>甲状腺激素受体共激活复合体（含</a:t>
                      </a:r>
                      <a:r>
                        <a:rPr lang="en-US" altLang="zh-CN" sz="2000" dirty="0">
                          <a:effectLst/>
                        </a:rPr>
                        <a:t>LXXLL</a:t>
                      </a:r>
                      <a:r>
                        <a:rPr lang="zh-CN" altLang="en-US" sz="2000" dirty="0">
                          <a:effectLst/>
                        </a:rPr>
                        <a:t>基序特征）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MED1, NCOA2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3670684269"/>
                  </a:ext>
                </a:extLst>
              </a:tr>
              <a:tr h="1397839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7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2.13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磷酸化级联调控网络</a:t>
                      </a:r>
                      <a:r>
                        <a:rPr lang="zh-CN" altLang="en-US" sz="2000" dirty="0">
                          <a:effectLst/>
                        </a:rPr>
                        <a:t>：组蛋白特定位点激酶活性驱动的表观修饰与</a:t>
                      </a:r>
                      <a:r>
                        <a:rPr lang="en-US" altLang="zh-CN" sz="2000" dirty="0">
                          <a:effectLst/>
                        </a:rPr>
                        <a:t>MAPK</a:t>
                      </a:r>
                      <a:r>
                        <a:rPr lang="zh-CN" altLang="en-US" sz="2000" dirty="0">
                          <a:effectLst/>
                        </a:rPr>
                        <a:t>信号转导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SMG1, CSNK2A1, AKT2, MKNK2, TAOK2, NEK7, MAPKAPK2, SIK3, SIK2, TAF1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4279659832"/>
                  </a:ext>
                </a:extLst>
              </a:tr>
              <a:tr h="690668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8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2.13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神经退行性疾病相关通路</a:t>
                      </a:r>
                      <a:r>
                        <a:rPr lang="zh-CN" altLang="en-US" sz="2000" dirty="0">
                          <a:effectLst/>
                        </a:rPr>
                        <a:t>：阿尔茨海默病</a:t>
                      </a:r>
                      <a:r>
                        <a:rPr lang="en-US" altLang="zh-CN" sz="2000" dirty="0">
                          <a:effectLst/>
                        </a:rPr>
                        <a:t>/</a:t>
                      </a:r>
                      <a:r>
                        <a:rPr lang="zh-CN" altLang="en-US" sz="2000" dirty="0">
                          <a:effectLst/>
                        </a:rPr>
                        <a:t>帕金森病等蛋白质错误折叠清除机制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NDUFA7, COX7B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1264999161"/>
                  </a:ext>
                </a:extLst>
              </a:tr>
              <a:tr h="35953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9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1.99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细胞自噬质量控制</a:t>
                      </a:r>
                      <a:r>
                        <a:rPr lang="zh-CN" altLang="en-US" sz="2000" dirty="0">
                          <a:effectLst/>
                        </a:rPr>
                        <a:t>：自噬溶酶体途径介导的细胞器更新系统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ATG3, TOLLIP</a:t>
                      </a:r>
                      <a:endParaRPr lang="zh-CN" altLang="en-US" sz="2000" dirty="0">
                        <a:effectLst/>
                      </a:endParaRP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3656137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081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2A096B-671E-421A-A96F-AA62BD20B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348739"/>
              </p:ext>
            </p:extLst>
          </p:nvPr>
        </p:nvGraphicFramePr>
        <p:xfrm>
          <a:off x="386080" y="0"/>
          <a:ext cx="10947400" cy="656805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455138">
                  <a:extLst>
                    <a:ext uri="{9D8B030D-6E8A-4147-A177-3AD203B41FA5}">
                      <a16:colId xmlns:a16="http://schemas.microsoft.com/office/drawing/2014/main" val="514925490"/>
                    </a:ext>
                  </a:extLst>
                </a:gridCol>
                <a:gridCol w="1575229">
                  <a:extLst>
                    <a:ext uri="{9D8B030D-6E8A-4147-A177-3AD203B41FA5}">
                      <a16:colId xmlns:a16="http://schemas.microsoft.com/office/drawing/2014/main" val="1632080288"/>
                    </a:ext>
                  </a:extLst>
                </a:gridCol>
                <a:gridCol w="7917033">
                  <a:extLst>
                    <a:ext uri="{9D8B030D-6E8A-4147-A177-3AD203B41FA5}">
                      <a16:colId xmlns:a16="http://schemas.microsoft.com/office/drawing/2014/main" val="4132952113"/>
                    </a:ext>
                  </a:extLst>
                </a:gridCol>
              </a:tblGrid>
              <a:tr h="37607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10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1.98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谷氨酰胺代谢重编程</a:t>
                      </a:r>
                      <a:r>
                        <a:rPr lang="zh-CN" altLang="en-US" sz="2000">
                          <a:effectLst/>
                        </a:rPr>
                        <a:t>：氨基酸代谢流向三羧酸循环的定向调控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2031816189"/>
                  </a:ext>
                </a:extLst>
              </a:tr>
              <a:tr h="579421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11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1.95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线粒体内膜电子传递链</a:t>
                      </a:r>
                      <a:r>
                        <a:rPr lang="zh-CN" altLang="en-US" sz="2000">
                          <a:effectLst/>
                        </a:rPr>
                        <a:t>：呼吸链复合体组装与跨膜质子梯度建立机制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217998843"/>
                  </a:ext>
                </a:extLst>
              </a:tr>
              <a:tr h="579421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12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1.90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基因组维护系统</a:t>
                      </a:r>
                      <a:r>
                        <a:rPr lang="zh-CN" altLang="en-US" sz="2000">
                          <a:effectLst/>
                        </a:rPr>
                        <a:t>：</a:t>
                      </a:r>
                      <a:r>
                        <a:rPr lang="en-US" altLang="zh-CN" sz="2000">
                          <a:effectLst/>
                        </a:rPr>
                        <a:t>DNA</a:t>
                      </a:r>
                      <a:r>
                        <a:rPr lang="zh-CN" altLang="en-US" sz="2000">
                          <a:effectLst/>
                        </a:rPr>
                        <a:t>损伤修复相关的解旋酶活性与复制叉稳定性调控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1264142426"/>
                  </a:ext>
                </a:extLst>
              </a:tr>
              <a:tr h="579421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13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1.86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翻译后修饰调控轴</a:t>
                      </a:r>
                      <a:r>
                        <a:rPr lang="zh-CN" altLang="en-US" sz="2000">
                          <a:effectLst/>
                        </a:rPr>
                        <a:t>：</a:t>
                      </a:r>
                      <a:r>
                        <a:rPr lang="en-US" altLang="zh-CN" sz="2000">
                          <a:effectLst/>
                        </a:rPr>
                        <a:t>SUMO</a:t>
                      </a:r>
                      <a:r>
                        <a:rPr lang="zh-CN" altLang="en-US" sz="2000">
                          <a:effectLst/>
                        </a:rPr>
                        <a:t>化修饰介导的核质转运与蛋白质稳定性调控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3474862081"/>
                  </a:ext>
                </a:extLst>
              </a:tr>
              <a:tr h="579421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14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1.85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甲基化修饰网络</a:t>
                      </a:r>
                      <a:r>
                        <a:rPr lang="zh-CN" altLang="en-US" sz="2000" dirty="0">
                          <a:effectLst/>
                        </a:rPr>
                        <a:t>：</a:t>
                      </a:r>
                      <a:r>
                        <a:rPr lang="en-US" altLang="zh-CN" sz="2000" dirty="0">
                          <a:effectLst/>
                        </a:rPr>
                        <a:t>S-</a:t>
                      </a:r>
                      <a:r>
                        <a:rPr lang="zh-CN" altLang="en-US" sz="2000" dirty="0">
                          <a:effectLst/>
                        </a:rPr>
                        <a:t>腺苷甲硫氨酸依赖的</a:t>
                      </a:r>
                      <a:r>
                        <a:rPr lang="en-US" altLang="zh-CN" sz="2000" dirty="0">
                          <a:effectLst/>
                        </a:rPr>
                        <a:t>tRNA/</a:t>
                      </a:r>
                      <a:r>
                        <a:rPr lang="zh-CN" altLang="en-US" sz="2000" dirty="0">
                          <a:effectLst/>
                        </a:rPr>
                        <a:t>蛋白质表观修饰机制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686619521"/>
                  </a:ext>
                </a:extLst>
              </a:tr>
              <a:tr h="37607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15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1.84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膜泡运输动态调控</a:t>
                      </a:r>
                      <a:r>
                        <a:rPr lang="zh-CN" altLang="en-US" sz="2000">
                          <a:effectLst/>
                        </a:rPr>
                        <a:t>：脂质结合依赖的内吞作用与膜受体循环系统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3127426063"/>
                  </a:ext>
                </a:extLst>
              </a:tr>
              <a:tr h="37607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16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1.81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蛋白质折叠质量控制</a:t>
                      </a:r>
                      <a:r>
                        <a:rPr lang="zh-CN" altLang="en-US" sz="2000">
                          <a:effectLst/>
                        </a:rPr>
                        <a:t>：分子伴侣介导的错误折叠蛋白再折叠系统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3054047882"/>
                  </a:ext>
                </a:extLst>
              </a:tr>
              <a:tr h="579421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17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1.75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转录起始引擎</a:t>
                      </a:r>
                      <a:r>
                        <a:rPr lang="zh-CN" altLang="en-US" sz="2000">
                          <a:effectLst/>
                        </a:rPr>
                        <a:t>：</a:t>
                      </a:r>
                      <a:r>
                        <a:rPr lang="en-US" altLang="zh-CN" sz="2000">
                          <a:effectLst/>
                        </a:rPr>
                        <a:t>RNA</a:t>
                      </a:r>
                      <a:r>
                        <a:rPr lang="zh-CN" altLang="en-US" sz="2000">
                          <a:effectLst/>
                        </a:rPr>
                        <a:t>聚合酶</a:t>
                      </a:r>
                      <a:r>
                        <a:rPr lang="en-US" altLang="zh-CN" sz="2000">
                          <a:effectLst/>
                        </a:rPr>
                        <a:t>II</a:t>
                      </a:r>
                      <a:r>
                        <a:rPr lang="zh-CN" altLang="en-US" sz="2000">
                          <a:effectLst/>
                        </a:rPr>
                        <a:t>预起始复合体组装与转录激活特异性调控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107684626"/>
                  </a:ext>
                </a:extLst>
              </a:tr>
              <a:tr h="722440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18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1.73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内质网应激响应系统</a:t>
                      </a:r>
                      <a:r>
                        <a:rPr lang="zh-CN" altLang="en-US" sz="2000">
                          <a:effectLst/>
                        </a:rPr>
                        <a:t>：</a:t>
                      </a:r>
                      <a:r>
                        <a:rPr lang="en-US" altLang="zh-CN" sz="2000">
                          <a:effectLst/>
                        </a:rPr>
                        <a:t>Derlin-1</a:t>
                      </a:r>
                      <a:r>
                        <a:rPr lang="zh-CN" altLang="en-US" sz="2000">
                          <a:effectLst/>
                        </a:rPr>
                        <a:t>复合体介导的错误蛋白逆向转运与未折叠蛋白反应（</a:t>
                      </a:r>
                      <a:r>
                        <a:rPr lang="en-US" altLang="zh-CN" sz="2000">
                          <a:effectLst/>
                        </a:rPr>
                        <a:t>UPR</a:t>
                      </a:r>
                      <a:r>
                        <a:rPr lang="zh-CN" altLang="en-US" sz="2000">
                          <a:effectLst/>
                        </a:rPr>
                        <a:t>）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3474165850"/>
                  </a:ext>
                </a:extLst>
              </a:tr>
              <a:tr h="37607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19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1.71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细胞周期推进器</a:t>
                      </a:r>
                      <a:r>
                        <a:rPr lang="zh-CN" altLang="en-US" sz="2000">
                          <a:effectLst/>
                        </a:rPr>
                        <a:t>：有丝分裂相关激酶网络与染色体分离机制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376135547"/>
                  </a:ext>
                </a:extLst>
              </a:tr>
              <a:tr h="37607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20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1.64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蛋白质降解机器</a:t>
                      </a:r>
                      <a:r>
                        <a:rPr lang="zh-CN" altLang="en-US" sz="2000">
                          <a:effectLst/>
                        </a:rPr>
                        <a:t>：蛋白酶体复合体介导的泛素化底物特异性降解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590944200"/>
                  </a:ext>
                </a:extLst>
              </a:tr>
              <a:tr h="579421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21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1.52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effectLst/>
                        </a:rPr>
                        <a:t>组蛋白甲基化调控</a:t>
                      </a:r>
                      <a:r>
                        <a:rPr lang="zh-CN" altLang="en-US" sz="2000">
                          <a:effectLst/>
                        </a:rPr>
                        <a:t>：</a:t>
                      </a:r>
                      <a:r>
                        <a:rPr lang="en-US" altLang="zh-CN" sz="2000">
                          <a:effectLst/>
                        </a:rPr>
                        <a:t>H3K36</a:t>
                      </a:r>
                      <a:r>
                        <a:rPr lang="zh-CN" altLang="en-US" sz="2000">
                          <a:effectLst/>
                        </a:rPr>
                        <a:t>甲基转移酶活性与</a:t>
                      </a:r>
                      <a:r>
                        <a:rPr lang="en-US" altLang="zh-CN" sz="2000">
                          <a:effectLst/>
                        </a:rPr>
                        <a:t>SET</a:t>
                      </a:r>
                      <a:r>
                        <a:rPr lang="zh-CN" altLang="en-US" sz="2000">
                          <a:effectLst/>
                        </a:rPr>
                        <a:t>结构域介导的表观遗传记忆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1730069302"/>
                  </a:ext>
                </a:extLst>
              </a:tr>
              <a:tr h="376074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22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1.40</a:t>
                      </a:r>
                    </a:p>
                  </a:txBody>
                  <a:tcPr marL="28321" marR="28321" marT="13071" marB="13071"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effectLst/>
                        </a:rPr>
                        <a:t>膜分裂机械力产生</a:t>
                      </a:r>
                      <a:r>
                        <a:rPr lang="zh-CN" altLang="en-US" sz="2000" dirty="0">
                          <a:effectLst/>
                        </a:rPr>
                        <a:t>：</a:t>
                      </a:r>
                      <a:r>
                        <a:rPr lang="en-US" altLang="zh-CN" sz="2000" dirty="0">
                          <a:effectLst/>
                        </a:rPr>
                        <a:t>GTP</a:t>
                      </a:r>
                      <a:r>
                        <a:rPr lang="zh-CN" altLang="en-US" sz="2000" dirty="0">
                          <a:effectLst/>
                        </a:rPr>
                        <a:t>酶活性驱动的膜泡剪切与细胞器分裂机制</a:t>
                      </a:r>
                    </a:p>
                  </a:txBody>
                  <a:tcPr marL="28321" marR="28321" marT="13071" marB="13071" anchor="ctr"/>
                </a:tc>
                <a:extLst>
                  <a:ext uri="{0D108BD9-81ED-4DB2-BD59-A6C34878D82A}">
                    <a16:rowId xmlns:a16="http://schemas.microsoft.com/office/drawing/2014/main" val="1833943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306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00F2B-3F7C-4416-ABB2-2205B39E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聚类中提到的基因表征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AEC3839-748D-4BAB-8879-A4A7FC0AF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0655"/>
            <a:ext cx="12124720" cy="5646648"/>
          </a:xfrm>
        </p:spPr>
      </p:pic>
    </p:spTree>
    <p:extLst>
      <p:ext uri="{BB962C8B-B14F-4D97-AF65-F5344CB8AC3E}">
        <p14:creationId xmlns:p14="http://schemas.microsoft.com/office/powerpoint/2010/main" val="488102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AAD4E-B6DE-40A0-A926-10AF05E8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中期答辩可能会被问到的问题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FCCB5B-C705-4FA2-8EE7-FE6B5438F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简述一下本课题开发的单细胞数据处理流程</a:t>
            </a:r>
            <a:endParaRPr lang="en-US" altLang="zh-CN" dirty="0"/>
          </a:p>
          <a:p>
            <a:r>
              <a:rPr lang="zh-CN" altLang="en-US" dirty="0"/>
              <a:t>基于</a:t>
            </a:r>
            <a:r>
              <a:rPr lang="en-US" altLang="zh-CN" dirty="0"/>
              <a:t>python</a:t>
            </a:r>
            <a:r>
              <a:rPr lang="zh-CN" altLang="en-US" dirty="0"/>
              <a:t>的处理流程：</a:t>
            </a:r>
            <a:r>
              <a:rPr lang="en-US" altLang="zh-CN" dirty="0"/>
              <a:t>1</a:t>
            </a:r>
            <a:r>
              <a:rPr lang="zh-CN" altLang="en-US" dirty="0"/>
              <a:t>） 过滤细胞，表达基因少于</a:t>
            </a:r>
            <a:r>
              <a:rPr lang="en-US" altLang="zh-CN" dirty="0"/>
              <a:t>500</a:t>
            </a:r>
            <a:r>
              <a:rPr lang="zh-CN" altLang="en-US" dirty="0"/>
              <a:t>个的细胞被直接过滤 </a:t>
            </a:r>
            <a:r>
              <a:rPr lang="en-US" altLang="zh-CN" dirty="0"/>
              <a:t>2</a:t>
            </a:r>
            <a:r>
              <a:rPr lang="zh-CN" altLang="en-US" dirty="0"/>
              <a:t>） 过滤基因，只在</a:t>
            </a:r>
            <a:r>
              <a:rPr lang="en-US" altLang="zh-CN" dirty="0"/>
              <a:t>5</a:t>
            </a:r>
            <a:r>
              <a:rPr lang="zh-CN" altLang="en-US" dirty="0"/>
              <a:t>个或以下细胞中出现的基因被过滤 </a:t>
            </a:r>
            <a:r>
              <a:rPr lang="en-US" altLang="zh-CN" dirty="0"/>
              <a:t>3</a:t>
            </a:r>
            <a:r>
              <a:rPr lang="zh-CN" altLang="en-US" dirty="0"/>
              <a:t>）确认高变基因 </a:t>
            </a:r>
            <a:r>
              <a:rPr lang="en-US" altLang="zh-CN" dirty="0"/>
              <a:t>Highly Variable Genes</a:t>
            </a:r>
          </a:p>
        </p:txBody>
      </p:sp>
    </p:spTree>
    <p:extLst>
      <p:ext uri="{BB962C8B-B14F-4D97-AF65-F5344CB8AC3E}">
        <p14:creationId xmlns:p14="http://schemas.microsoft.com/office/powerpoint/2010/main" val="1129527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1502841"/>
          </a:xfrm>
        </p:spPr>
        <p:txBody>
          <a:bodyPr/>
          <a:lstStyle/>
          <a:p>
            <a:r>
              <a:rPr lang="en-US" altLang="zh-CN" dirty="0"/>
              <a:t>“Epiblast”, “Primitive Streak”, “Anterior Primitive Streak”, “</a:t>
            </a:r>
            <a:r>
              <a:rPr lang="en-US" altLang="zh-CN" dirty="0" err="1"/>
              <a:t>Def.endoderm</a:t>
            </a:r>
            <a:r>
              <a:rPr lang="en-US" altLang="zh-CN" dirty="0"/>
              <a:t>”, “Gut”, “Visceral endoderm”, “</a:t>
            </a:r>
            <a:r>
              <a:rPr lang="en-US" altLang="zh-CN" dirty="0" err="1"/>
              <a:t>ExE</a:t>
            </a:r>
            <a:r>
              <a:rPr lang="en-US" altLang="zh-CN" dirty="0"/>
              <a:t> endoderm“ </a:t>
            </a:r>
            <a:r>
              <a:rPr lang="zh-CN" altLang="en-US" dirty="0"/>
              <a:t>发育路径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451F32-A99E-4A6F-A862-A93A77C41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38880"/>
            <a:ext cx="7970520" cy="501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98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1502841"/>
          </a:xfrm>
        </p:spPr>
        <p:txBody>
          <a:bodyPr/>
          <a:lstStyle/>
          <a:p>
            <a:r>
              <a:rPr lang="en-US" altLang="zh-CN" dirty="0"/>
              <a:t>“Epiblast”, “Primitive Streak”, “Anterior Primitive Streak”, “</a:t>
            </a:r>
            <a:r>
              <a:rPr lang="en-US" altLang="zh-CN" dirty="0" err="1"/>
              <a:t>Def.endoderm</a:t>
            </a:r>
            <a:r>
              <a:rPr lang="en-US" altLang="zh-CN" dirty="0"/>
              <a:t>”, “Gut”, “Visceral endoderm”, “</a:t>
            </a:r>
            <a:r>
              <a:rPr lang="en-US" altLang="zh-CN" dirty="0" err="1"/>
              <a:t>ExE</a:t>
            </a:r>
            <a:r>
              <a:rPr lang="en-US" altLang="zh-CN" dirty="0"/>
              <a:t> endoderm“ </a:t>
            </a:r>
            <a:r>
              <a:rPr lang="zh-CN" altLang="en-US" dirty="0"/>
              <a:t>发育路径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46D83B-992E-4DE3-87B2-650EA9EA0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30163"/>
            <a:ext cx="5559527" cy="522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15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2013995"/>
          </a:xfrm>
        </p:spPr>
        <p:txBody>
          <a:bodyPr/>
          <a:lstStyle/>
          <a:p>
            <a:r>
              <a:rPr lang="en-US" altLang="zh-CN" dirty="0"/>
              <a:t>“Epiblast”, “Primitive Streak”, “Nascent mesoderm”, “Mixed mesoderm”, “</a:t>
            </a:r>
            <a:r>
              <a:rPr lang="en-US" altLang="zh-CN" dirty="0" err="1"/>
              <a:t>Haematoendothelial</a:t>
            </a:r>
            <a:r>
              <a:rPr lang="en-US" altLang="zh-CN" dirty="0"/>
              <a:t> progenitors”, “Blood progenitors 1”, “Blood progenitors 2“ </a:t>
            </a:r>
            <a:r>
              <a:rPr lang="zh-CN" altLang="en-US" dirty="0"/>
              <a:t>发育路径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4EC8B8-56C9-4026-92E6-23CF37A15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1316"/>
            <a:ext cx="8048973" cy="458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72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2013995"/>
          </a:xfrm>
        </p:spPr>
        <p:txBody>
          <a:bodyPr/>
          <a:lstStyle/>
          <a:p>
            <a:r>
              <a:rPr lang="en-US" altLang="zh-CN" dirty="0"/>
              <a:t>“Epiblast”, “Primitive Streak”, “Nascent mesoderm”, “Mixed mesoderm”, “</a:t>
            </a:r>
            <a:r>
              <a:rPr lang="en-US" altLang="zh-CN" dirty="0" err="1"/>
              <a:t>Haematoendothelial</a:t>
            </a:r>
            <a:r>
              <a:rPr lang="en-US" altLang="zh-CN" dirty="0"/>
              <a:t> progenitors”, “Blood progenitors 1”, “Blood progenitors 2“ </a:t>
            </a:r>
            <a:r>
              <a:rPr lang="zh-CN" altLang="en-US" dirty="0"/>
              <a:t>发育路径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38C0D5-8E6C-4D61-B8B2-D9ACF8CA2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1316"/>
            <a:ext cx="5257800" cy="466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06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2377754"/>
          </a:xfrm>
        </p:spPr>
        <p:txBody>
          <a:bodyPr/>
          <a:lstStyle/>
          <a:p>
            <a:r>
              <a:rPr lang="en-US" altLang="zh-CN" dirty="0"/>
              <a:t>“Epiblast”, “Primitive Streak”, “Nascent mesoderm”, “Mixed mesoderm”, Mesenchyme, “</a:t>
            </a:r>
            <a:r>
              <a:rPr lang="en-US" altLang="zh-CN" dirty="0" err="1"/>
              <a:t>Haematoendothelial</a:t>
            </a:r>
            <a:r>
              <a:rPr lang="en-US" altLang="zh-CN" dirty="0"/>
              <a:t> progenitors”, “Blood progenitors 1”, “Blood progenitors 2“ </a:t>
            </a:r>
            <a:r>
              <a:rPr lang="zh-CN" altLang="en-US" dirty="0"/>
              <a:t>发育路径，有分叉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BEDFBC-5C4E-4F7A-B0F0-606F14D5B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62806"/>
            <a:ext cx="7248525" cy="413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067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2377754"/>
          </a:xfrm>
        </p:spPr>
        <p:txBody>
          <a:bodyPr/>
          <a:lstStyle/>
          <a:p>
            <a:r>
              <a:rPr lang="en-US" altLang="zh-CN" dirty="0"/>
              <a:t>“Epiblast”, “Primitive Streak”, “Nascent mesoderm”, “Mixed mesoderm”, Mesenchyme, “</a:t>
            </a:r>
            <a:r>
              <a:rPr lang="en-US" altLang="zh-CN" dirty="0" err="1"/>
              <a:t>Haematoendothelial</a:t>
            </a:r>
            <a:r>
              <a:rPr lang="en-US" altLang="zh-CN" dirty="0"/>
              <a:t> progenitors”, “Blood progenitors 1”, “Blood progenitors 2“ </a:t>
            </a:r>
            <a:r>
              <a:rPr lang="zh-CN" altLang="en-US" dirty="0"/>
              <a:t>发育路径，有分叉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FC35BF-0FC4-4599-A8F0-23797C4C8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236" y="2057777"/>
            <a:ext cx="5280664" cy="468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89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806129"/>
          </a:xfrm>
        </p:spPr>
        <p:txBody>
          <a:bodyPr/>
          <a:lstStyle/>
          <a:p>
            <a:r>
              <a:rPr lang="zh-CN" altLang="en-US" dirty="0"/>
              <a:t>以上两条发育路径同时表征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571B45-EBCB-4438-B0CF-7DB829D5E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85305"/>
            <a:ext cx="10515600" cy="599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3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806129"/>
          </a:xfrm>
        </p:spPr>
        <p:txBody>
          <a:bodyPr/>
          <a:lstStyle/>
          <a:p>
            <a:r>
              <a:rPr lang="zh-CN" altLang="en-US" dirty="0"/>
              <a:t>以上两条发育路径同时表征</a:t>
            </a:r>
            <a:r>
              <a:rPr lang="en-US" altLang="zh-CN" dirty="0"/>
              <a:t>-</a:t>
            </a:r>
            <a:r>
              <a:rPr lang="zh-CN" altLang="en-US" dirty="0"/>
              <a:t>加上</a:t>
            </a:r>
            <a:r>
              <a:rPr lang="en-US" altLang="zh-CN" dirty="0"/>
              <a:t>Mesenchyme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24565D-6E64-4DE8-8066-F00DAA753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834005"/>
            <a:ext cx="10515599" cy="599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69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614359"/>
          </a:xfrm>
        </p:spPr>
        <p:txBody>
          <a:bodyPr/>
          <a:lstStyle/>
          <a:p>
            <a:r>
              <a:rPr lang="zh-CN" altLang="en-US" dirty="0"/>
              <a:t>以上两条发育路径同时表征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894085-88E9-4D4D-AADE-2D3EA0974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7920"/>
            <a:ext cx="5513838" cy="43484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719269-1E91-4CAD-BA5D-E87671944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38" y="1137920"/>
            <a:ext cx="6546082" cy="54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68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2E199-566A-4B40-9350-FC976B22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21"/>
            <a:ext cx="10515600" cy="806129"/>
          </a:xfrm>
        </p:spPr>
        <p:txBody>
          <a:bodyPr/>
          <a:lstStyle/>
          <a:p>
            <a:r>
              <a:rPr lang="zh-CN" altLang="en-US" dirty="0"/>
              <a:t>以上两条发育路径同时表征</a:t>
            </a:r>
            <a:r>
              <a:rPr lang="en-US" altLang="zh-CN" dirty="0"/>
              <a:t>-</a:t>
            </a:r>
            <a:r>
              <a:rPr lang="zh-CN" altLang="en-US" dirty="0"/>
              <a:t>加上</a:t>
            </a:r>
            <a:r>
              <a:rPr lang="en-US" altLang="zh-CN" dirty="0"/>
              <a:t>Mesenchyme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C7159C-2ED1-49AB-8FBE-6959F169E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933450"/>
            <a:ext cx="6924675" cy="574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1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1824</Words>
  <Application>Microsoft Office PowerPoint</Application>
  <PresentationFormat>宽屏</PresentationFormat>
  <Paragraphs>315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等线</vt:lpstr>
      <vt:lpstr>等线 Light</vt:lpstr>
      <vt:lpstr>楷体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DAVID分析</vt:lpstr>
      <vt:lpstr>新生中胚层相较于原条的上调基因的注释聚类</vt:lpstr>
      <vt:lpstr>PowerPoint 演示文稿</vt:lpstr>
      <vt:lpstr>新生中胚层相较于原条的下调基因的注释聚类</vt:lpstr>
      <vt:lpstr>PowerPoint 演示文稿</vt:lpstr>
      <vt:lpstr>PowerPoint 演示文稿</vt:lpstr>
      <vt:lpstr>聚类中提到的基因表征</vt:lpstr>
      <vt:lpstr>中期答辩可能会被问到的问题</vt:lpstr>
      <vt:lpstr>“Epiblast”, “Primitive Streak”, “Anterior Primitive Streak”, “Def.endoderm”, “Gut”, “Visceral endoderm”, “ExE endoderm“ 发育路径</vt:lpstr>
      <vt:lpstr>“Epiblast”, “Primitive Streak”, “Anterior Primitive Streak”, “Def.endoderm”, “Gut”, “Visceral endoderm”, “ExE endoderm“ 发育路径</vt:lpstr>
      <vt:lpstr>“Epiblast”, “Primitive Streak”, “Nascent mesoderm”, “Mixed mesoderm”, “Haematoendothelial progenitors”, “Blood progenitors 1”, “Blood progenitors 2“ 发育路径</vt:lpstr>
      <vt:lpstr>“Epiblast”, “Primitive Streak”, “Nascent mesoderm”, “Mixed mesoderm”, “Haematoendothelial progenitors”, “Blood progenitors 1”, “Blood progenitors 2“ 发育路径</vt:lpstr>
      <vt:lpstr>“Epiblast”, “Primitive Streak”, “Nascent mesoderm”, “Mixed mesoderm”, Mesenchyme, “Haematoendothelial progenitors”, “Blood progenitors 1”, “Blood progenitors 2“ 发育路径，有分叉</vt:lpstr>
      <vt:lpstr>“Epiblast”, “Primitive Streak”, “Nascent mesoderm”, “Mixed mesoderm”, Mesenchyme, “Haematoendothelial progenitors”, “Blood progenitors 1”, “Blood progenitors 2“ 发育路径，有分叉</vt:lpstr>
      <vt:lpstr>以上两条发育路径同时表征</vt:lpstr>
      <vt:lpstr>以上两条发育路径同时表征-加上Mesenchyme</vt:lpstr>
      <vt:lpstr>以上两条发育路径同时表征</vt:lpstr>
      <vt:lpstr>以上两条发育路径同时表征-加上Mesenchyme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般若</dc:creator>
  <cp:lastModifiedBy>刘 般若</cp:lastModifiedBy>
  <cp:revision>23</cp:revision>
  <dcterms:created xsi:type="dcterms:W3CDTF">2025-03-27T08:07:18Z</dcterms:created>
  <dcterms:modified xsi:type="dcterms:W3CDTF">2025-04-03T10:48:10Z</dcterms:modified>
</cp:coreProperties>
</file>