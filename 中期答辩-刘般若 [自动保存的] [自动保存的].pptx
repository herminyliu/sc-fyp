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8" r:id="rId2"/>
    <p:sldId id="276" r:id="rId3"/>
    <p:sldId id="282" r:id="rId4"/>
    <p:sldId id="281" r:id="rId5"/>
    <p:sldId id="277" r:id="rId6"/>
    <p:sldId id="280" r:id="rId7"/>
    <p:sldId id="287" r:id="rId8"/>
    <p:sldId id="273" r:id="rId9"/>
    <p:sldId id="284" r:id="rId10"/>
    <p:sldId id="285" r:id="rId11"/>
    <p:sldId id="283" r:id="rId12"/>
    <p:sldId id="286" r:id="rId13"/>
    <p:sldId id="288" r:id="rId14"/>
    <p:sldId id="274" r:id="rId15"/>
    <p:sldId id="26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4" autoAdjust="0"/>
    <p:restoredTop sz="95153" autoAdjust="0"/>
  </p:normalViewPr>
  <p:slideViewPr>
    <p:cSldViewPr snapToGrid="0">
      <p:cViewPr varScale="1">
        <p:scale>
          <a:sx n="79" d="100"/>
          <a:sy n="79" d="100"/>
        </p:scale>
        <p:origin x="8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C1D47E-6376-4AFF-B30E-791383D2F2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7B0630-0AF8-4395-BCFE-9458D15775C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8F0F8-F951-4CF1-91A1-7B56F60E6A97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4ADECE-BC48-4C2F-94FD-58DA048B93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2A37FA-600E-4815-B1A3-72B4DFE0BE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62B142-5AC6-4F57-A5D1-6FC6D6DEAF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3313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D74B9-B2A3-4F51-953E-3FE8F263AECC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3C1B67-ADA9-4A10-B15B-EFBFFF8A22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82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9F68356-81E2-4606-BFA6-2E9C928F92EA}"/>
              </a:ext>
            </a:extLst>
          </p:cNvPr>
          <p:cNvSpPr/>
          <p:nvPr userDrawn="1"/>
        </p:nvSpPr>
        <p:spPr>
          <a:xfrm>
            <a:off x="140963" y="1059045"/>
            <a:ext cx="10847294" cy="457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8413FE-FC1B-4854-A636-AEC1BFEE3F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6179" y="70385"/>
            <a:ext cx="1014858" cy="101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4B267A1-B211-4F6F-9B70-BD18521D159A}"/>
              </a:ext>
            </a:extLst>
          </p:cNvPr>
          <p:cNvSpPr/>
          <p:nvPr userDrawn="1"/>
        </p:nvSpPr>
        <p:spPr>
          <a:xfrm>
            <a:off x="0" y="6454588"/>
            <a:ext cx="12192000" cy="4034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36D7D6-D7F6-42EA-9BC7-8C8105FECC1C}"/>
              </a:ext>
            </a:extLst>
          </p:cNvPr>
          <p:cNvSpPr txBox="1"/>
          <p:nvPr userDrawn="1"/>
        </p:nvSpPr>
        <p:spPr>
          <a:xfrm>
            <a:off x="0" y="6471628"/>
            <a:ext cx="6925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利用单细胞测序技术研究中胚层细胞的命运决定过程</a:t>
            </a:r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中期答辩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31FC79-5FA6-4193-B63A-373C411D5C6B}"/>
              </a:ext>
            </a:extLst>
          </p:cNvPr>
          <p:cNvSpPr txBox="1"/>
          <p:nvPr userDrawn="1"/>
        </p:nvSpPr>
        <p:spPr>
          <a:xfrm>
            <a:off x="7949492" y="6488668"/>
            <a:ext cx="424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化生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2101 </a:t>
            </a:r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刘般若 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banruo@stu.xjtu.edu.cn</a:t>
            </a:r>
            <a:endParaRPr lang="zh-CN" altLang="en-US" b="1" baseline="0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313F14E8-7D33-4ED4-B105-EE18D0B647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4" y="284385"/>
            <a:ext cx="6558116" cy="7405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F6DA9D76-4C8F-4E94-A6FF-1429F6226C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084" y="1293744"/>
            <a:ext cx="10847294" cy="450521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7" name="内容占位符 26">
            <a:extLst>
              <a:ext uri="{FF2B5EF4-FFF2-40B4-BE49-F238E27FC236}">
                <a16:creationId xmlns:a16="http://schemas.microsoft.com/office/drawing/2014/main" id="{1FB46DF8-009B-4E33-A829-7907791812A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9084" y="5833035"/>
            <a:ext cx="11910074" cy="52932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8998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幻灯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9F68356-81E2-4606-BFA6-2E9C928F92EA}"/>
              </a:ext>
            </a:extLst>
          </p:cNvPr>
          <p:cNvSpPr/>
          <p:nvPr userDrawn="1"/>
        </p:nvSpPr>
        <p:spPr>
          <a:xfrm>
            <a:off x="140963" y="1059045"/>
            <a:ext cx="10847294" cy="457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8413FE-FC1B-4854-A636-AEC1BFEE3F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6179" y="70385"/>
            <a:ext cx="1014858" cy="101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4B267A1-B211-4F6F-9B70-BD18521D159A}"/>
              </a:ext>
            </a:extLst>
          </p:cNvPr>
          <p:cNvSpPr/>
          <p:nvPr userDrawn="1"/>
        </p:nvSpPr>
        <p:spPr>
          <a:xfrm>
            <a:off x="0" y="6454588"/>
            <a:ext cx="12192000" cy="4034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36D7D6-D7F6-42EA-9BC7-8C8105FECC1C}"/>
              </a:ext>
            </a:extLst>
          </p:cNvPr>
          <p:cNvSpPr txBox="1"/>
          <p:nvPr userDrawn="1"/>
        </p:nvSpPr>
        <p:spPr>
          <a:xfrm>
            <a:off x="0" y="6471628"/>
            <a:ext cx="6925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利用单细胞测序技术研究中胚层细胞的命运决定过程</a:t>
            </a:r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中期答辩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31FC79-5FA6-4193-B63A-373C411D5C6B}"/>
              </a:ext>
            </a:extLst>
          </p:cNvPr>
          <p:cNvSpPr txBox="1"/>
          <p:nvPr userDrawn="1"/>
        </p:nvSpPr>
        <p:spPr>
          <a:xfrm>
            <a:off x="7949492" y="6488668"/>
            <a:ext cx="424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化生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2101 </a:t>
            </a:r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刘般若 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banruo@stu.xjtu.edu.cn</a:t>
            </a:r>
            <a:endParaRPr lang="zh-CN" altLang="en-US" b="1" baseline="0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313F14E8-7D33-4ED4-B105-EE18D0B647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4" y="209379"/>
            <a:ext cx="6558116" cy="7405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文本占位符 23">
            <a:extLst>
              <a:ext uri="{FF2B5EF4-FFF2-40B4-BE49-F238E27FC236}">
                <a16:creationId xmlns:a16="http://schemas.microsoft.com/office/drawing/2014/main" id="{4A7945D6-F944-495D-B2DF-8814F25A58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084" y="1293744"/>
            <a:ext cx="10847294" cy="450521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70742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58413FE-FC1B-4854-A636-AEC1BFEE3F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6179" y="70385"/>
            <a:ext cx="1014858" cy="101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4B267A1-B211-4F6F-9B70-BD18521D159A}"/>
              </a:ext>
            </a:extLst>
          </p:cNvPr>
          <p:cNvSpPr/>
          <p:nvPr userDrawn="1"/>
        </p:nvSpPr>
        <p:spPr>
          <a:xfrm>
            <a:off x="0" y="6454588"/>
            <a:ext cx="12192000" cy="4034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36D7D6-D7F6-42EA-9BC7-8C8105FECC1C}"/>
              </a:ext>
            </a:extLst>
          </p:cNvPr>
          <p:cNvSpPr txBox="1"/>
          <p:nvPr userDrawn="1"/>
        </p:nvSpPr>
        <p:spPr>
          <a:xfrm>
            <a:off x="0" y="6471628"/>
            <a:ext cx="6925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利用单细胞测序技术研究中胚层细胞的命运决定过程</a:t>
            </a:r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中期答辩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31FC79-5FA6-4193-B63A-373C411D5C6B}"/>
              </a:ext>
            </a:extLst>
          </p:cNvPr>
          <p:cNvSpPr txBox="1"/>
          <p:nvPr userDrawn="1"/>
        </p:nvSpPr>
        <p:spPr>
          <a:xfrm>
            <a:off x="7949492" y="6488668"/>
            <a:ext cx="424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化生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2101 </a:t>
            </a:r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刘般若 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banruo@stu.xjtu.edu.cn</a:t>
            </a:r>
            <a:endParaRPr lang="zh-CN" altLang="en-US" b="1" baseline="0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37FA0B-6015-4D45-A11B-AF9B18C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9902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116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91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BE4A9-E43D-4895-8D77-23B439522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66542"/>
            <a:ext cx="10515600" cy="2030098"/>
          </a:xfrm>
        </p:spPr>
        <p:txBody>
          <a:bodyPr/>
          <a:lstStyle/>
          <a:p>
            <a:r>
              <a:rPr lang="zh-CN" altLang="en-US" dirty="0"/>
              <a:t>利用单细胞测序技术研究小鼠中胚层细胞</a:t>
            </a:r>
            <a:br>
              <a:rPr lang="en-US" altLang="zh-CN" dirty="0"/>
            </a:br>
            <a:r>
              <a:rPr lang="zh-CN" altLang="en-US" dirty="0"/>
              <a:t>的命运决定过程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sz="3600" dirty="0"/>
              <a:t>中期答辩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26AC1F-1CB2-43BF-85B5-2EBFECCCE747}"/>
              </a:ext>
            </a:extLst>
          </p:cNvPr>
          <p:cNvSpPr txBox="1"/>
          <p:nvPr/>
        </p:nvSpPr>
        <p:spPr>
          <a:xfrm>
            <a:off x="3631227" y="4704080"/>
            <a:ext cx="49295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化生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2101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刘般若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指导老师：王然研究员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318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95"/>
    </mc:Choice>
    <mc:Fallback xmlns="">
      <p:transition spd="slow" advTm="2329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6DA859E-C283-448A-B85B-C96984E19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当前已完成的工作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17157B-EE4D-4187-BF14-CCF229ECAB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对全数据集细胞进行降维分析，确定了上胚层细胞下游的多条发育路径并将其可视化。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原条细胞为发育路径分支点，分别找到了下游的新生中胚层细胞、前原条细胞和上游原条细胞的差异基因，并进行了基因本体论分析，确定了原条细胞命运决定因素。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python</a:t>
            </a:r>
            <a:r>
              <a:rPr lang="zh-CN" altLang="en-US" dirty="0"/>
              <a:t>语言开发了单细胞测序数据分析工作流，并完善了代码注释和文档说明，上传到</a:t>
            </a:r>
            <a:r>
              <a:rPr lang="en-US" altLang="zh-CN" dirty="0"/>
              <a:t>GitHub</a:t>
            </a:r>
            <a:r>
              <a:rPr lang="zh-CN" altLang="en-US" dirty="0"/>
              <a:t>。</a:t>
            </a:r>
            <a:r>
              <a:rPr lang="en-US" altLang="zh-CN" dirty="0"/>
              <a:t>https://github.com/herminyliu/sc-fyp</a:t>
            </a:r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0562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9C96423-7DB8-411B-A3C1-F7F8C1F9C0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数据集分布情况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45E75D-95B5-475F-B221-E6A58A349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4" y="1266824"/>
            <a:ext cx="7570377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61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5D67768-0FED-410A-A3D1-7714B716D6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UMAP</a:t>
            </a:r>
            <a:r>
              <a:rPr lang="zh-CN" altLang="en-US"/>
              <a:t>降维图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C31C20-8136-4763-BA31-9754B97464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33" b="47043"/>
          <a:stretch/>
        </p:blipFill>
        <p:spPr>
          <a:xfrm>
            <a:off x="249084" y="1532859"/>
            <a:ext cx="11561848" cy="459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38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1FD4513-E24A-45D1-987C-5265BC22B7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4" y="209379"/>
            <a:ext cx="8761566" cy="740580"/>
          </a:xfrm>
        </p:spPr>
        <p:txBody>
          <a:bodyPr/>
          <a:lstStyle/>
          <a:p>
            <a:r>
              <a:rPr lang="zh-CN" altLang="en-US" dirty="0"/>
              <a:t>上胚层</a:t>
            </a:r>
            <a:r>
              <a:rPr lang="en-US" altLang="zh-CN" dirty="0"/>
              <a:t>—</a:t>
            </a:r>
            <a:r>
              <a:rPr lang="zh-CN" altLang="en-US" dirty="0"/>
              <a:t>血液发育路径 流形发育图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604B62-20B9-47C4-82BB-71EBC801D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4" y="1181099"/>
            <a:ext cx="9123516" cy="520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7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1FD4513-E24A-45D1-987C-5265BC22B7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4" y="209379"/>
            <a:ext cx="8047191" cy="740580"/>
          </a:xfrm>
        </p:spPr>
        <p:txBody>
          <a:bodyPr/>
          <a:lstStyle/>
          <a:p>
            <a:r>
              <a:rPr lang="zh-CN" altLang="en-US" dirty="0"/>
              <a:t>上胚层</a:t>
            </a:r>
            <a:r>
              <a:rPr lang="en-US" altLang="zh-CN" dirty="0"/>
              <a:t>—</a:t>
            </a:r>
            <a:r>
              <a:rPr lang="zh-CN" altLang="en-US" dirty="0"/>
              <a:t>血液发育路径 </a:t>
            </a:r>
            <a:r>
              <a:rPr lang="en-US" altLang="zh-CN" dirty="0"/>
              <a:t>PAGA</a:t>
            </a:r>
            <a:r>
              <a:rPr lang="zh-CN" altLang="en-US" dirty="0"/>
              <a:t>抽象图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05CBFD-5866-4348-9DB8-A6CDE482B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4" y="1150616"/>
            <a:ext cx="5191596" cy="529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24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86675B3-5B10-460B-A740-818AC0906C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DPT</a:t>
            </a:r>
            <a:r>
              <a:rPr lang="zh-CN" altLang="en-US" dirty="0"/>
              <a:t>拟时序算法结果图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7A9DDB-40D2-41B9-AB97-297BFAD4B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4" y="1271012"/>
            <a:ext cx="5100156" cy="500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18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4FA3CE4-1042-4DED-9890-D88543C35F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3" y="284385"/>
            <a:ext cx="9142567" cy="740580"/>
          </a:xfrm>
        </p:spPr>
        <p:txBody>
          <a:bodyPr/>
          <a:lstStyle/>
          <a:p>
            <a:r>
              <a:rPr lang="zh-CN" altLang="en-US" dirty="0"/>
              <a:t>原条细胞和其下游细胞间的表达差异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428406-E8C6-4515-A96E-8C2ABC0E0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3" y="1649344"/>
            <a:ext cx="5399242" cy="417997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FA2C907-8359-45CB-B717-2AEF928E92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175" y="1649344"/>
            <a:ext cx="5399242" cy="417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50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15"/>
    </mc:Choice>
    <mc:Fallback xmlns="">
      <p:transition spd="slow" advTm="4551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4FA3CE4-1042-4DED-9890-D88543C35F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3" y="284385"/>
            <a:ext cx="9142567" cy="740580"/>
          </a:xfrm>
        </p:spPr>
        <p:txBody>
          <a:bodyPr/>
          <a:lstStyle/>
          <a:p>
            <a:r>
              <a:rPr lang="zh-CN" altLang="en-US" dirty="0"/>
              <a:t>前原条细胞相较于原条细胞的表达差异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34559C-63D5-4343-9703-6889971AB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3" y="1175760"/>
            <a:ext cx="11798832" cy="523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54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15"/>
    </mc:Choice>
    <mc:Fallback xmlns="">
      <p:transition spd="slow" advTm="4551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4FA3CE4-1042-4DED-9890-D88543C35F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3" y="284385"/>
            <a:ext cx="9142567" cy="740580"/>
          </a:xfrm>
        </p:spPr>
        <p:txBody>
          <a:bodyPr/>
          <a:lstStyle/>
          <a:p>
            <a:r>
              <a:rPr lang="zh-CN" altLang="en-US" dirty="0"/>
              <a:t>新生中胚层细胞相较于原条细胞的表达差异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203B45-C751-40F6-AA9F-2EC1D7929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3" y="1217827"/>
            <a:ext cx="11390467" cy="523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772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15"/>
    </mc:Choice>
    <mc:Fallback xmlns="">
      <p:transition spd="slow" advTm="4551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4FA3CE4-1042-4DED-9890-D88543C35F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3" y="284385"/>
            <a:ext cx="10010485" cy="740580"/>
          </a:xfrm>
        </p:spPr>
        <p:txBody>
          <a:bodyPr/>
          <a:lstStyle/>
          <a:p>
            <a:r>
              <a:rPr lang="zh-CN" altLang="en-US" dirty="0"/>
              <a:t>原条细胞发育分叉点差异表征 </a:t>
            </a:r>
            <a:r>
              <a:rPr lang="en-US" altLang="zh-CN" dirty="0"/>
              <a:t>660/18210</a:t>
            </a:r>
            <a:r>
              <a:rPr lang="zh-CN" altLang="en-US" dirty="0"/>
              <a:t>个基因</a:t>
            </a:r>
          </a:p>
        </p:txBody>
      </p:sp>
    </p:spTree>
    <p:extLst>
      <p:ext uri="{BB962C8B-B14F-4D97-AF65-F5344CB8AC3E}">
        <p14:creationId xmlns:p14="http://schemas.microsoft.com/office/powerpoint/2010/main" val="278556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15"/>
    </mc:Choice>
    <mc:Fallback xmlns="">
      <p:transition spd="slow" advTm="4551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4FA3CE4-1042-4DED-9890-D88543C35F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3" y="284385"/>
            <a:ext cx="10257373" cy="740580"/>
          </a:xfrm>
        </p:spPr>
        <p:txBody>
          <a:bodyPr/>
          <a:lstStyle/>
          <a:p>
            <a:r>
              <a:rPr lang="zh-CN" altLang="en-US" dirty="0"/>
              <a:t>原条细胞发育分叉点差异表征 </a:t>
            </a:r>
            <a:r>
              <a:rPr lang="en-US" altLang="zh-CN" dirty="0"/>
              <a:t>660/18210</a:t>
            </a:r>
            <a:r>
              <a:rPr lang="zh-CN" altLang="en-US" dirty="0"/>
              <a:t>个基因</a:t>
            </a:r>
          </a:p>
        </p:txBody>
      </p:sp>
    </p:spTree>
    <p:extLst>
      <p:ext uri="{BB962C8B-B14F-4D97-AF65-F5344CB8AC3E}">
        <p14:creationId xmlns:p14="http://schemas.microsoft.com/office/powerpoint/2010/main" val="1186512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15"/>
    </mc:Choice>
    <mc:Fallback xmlns="">
      <p:transition spd="slow" advTm="4551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F669D69-A2A0-4803-BB17-851E1C8719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后续工作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A78FAA-D985-4E13-808B-F3FF1F8CE3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进一步深度挖掘差异基因的生物学意义。</a:t>
            </a:r>
          </a:p>
        </p:txBody>
      </p:sp>
    </p:spTree>
    <p:extLst>
      <p:ext uri="{BB962C8B-B14F-4D97-AF65-F5344CB8AC3E}">
        <p14:creationId xmlns:p14="http://schemas.microsoft.com/office/powerpoint/2010/main" val="1485148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9AAFED3-22FE-498B-B438-B0FCFBFD51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参考文献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8F6C01-C1DB-45AA-8F8C-7C7F9AEC91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17641" y="1383278"/>
            <a:ext cx="11600016" cy="5059431"/>
          </a:xfrm>
        </p:spPr>
        <p:txBody>
          <a:bodyPr/>
          <a:lstStyle/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1.	Wang, R.,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Integration of Computational Analysis and Spatial Transcriptomics in Single-cell Studies.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Genomics, Proteomics &amp; Bioinformatics, 2023. 21(1): p. 13-23.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2.	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Ringnér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M.,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What is principal component analysis?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 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Biotechnol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2008. 26(3): p. 303-4.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3.	Kobak, D. and P. Berens,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The art of using t-SNE for single-cell transcriptomics.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 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Commun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2019. 10(1): p. 5416.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4.	Becht, E.,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Dimensionality reduction for visualizing single-cell data using UMAP.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 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Biotechnol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2018.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5.	Langfelder, P. and S. Horvath,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WGCNA: an R package for weighted correlation network analysis.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BMC Bioinformatics, 2008. 9: p. 559.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6.	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Haghverdi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L.,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Diffusion </a:t>
            </a:r>
            <a:r>
              <a:rPr lang="en-US" altLang="zh-CN" sz="1500" i="1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pseudotime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robustly reconstructs lineage branching.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 Methods, 2016. 13(10): p. 845-8.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7.	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Jin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S., et al., </a:t>
            </a:r>
            <a:r>
              <a:rPr lang="en-US" altLang="zh-CN" sz="1500" i="1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scEpath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: energy landscape-based inference of transition probabilities and cellular trajectories from single-cell transcriptomic data.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Bioinformatics, 2018. 34(12): p. 2077-2086.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8.	Wang, R.,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Time space and single-cell resolved tissue lineage trajectories and laterality of body plan at gastrulation.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Nature Communications, 2023. 14(1): p. 5675.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9.	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Qiu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C.,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Systematic reconstruction of cellular trajectories across mouse embryogenesis.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Nature Genetics, 2022. 54(3): p. 328-341.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10.	Wagner, D.E.,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Single-cell mapping of gene expression landscapes and lineage in the zebrafish embryo.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Science, 2018. 360(6392): p. 981-987.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11.	Farrell, J.A.,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Single-cell reconstruction of developmental trajectories during zebrafish embryogenesis.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Science, 2018. 360(6392): p. eaar3131.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12.	Green, G.S.,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Cellular communities reveal trajectories of brain ageing and Alzheimer’s disease.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Nature, 2024. 633(8030): p. 634-645.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13.	Kirschenbaum, D.,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Time-resolved single-cell transcriptomics defines immune trajectories in glioblastoma.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Cell, 2024. 187(1): p. 149-165.e23.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800100" indent="-342900">
              <a:lnSpc>
                <a:spcPct val="100000"/>
              </a:lnSpc>
              <a:spcBef>
                <a:spcPts val="0"/>
              </a:spcBef>
              <a:buAutoNum type="arabicPeriod" startAt="14"/>
            </a:pP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Schiebinger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G.,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Optimal-Transport Analysis of Single-Cell Gene Expression Identifies Developmental Trajectories in Reprogramming.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Cell, 2019. 176(4): p. 928-943.e22.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1500" dirty="0"/>
          </a:p>
        </p:txBody>
      </p:sp>
    </p:spTree>
    <p:extLst>
      <p:ext uri="{BB962C8B-B14F-4D97-AF65-F5344CB8AC3E}">
        <p14:creationId xmlns:p14="http://schemas.microsoft.com/office/powerpoint/2010/main" val="76514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72"/>
    </mc:Choice>
    <mc:Fallback xmlns="">
      <p:transition spd="slow" advTm="447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04553B-1A61-44DE-AD6E-4E19642FB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1341752"/>
            <a:ext cx="10515600" cy="1325563"/>
          </a:xfrm>
        </p:spPr>
        <p:txBody>
          <a:bodyPr/>
          <a:lstStyle/>
          <a:p>
            <a:r>
              <a:rPr lang="zh-CN" altLang="en-US" dirty="0"/>
              <a:t>恳请老师批评指正！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66CDE6-63E1-4D54-B635-C68C68803252}"/>
              </a:ext>
            </a:extLst>
          </p:cNvPr>
          <p:cNvSpPr txBox="1"/>
          <p:nvPr/>
        </p:nvSpPr>
        <p:spPr>
          <a:xfrm>
            <a:off x="3733996" y="4805050"/>
            <a:ext cx="49295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化生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2101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刘般若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指导老师：王然研究员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B972EFC2-7A84-437C-A78E-A46031FA4155}"/>
              </a:ext>
            </a:extLst>
          </p:cNvPr>
          <p:cNvSpPr txBox="1">
            <a:spLocks/>
          </p:cNvSpPr>
          <p:nvPr/>
        </p:nvSpPr>
        <p:spPr>
          <a:xfrm>
            <a:off x="940970" y="2412295"/>
            <a:ext cx="10515600" cy="2030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 sz="3600" dirty="0"/>
              <a:t>利用单细胞测序技术研究小鼠中胚层细胞</a:t>
            </a:r>
            <a:br>
              <a:rPr lang="en-US" altLang="zh-CN" sz="3600" dirty="0"/>
            </a:br>
            <a:r>
              <a:rPr lang="zh-CN" altLang="en-US" sz="3600" dirty="0"/>
              <a:t>的命运决定过程</a:t>
            </a:r>
            <a:br>
              <a:rPr lang="en-US" altLang="zh-CN" sz="3600" dirty="0"/>
            </a:br>
            <a:br>
              <a:rPr lang="en-US" altLang="zh-CN" sz="3600" dirty="0"/>
            </a:br>
            <a:r>
              <a:rPr lang="zh-CN" altLang="en-US" sz="2800" dirty="0"/>
              <a:t>中期答辩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8120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72"/>
    </mc:Choice>
    <mc:Fallback xmlns="">
      <p:transition spd="slow" advTm="3472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713</Words>
  <Application>Microsoft Office PowerPoint</Application>
  <PresentationFormat>宽屏</PresentationFormat>
  <Paragraphs>41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黑体</vt:lpstr>
      <vt:lpstr>Arial</vt:lpstr>
      <vt:lpstr>Calibri</vt:lpstr>
      <vt:lpstr>Office 主题​​</vt:lpstr>
      <vt:lpstr>利用单细胞测序技术研究小鼠中胚层细胞 的命运决定过程  中期答辩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恳请老师批评指正！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 般若</dc:creator>
  <cp:lastModifiedBy>刘 般若</cp:lastModifiedBy>
  <cp:revision>38</cp:revision>
  <dcterms:created xsi:type="dcterms:W3CDTF">2025-01-08T14:02:00Z</dcterms:created>
  <dcterms:modified xsi:type="dcterms:W3CDTF">2025-04-08T12:38:26Z</dcterms:modified>
</cp:coreProperties>
</file>