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8" r:id="rId2"/>
    <p:sldId id="298" r:id="rId3"/>
    <p:sldId id="276" r:id="rId4"/>
    <p:sldId id="297" r:id="rId5"/>
    <p:sldId id="289" r:id="rId6"/>
    <p:sldId id="290" r:id="rId7"/>
    <p:sldId id="281" r:id="rId8"/>
    <p:sldId id="296" r:id="rId9"/>
    <p:sldId id="277" r:id="rId10"/>
    <p:sldId id="287" r:id="rId11"/>
    <p:sldId id="273" r:id="rId12"/>
    <p:sldId id="284" r:id="rId13"/>
    <p:sldId id="285" r:id="rId14"/>
    <p:sldId id="291" r:id="rId15"/>
    <p:sldId id="292" r:id="rId16"/>
    <p:sldId id="294" r:id="rId17"/>
    <p:sldId id="288" r:id="rId18"/>
    <p:sldId id="274" r:id="rId19"/>
    <p:sldId id="26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03AA"/>
    <a:srgbClr val="D62728"/>
    <a:srgbClr val="AA40FC"/>
    <a:srgbClr val="1F77B4"/>
    <a:srgbClr val="FF7F0E"/>
    <a:srgbClr val="6A3A4C"/>
    <a:srgbClr val="1B4400"/>
    <a:srgbClr val="FFDBE5"/>
    <a:srgbClr val="4FC601"/>
    <a:srgbClr val="1CE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1" autoAdjust="0"/>
    <p:restoredTop sz="95153" autoAdjust="0"/>
  </p:normalViewPr>
  <p:slideViewPr>
    <p:cSldViewPr snapToGrid="0">
      <p:cViewPr varScale="1">
        <p:scale>
          <a:sx n="84" d="100"/>
          <a:sy n="84" d="100"/>
        </p:scale>
        <p:origin x="706"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19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596714-A524-445E-A53A-2751F6D43AAB}" type="doc">
      <dgm:prSet loTypeId="urn:microsoft.com/office/officeart/2005/8/layout/process1" loCatId="process" qsTypeId="urn:microsoft.com/office/officeart/2005/8/quickstyle/simple1" qsCatId="simple" csTypeId="urn:microsoft.com/office/officeart/2005/8/colors/accent1_3" csCatId="accent1" phldr="1"/>
      <dgm:spPr/>
      <dgm:t>
        <a:bodyPr/>
        <a:lstStyle/>
        <a:p>
          <a:endParaRPr lang="zh-CN" altLang="en-US"/>
        </a:p>
      </dgm:t>
    </dgm:pt>
    <dgm:pt modelId="{E288B608-7EDA-436B-ADBF-31EB3109C096}">
      <dgm:prSet phldrT="[文本]" custT="1"/>
      <dgm:spPr/>
      <dgm:t>
        <a:bodyPr/>
        <a:lstStyle/>
        <a:p>
          <a:r>
            <a:rPr lang="en-US" altLang="zh-CN" sz="1800" dirty="0"/>
            <a:t>Data Insight</a:t>
          </a:r>
          <a:endParaRPr lang="zh-CN" altLang="en-US" sz="1800" dirty="0"/>
        </a:p>
      </dgm:t>
    </dgm:pt>
    <dgm:pt modelId="{CE8369A7-18D7-4352-B99C-2E5325EA5AD3}" type="parTrans" cxnId="{8A30EE46-731C-4CB6-982E-9C291A3BF119}">
      <dgm:prSet/>
      <dgm:spPr/>
      <dgm:t>
        <a:bodyPr/>
        <a:lstStyle/>
        <a:p>
          <a:endParaRPr lang="zh-CN" altLang="en-US" sz="1800"/>
        </a:p>
      </dgm:t>
    </dgm:pt>
    <dgm:pt modelId="{35831F13-5A46-45EC-AFFA-00F24489CC1A}" type="sibTrans" cxnId="{8A30EE46-731C-4CB6-982E-9C291A3BF119}">
      <dgm:prSet custT="1"/>
      <dgm:spPr/>
      <dgm:t>
        <a:bodyPr/>
        <a:lstStyle/>
        <a:p>
          <a:endParaRPr lang="zh-CN" altLang="en-US" sz="1800"/>
        </a:p>
      </dgm:t>
    </dgm:pt>
    <dgm:pt modelId="{9C12A016-75D8-48B5-A1D6-E31386C1EC04}">
      <dgm:prSet phldrT="[文本]" custT="1"/>
      <dgm:spPr/>
      <dgm:t>
        <a:bodyPr/>
        <a:lstStyle/>
        <a:p>
          <a:r>
            <a:rPr lang="zh-CN" altLang="en-US" sz="1800" dirty="0"/>
            <a:t>筛选基因</a:t>
          </a:r>
        </a:p>
      </dgm:t>
    </dgm:pt>
    <dgm:pt modelId="{425A553A-D487-473D-937E-145B1F6BF5ED}" type="parTrans" cxnId="{CA22B3B1-2A37-4A74-83DF-DE99A81D20DA}">
      <dgm:prSet/>
      <dgm:spPr/>
      <dgm:t>
        <a:bodyPr/>
        <a:lstStyle/>
        <a:p>
          <a:endParaRPr lang="zh-CN" altLang="en-US" sz="1800"/>
        </a:p>
      </dgm:t>
    </dgm:pt>
    <dgm:pt modelId="{FBB51751-608C-4227-8496-258B2B8F6368}" type="sibTrans" cxnId="{CA22B3B1-2A37-4A74-83DF-DE99A81D20DA}">
      <dgm:prSet custT="1"/>
      <dgm:spPr/>
      <dgm:t>
        <a:bodyPr/>
        <a:lstStyle/>
        <a:p>
          <a:endParaRPr lang="zh-CN" altLang="en-US" sz="1800"/>
        </a:p>
      </dgm:t>
    </dgm:pt>
    <dgm:pt modelId="{09BA6510-70A4-4C56-BCBC-3C2D148DAF5E}">
      <dgm:prSet phldrT="[文本]" custT="1"/>
      <dgm:spPr/>
      <dgm:t>
        <a:bodyPr/>
        <a:lstStyle/>
        <a:p>
          <a:r>
            <a:rPr lang="zh-CN" altLang="en-US" sz="1800" dirty="0"/>
            <a:t>筛选细胞</a:t>
          </a:r>
        </a:p>
      </dgm:t>
    </dgm:pt>
    <dgm:pt modelId="{DA18DB03-A1B0-402C-8CE0-2CDEFFCFCC96}" type="parTrans" cxnId="{53D1D4FB-4428-424D-BC49-4DBB77485A8B}">
      <dgm:prSet/>
      <dgm:spPr/>
      <dgm:t>
        <a:bodyPr/>
        <a:lstStyle/>
        <a:p>
          <a:endParaRPr lang="zh-CN" altLang="en-US" sz="1800"/>
        </a:p>
      </dgm:t>
    </dgm:pt>
    <dgm:pt modelId="{4CEB2644-1E17-43F3-8FA3-4158327EE22B}" type="sibTrans" cxnId="{53D1D4FB-4428-424D-BC49-4DBB77485A8B}">
      <dgm:prSet custT="1"/>
      <dgm:spPr/>
      <dgm:t>
        <a:bodyPr/>
        <a:lstStyle/>
        <a:p>
          <a:endParaRPr lang="zh-CN" altLang="en-US" sz="1800"/>
        </a:p>
      </dgm:t>
    </dgm:pt>
    <dgm:pt modelId="{6ED7587B-BECC-485D-957A-42BFE85CB552}">
      <dgm:prSet phldrT="[文本]" custT="1"/>
      <dgm:spPr/>
      <dgm:t>
        <a:bodyPr/>
        <a:lstStyle/>
        <a:p>
          <a:r>
            <a:rPr lang="zh-CN" altLang="en-US" sz="1800" b="0" i="0" dirty="0"/>
            <a:t>总读数标准化</a:t>
          </a:r>
          <a:endParaRPr lang="zh-CN" altLang="en-US" sz="1800" dirty="0"/>
        </a:p>
      </dgm:t>
    </dgm:pt>
    <dgm:pt modelId="{FA785A3F-FEE2-4D42-A5A9-357552209B59}" type="parTrans" cxnId="{922CE2F7-CB98-456C-A4BE-7CAE2168E27B}">
      <dgm:prSet/>
      <dgm:spPr/>
      <dgm:t>
        <a:bodyPr/>
        <a:lstStyle/>
        <a:p>
          <a:endParaRPr lang="zh-CN" altLang="en-US" sz="1800"/>
        </a:p>
      </dgm:t>
    </dgm:pt>
    <dgm:pt modelId="{0E2C9621-30BB-46DA-A9C1-FF478F8E8649}" type="sibTrans" cxnId="{922CE2F7-CB98-456C-A4BE-7CAE2168E27B}">
      <dgm:prSet custT="1"/>
      <dgm:spPr/>
      <dgm:t>
        <a:bodyPr/>
        <a:lstStyle/>
        <a:p>
          <a:endParaRPr lang="zh-CN" altLang="en-US" sz="1800"/>
        </a:p>
      </dgm:t>
    </dgm:pt>
    <dgm:pt modelId="{08768172-C7C8-48F0-BE0E-486BCDAF2497}">
      <dgm:prSet phldrT="[文本]" custT="1"/>
      <dgm:spPr/>
      <dgm:t>
        <a:bodyPr/>
        <a:lstStyle/>
        <a:p>
          <a:r>
            <a:rPr lang="en-US" altLang="zh-CN" sz="1800" dirty="0"/>
            <a:t>Combat</a:t>
          </a:r>
          <a:r>
            <a:rPr lang="zh-CN" altLang="en-US" sz="1800" dirty="0"/>
            <a:t>或</a:t>
          </a:r>
          <a:r>
            <a:rPr lang="en-US" altLang="zh-CN" sz="1800" dirty="0" err="1"/>
            <a:t>mnn</a:t>
          </a:r>
          <a:r>
            <a:rPr lang="zh-CN" altLang="en-US" sz="1800" dirty="0"/>
            <a:t>批次矫正</a:t>
          </a:r>
        </a:p>
      </dgm:t>
    </dgm:pt>
    <dgm:pt modelId="{F43C94D3-4727-4994-8A22-6E5ABB1BE6B1}" type="parTrans" cxnId="{BF89315E-9148-4697-A3D5-6241F687B0D9}">
      <dgm:prSet/>
      <dgm:spPr/>
      <dgm:t>
        <a:bodyPr/>
        <a:lstStyle/>
        <a:p>
          <a:endParaRPr lang="zh-CN" altLang="en-US" sz="1800"/>
        </a:p>
      </dgm:t>
    </dgm:pt>
    <dgm:pt modelId="{DE842F2A-9639-4038-B42A-BCAF77579134}" type="sibTrans" cxnId="{BF89315E-9148-4697-A3D5-6241F687B0D9}">
      <dgm:prSet custT="1"/>
      <dgm:spPr/>
      <dgm:t>
        <a:bodyPr/>
        <a:lstStyle/>
        <a:p>
          <a:endParaRPr lang="zh-CN" altLang="en-US" sz="1800"/>
        </a:p>
      </dgm:t>
    </dgm:pt>
    <dgm:pt modelId="{2F81751D-B4C9-4726-AD5D-25E733A65098}">
      <dgm:prSet phldrT="[文本]" custT="1"/>
      <dgm:spPr/>
      <dgm:t>
        <a:bodyPr/>
        <a:lstStyle/>
        <a:p>
          <a:r>
            <a:rPr lang="zh-CN" altLang="en-US" sz="1800" dirty="0"/>
            <a:t>归一化</a:t>
          </a:r>
        </a:p>
      </dgm:t>
    </dgm:pt>
    <dgm:pt modelId="{0119276A-398D-4447-BD13-A0CCD397128C}" type="parTrans" cxnId="{92329AE4-41C5-49C0-BE87-22BC61493697}">
      <dgm:prSet/>
      <dgm:spPr/>
      <dgm:t>
        <a:bodyPr/>
        <a:lstStyle/>
        <a:p>
          <a:endParaRPr lang="zh-CN" altLang="en-US" sz="1800"/>
        </a:p>
      </dgm:t>
    </dgm:pt>
    <dgm:pt modelId="{BE188689-B7F6-4160-A17B-325E4963D718}" type="sibTrans" cxnId="{92329AE4-41C5-49C0-BE87-22BC61493697}">
      <dgm:prSet/>
      <dgm:spPr/>
      <dgm:t>
        <a:bodyPr/>
        <a:lstStyle/>
        <a:p>
          <a:endParaRPr lang="zh-CN" altLang="en-US" sz="1800"/>
        </a:p>
      </dgm:t>
    </dgm:pt>
    <dgm:pt modelId="{45C01650-22FB-4338-9084-BF39263E48E8}">
      <dgm:prSet phldrT="[文本]" custT="1"/>
      <dgm:spPr/>
      <dgm:t>
        <a:bodyPr/>
        <a:lstStyle/>
        <a:p>
          <a:r>
            <a:rPr lang="zh-CN" altLang="en-US" sz="1800" dirty="0"/>
            <a:t>对数化</a:t>
          </a:r>
        </a:p>
      </dgm:t>
    </dgm:pt>
    <dgm:pt modelId="{9B521EAD-EF04-4314-9324-21A8DF5EC1FA}" type="sibTrans" cxnId="{1497AFF0-8ED8-4506-96A5-E768122F43B8}">
      <dgm:prSet custT="1"/>
      <dgm:spPr/>
      <dgm:t>
        <a:bodyPr/>
        <a:lstStyle/>
        <a:p>
          <a:endParaRPr lang="zh-CN" altLang="en-US" sz="1800"/>
        </a:p>
      </dgm:t>
    </dgm:pt>
    <dgm:pt modelId="{685399D5-3C4E-4F1A-9E4F-26C65D948663}" type="parTrans" cxnId="{1497AFF0-8ED8-4506-96A5-E768122F43B8}">
      <dgm:prSet/>
      <dgm:spPr/>
      <dgm:t>
        <a:bodyPr/>
        <a:lstStyle/>
        <a:p>
          <a:endParaRPr lang="zh-CN" altLang="en-US" sz="1800"/>
        </a:p>
      </dgm:t>
    </dgm:pt>
    <dgm:pt modelId="{E3FC396D-2C88-4581-B573-FD9FE638311E}">
      <dgm:prSet phldrT="[文本]" custT="1"/>
      <dgm:spPr/>
      <dgm:t>
        <a:bodyPr/>
        <a:lstStyle/>
        <a:p>
          <a:r>
            <a:rPr lang="zh-CN" altLang="en-US" sz="1800" dirty="0"/>
            <a:t>绘制总读数 基因种类分布图</a:t>
          </a:r>
        </a:p>
      </dgm:t>
    </dgm:pt>
    <dgm:pt modelId="{5AD6A399-6A81-4C0E-AF4A-B70DD86F2341}" type="sibTrans" cxnId="{863D7ABD-0AEF-4F34-BE0C-88A741BFC2AF}">
      <dgm:prSet custT="1"/>
      <dgm:spPr/>
      <dgm:t>
        <a:bodyPr/>
        <a:lstStyle/>
        <a:p>
          <a:endParaRPr lang="zh-CN" altLang="en-US" sz="1800"/>
        </a:p>
      </dgm:t>
    </dgm:pt>
    <dgm:pt modelId="{6BDA1E62-F16D-4BCC-9BB9-28806DD78FFD}" type="parTrans" cxnId="{863D7ABD-0AEF-4F34-BE0C-88A741BFC2AF}">
      <dgm:prSet/>
      <dgm:spPr/>
      <dgm:t>
        <a:bodyPr/>
        <a:lstStyle/>
        <a:p>
          <a:endParaRPr lang="zh-CN" altLang="en-US" sz="1800"/>
        </a:p>
      </dgm:t>
    </dgm:pt>
    <dgm:pt modelId="{14BC6A37-2681-4DE5-BFD3-7F51FB948E2D}">
      <dgm:prSet phldrT="[文本]" custT="1"/>
      <dgm:spPr/>
      <dgm:t>
        <a:bodyPr/>
        <a:lstStyle/>
        <a:p>
          <a:r>
            <a:rPr lang="zh-CN" altLang="en-US" sz="1800" dirty="0"/>
            <a:t>获得可靠数据集</a:t>
          </a:r>
        </a:p>
      </dgm:t>
    </dgm:pt>
    <dgm:pt modelId="{35F7A76C-07C6-4412-BEE5-F4D9ED149C72}" type="parTrans" cxnId="{F124F10E-B8F1-4DC9-B2F0-E1A4C28198B9}">
      <dgm:prSet/>
      <dgm:spPr/>
      <dgm:t>
        <a:bodyPr/>
        <a:lstStyle/>
        <a:p>
          <a:endParaRPr lang="zh-CN" altLang="en-US"/>
        </a:p>
      </dgm:t>
    </dgm:pt>
    <dgm:pt modelId="{209E4D17-0325-4352-B5E8-27720DD52DD6}" type="sibTrans" cxnId="{F124F10E-B8F1-4DC9-B2F0-E1A4C28198B9}">
      <dgm:prSet/>
      <dgm:spPr/>
      <dgm:t>
        <a:bodyPr/>
        <a:lstStyle/>
        <a:p>
          <a:endParaRPr lang="zh-CN" altLang="en-US"/>
        </a:p>
      </dgm:t>
    </dgm:pt>
    <dgm:pt modelId="{BF77F021-9050-48B9-A846-9C1C95CC8F48}" type="pres">
      <dgm:prSet presAssocID="{86596714-A524-445E-A53A-2751F6D43AAB}" presName="Name0" presStyleCnt="0">
        <dgm:presLayoutVars>
          <dgm:dir/>
          <dgm:resizeHandles val="exact"/>
        </dgm:presLayoutVars>
      </dgm:prSet>
      <dgm:spPr/>
    </dgm:pt>
    <dgm:pt modelId="{8292DCB5-28B0-48D8-BF55-4B7D3107FCD4}" type="pres">
      <dgm:prSet presAssocID="{E288B608-7EDA-436B-ADBF-31EB3109C096}" presName="node" presStyleLbl="node1" presStyleIdx="0" presStyleCnt="9">
        <dgm:presLayoutVars>
          <dgm:bulletEnabled val="1"/>
        </dgm:presLayoutVars>
      </dgm:prSet>
      <dgm:spPr/>
    </dgm:pt>
    <dgm:pt modelId="{5B3E5855-48CF-4C2D-BB26-6D86C4871DA1}" type="pres">
      <dgm:prSet presAssocID="{35831F13-5A46-45EC-AFFA-00F24489CC1A}" presName="sibTrans" presStyleLbl="sibTrans2D1" presStyleIdx="0" presStyleCnt="8"/>
      <dgm:spPr/>
    </dgm:pt>
    <dgm:pt modelId="{160C44B4-CB7F-41CA-BBD0-18BDA9089D99}" type="pres">
      <dgm:prSet presAssocID="{35831F13-5A46-45EC-AFFA-00F24489CC1A}" presName="connectorText" presStyleLbl="sibTrans2D1" presStyleIdx="0" presStyleCnt="8"/>
      <dgm:spPr/>
    </dgm:pt>
    <dgm:pt modelId="{B8C3F30E-393C-438D-B262-DB4AFA9E383F}" type="pres">
      <dgm:prSet presAssocID="{E3FC396D-2C88-4581-B573-FD9FE638311E}" presName="node" presStyleLbl="node1" presStyleIdx="1" presStyleCnt="9" custScaleX="149038">
        <dgm:presLayoutVars>
          <dgm:bulletEnabled val="1"/>
        </dgm:presLayoutVars>
      </dgm:prSet>
      <dgm:spPr/>
    </dgm:pt>
    <dgm:pt modelId="{4848705B-0006-443B-A6B6-41416395AE8C}" type="pres">
      <dgm:prSet presAssocID="{5AD6A399-6A81-4C0E-AF4A-B70DD86F2341}" presName="sibTrans" presStyleLbl="sibTrans2D1" presStyleIdx="1" presStyleCnt="8"/>
      <dgm:spPr/>
    </dgm:pt>
    <dgm:pt modelId="{89FD7243-F27F-4148-930D-DA49B6840253}" type="pres">
      <dgm:prSet presAssocID="{5AD6A399-6A81-4C0E-AF4A-B70DD86F2341}" presName="connectorText" presStyleLbl="sibTrans2D1" presStyleIdx="1" presStyleCnt="8"/>
      <dgm:spPr/>
    </dgm:pt>
    <dgm:pt modelId="{83A023DB-DAA6-43D6-8263-C85245603E82}" type="pres">
      <dgm:prSet presAssocID="{9C12A016-75D8-48B5-A1D6-E31386C1EC04}" presName="node" presStyleLbl="node1" presStyleIdx="2" presStyleCnt="9">
        <dgm:presLayoutVars>
          <dgm:bulletEnabled val="1"/>
        </dgm:presLayoutVars>
      </dgm:prSet>
      <dgm:spPr/>
    </dgm:pt>
    <dgm:pt modelId="{B3F11F47-026C-4E70-BC4A-88DD6B6B838A}" type="pres">
      <dgm:prSet presAssocID="{FBB51751-608C-4227-8496-258B2B8F6368}" presName="sibTrans" presStyleLbl="sibTrans2D1" presStyleIdx="2" presStyleCnt="8"/>
      <dgm:spPr/>
    </dgm:pt>
    <dgm:pt modelId="{B4737471-8BF5-4A0A-8A9B-BD590E03880D}" type="pres">
      <dgm:prSet presAssocID="{FBB51751-608C-4227-8496-258B2B8F6368}" presName="connectorText" presStyleLbl="sibTrans2D1" presStyleIdx="2" presStyleCnt="8"/>
      <dgm:spPr/>
    </dgm:pt>
    <dgm:pt modelId="{9300DAAC-5297-48FE-8326-35E7D4C14DBF}" type="pres">
      <dgm:prSet presAssocID="{09BA6510-70A4-4C56-BCBC-3C2D148DAF5E}" presName="node" presStyleLbl="node1" presStyleIdx="3" presStyleCnt="9">
        <dgm:presLayoutVars>
          <dgm:bulletEnabled val="1"/>
        </dgm:presLayoutVars>
      </dgm:prSet>
      <dgm:spPr/>
    </dgm:pt>
    <dgm:pt modelId="{D659796E-3EB8-47F8-B8B6-6C29765BBF9B}" type="pres">
      <dgm:prSet presAssocID="{4CEB2644-1E17-43F3-8FA3-4158327EE22B}" presName="sibTrans" presStyleLbl="sibTrans2D1" presStyleIdx="3" presStyleCnt="8"/>
      <dgm:spPr/>
    </dgm:pt>
    <dgm:pt modelId="{747FEA57-E052-44A8-81F4-AFA6A8122A59}" type="pres">
      <dgm:prSet presAssocID="{4CEB2644-1E17-43F3-8FA3-4158327EE22B}" presName="connectorText" presStyleLbl="sibTrans2D1" presStyleIdx="3" presStyleCnt="8"/>
      <dgm:spPr/>
    </dgm:pt>
    <dgm:pt modelId="{CC2E8AE2-BE06-4372-A739-5911CC0F4559}" type="pres">
      <dgm:prSet presAssocID="{6ED7587B-BECC-485D-957A-42BFE85CB552}" presName="node" presStyleLbl="node1" presStyleIdx="4" presStyleCnt="9">
        <dgm:presLayoutVars>
          <dgm:bulletEnabled val="1"/>
        </dgm:presLayoutVars>
      </dgm:prSet>
      <dgm:spPr/>
    </dgm:pt>
    <dgm:pt modelId="{71EFB992-659B-466C-9850-B26573E2A29C}" type="pres">
      <dgm:prSet presAssocID="{0E2C9621-30BB-46DA-A9C1-FF478F8E8649}" presName="sibTrans" presStyleLbl="sibTrans2D1" presStyleIdx="4" presStyleCnt="8"/>
      <dgm:spPr/>
    </dgm:pt>
    <dgm:pt modelId="{CF02F368-3419-4D32-A01A-919043113349}" type="pres">
      <dgm:prSet presAssocID="{0E2C9621-30BB-46DA-A9C1-FF478F8E8649}" presName="connectorText" presStyleLbl="sibTrans2D1" presStyleIdx="4" presStyleCnt="8"/>
      <dgm:spPr/>
    </dgm:pt>
    <dgm:pt modelId="{A2914C89-603B-4F8C-A6A7-C8E78C4CD1F5}" type="pres">
      <dgm:prSet presAssocID="{45C01650-22FB-4338-9084-BF39263E48E8}" presName="node" presStyleLbl="node1" presStyleIdx="5" presStyleCnt="9">
        <dgm:presLayoutVars>
          <dgm:bulletEnabled val="1"/>
        </dgm:presLayoutVars>
      </dgm:prSet>
      <dgm:spPr/>
    </dgm:pt>
    <dgm:pt modelId="{55BE866F-7F6C-4141-BE07-B5F12E7D9920}" type="pres">
      <dgm:prSet presAssocID="{9B521EAD-EF04-4314-9324-21A8DF5EC1FA}" presName="sibTrans" presStyleLbl="sibTrans2D1" presStyleIdx="5" presStyleCnt="8"/>
      <dgm:spPr/>
    </dgm:pt>
    <dgm:pt modelId="{B84CEAA4-6CBE-44A2-8DBE-8657B9632280}" type="pres">
      <dgm:prSet presAssocID="{9B521EAD-EF04-4314-9324-21A8DF5EC1FA}" presName="connectorText" presStyleLbl="sibTrans2D1" presStyleIdx="5" presStyleCnt="8"/>
      <dgm:spPr/>
    </dgm:pt>
    <dgm:pt modelId="{50F07D39-442C-4DB7-9D63-A24147A956B4}" type="pres">
      <dgm:prSet presAssocID="{08768172-C7C8-48F0-BE0E-486BCDAF2497}" presName="node" presStyleLbl="node1" presStyleIdx="6" presStyleCnt="9" custScaleX="139324">
        <dgm:presLayoutVars>
          <dgm:bulletEnabled val="1"/>
        </dgm:presLayoutVars>
      </dgm:prSet>
      <dgm:spPr/>
    </dgm:pt>
    <dgm:pt modelId="{9EFC45E3-23AC-4E51-B3A8-4C78FA66C7D4}" type="pres">
      <dgm:prSet presAssocID="{DE842F2A-9639-4038-B42A-BCAF77579134}" presName="sibTrans" presStyleLbl="sibTrans2D1" presStyleIdx="6" presStyleCnt="8"/>
      <dgm:spPr/>
    </dgm:pt>
    <dgm:pt modelId="{8F4322EF-45D6-4063-A958-6E3204801450}" type="pres">
      <dgm:prSet presAssocID="{DE842F2A-9639-4038-B42A-BCAF77579134}" presName="connectorText" presStyleLbl="sibTrans2D1" presStyleIdx="6" presStyleCnt="8"/>
      <dgm:spPr/>
    </dgm:pt>
    <dgm:pt modelId="{30CD3B3C-75CE-42A9-BF7B-D94016CC8540}" type="pres">
      <dgm:prSet presAssocID="{2F81751D-B4C9-4726-AD5D-25E733A65098}" presName="node" presStyleLbl="node1" presStyleIdx="7" presStyleCnt="9">
        <dgm:presLayoutVars>
          <dgm:bulletEnabled val="1"/>
        </dgm:presLayoutVars>
      </dgm:prSet>
      <dgm:spPr/>
    </dgm:pt>
    <dgm:pt modelId="{7BE9ABC0-6ADA-4A04-926F-1522508A8E75}" type="pres">
      <dgm:prSet presAssocID="{BE188689-B7F6-4160-A17B-325E4963D718}" presName="sibTrans" presStyleLbl="sibTrans2D1" presStyleIdx="7" presStyleCnt="8"/>
      <dgm:spPr/>
    </dgm:pt>
    <dgm:pt modelId="{8E2FAAFF-F255-49E3-8A81-7166AE2A0A57}" type="pres">
      <dgm:prSet presAssocID="{BE188689-B7F6-4160-A17B-325E4963D718}" presName="connectorText" presStyleLbl="sibTrans2D1" presStyleIdx="7" presStyleCnt="8"/>
      <dgm:spPr/>
    </dgm:pt>
    <dgm:pt modelId="{84C4DE89-12D1-4AFF-BF99-54318E6F9AAD}" type="pres">
      <dgm:prSet presAssocID="{14BC6A37-2681-4DE5-BFD3-7F51FB948E2D}" presName="node" presStyleLbl="node1" presStyleIdx="8" presStyleCnt="9">
        <dgm:presLayoutVars>
          <dgm:bulletEnabled val="1"/>
        </dgm:presLayoutVars>
      </dgm:prSet>
      <dgm:spPr/>
    </dgm:pt>
  </dgm:ptLst>
  <dgm:cxnLst>
    <dgm:cxn modelId="{EB96D40D-E9EB-4354-83BD-3AB14CA1D555}" type="presOf" srcId="{5AD6A399-6A81-4C0E-AF4A-B70DD86F2341}" destId="{89FD7243-F27F-4148-930D-DA49B6840253}" srcOrd="1" destOrd="0" presId="urn:microsoft.com/office/officeart/2005/8/layout/process1"/>
    <dgm:cxn modelId="{84874D0E-71E2-40C0-ADAB-F6567DE5FCAF}" type="presOf" srcId="{4CEB2644-1E17-43F3-8FA3-4158327EE22B}" destId="{D659796E-3EB8-47F8-B8B6-6C29765BBF9B}" srcOrd="0" destOrd="0" presId="urn:microsoft.com/office/officeart/2005/8/layout/process1"/>
    <dgm:cxn modelId="{F124F10E-B8F1-4DC9-B2F0-E1A4C28198B9}" srcId="{86596714-A524-445E-A53A-2751F6D43AAB}" destId="{14BC6A37-2681-4DE5-BFD3-7F51FB948E2D}" srcOrd="8" destOrd="0" parTransId="{35F7A76C-07C6-4412-BEE5-F4D9ED149C72}" sibTransId="{209E4D17-0325-4352-B5E8-27720DD52DD6}"/>
    <dgm:cxn modelId="{B64D6F20-8096-4F9D-9716-AC39160827D9}" type="presOf" srcId="{6ED7587B-BECC-485D-957A-42BFE85CB552}" destId="{CC2E8AE2-BE06-4372-A739-5911CC0F4559}" srcOrd="0" destOrd="0" presId="urn:microsoft.com/office/officeart/2005/8/layout/process1"/>
    <dgm:cxn modelId="{A11FB221-796E-4968-84B7-BCDAC76C6AA5}" type="presOf" srcId="{E288B608-7EDA-436B-ADBF-31EB3109C096}" destId="{8292DCB5-28B0-48D8-BF55-4B7D3107FCD4}" srcOrd="0" destOrd="0" presId="urn:microsoft.com/office/officeart/2005/8/layout/process1"/>
    <dgm:cxn modelId="{7EE9BA26-D285-4ABC-AFEA-0F20D4D9C569}" type="presOf" srcId="{9B521EAD-EF04-4314-9324-21A8DF5EC1FA}" destId="{B84CEAA4-6CBE-44A2-8DBE-8657B9632280}" srcOrd="1" destOrd="0" presId="urn:microsoft.com/office/officeart/2005/8/layout/process1"/>
    <dgm:cxn modelId="{1066643B-0DAF-4279-AA97-C13D7C4A0B02}" type="presOf" srcId="{FBB51751-608C-4227-8496-258B2B8F6368}" destId="{B3F11F47-026C-4E70-BC4A-88DD6B6B838A}" srcOrd="0" destOrd="0" presId="urn:microsoft.com/office/officeart/2005/8/layout/process1"/>
    <dgm:cxn modelId="{513DD83D-D0F4-4F40-A43C-F5B7A527AC77}" type="presOf" srcId="{35831F13-5A46-45EC-AFFA-00F24489CC1A}" destId="{5B3E5855-48CF-4C2D-BB26-6D86C4871DA1}" srcOrd="0" destOrd="0" presId="urn:microsoft.com/office/officeart/2005/8/layout/process1"/>
    <dgm:cxn modelId="{0B01FC3E-2059-4BC4-9519-F961C6D89FAE}" type="presOf" srcId="{9C12A016-75D8-48B5-A1D6-E31386C1EC04}" destId="{83A023DB-DAA6-43D6-8263-C85245603E82}" srcOrd="0" destOrd="0" presId="urn:microsoft.com/office/officeart/2005/8/layout/process1"/>
    <dgm:cxn modelId="{AD426C5B-A5F2-4107-B4C4-C2CEC62BD58F}" type="presOf" srcId="{2F81751D-B4C9-4726-AD5D-25E733A65098}" destId="{30CD3B3C-75CE-42A9-BF7B-D94016CC8540}" srcOrd="0" destOrd="0" presId="urn:microsoft.com/office/officeart/2005/8/layout/process1"/>
    <dgm:cxn modelId="{BF89315E-9148-4697-A3D5-6241F687B0D9}" srcId="{86596714-A524-445E-A53A-2751F6D43AAB}" destId="{08768172-C7C8-48F0-BE0E-486BCDAF2497}" srcOrd="6" destOrd="0" parTransId="{F43C94D3-4727-4994-8A22-6E5ABB1BE6B1}" sibTransId="{DE842F2A-9639-4038-B42A-BCAF77579134}"/>
    <dgm:cxn modelId="{23CF8261-23FE-4432-9733-806988EF813F}" type="presOf" srcId="{DE842F2A-9639-4038-B42A-BCAF77579134}" destId="{9EFC45E3-23AC-4E51-B3A8-4C78FA66C7D4}" srcOrd="0" destOrd="0" presId="urn:microsoft.com/office/officeart/2005/8/layout/process1"/>
    <dgm:cxn modelId="{E4349963-9FDF-4C8B-8C7C-CF38E99CD697}" type="presOf" srcId="{0E2C9621-30BB-46DA-A9C1-FF478F8E8649}" destId="{71EFB992-659B-466C-9850-B26573E2A29C}" srcOrd="0" destOrd="0" presId="urn:microsoft.com/office/officeart/2005/8/layout/process1"/>
    <dgm:cxn modelId="{E6340C64-215B-409B-A1C8-7B995327D65A}" type="presOf" srcId="{08768172-C7C8-48F0-BE0E-486BCDAF2497}" destId="{50F07D39-442C-4DB7-9D63-A24147A956B4}" srcOrd="0" destOrd="0" presId="urn:microsoft.com/office/officeart/2005/8/layout/process1"/>
    <dgm:cxn modelId="{3E3DC165-CDF2-4DFE-801F-99246547EB53}" type="presOf" srcId="{14BC6A37-2681-4DE5-BFD3-7F51FB948E2D}" destId="{84C4DE89-12D1-4AFF-BF99-54318E6F9AAD}" srcOrd="0" destOrd="0" presId="urn:microsoft.com/office/officeart/2005/8/layout/process1"/>
    <dgm:cxn modelId="{E8595E46-AD89-405A-BEF0-3CE378D541C9}" type="presOf" srcId="{DE842F2A-9639-4038-B42A-BCAF77579134}" destId="{8F4322EF-45D6-4063-A958-6E3204801450}" srcOrd="1" destOrd="0" presId="urn:microsoft.com/office/officeart/2005/8/layout/process1"/>
    <dgm:cxn modelId="{8A30EE46-731C-4CB6-982E-9C291A3BF119}" srcId="{86596714-A524-445E-A53A-2751F6D43AAB}" destId="{E288B608-7EDA-436B-ADBF-31EB3109C096}" srcOrd="0" destOrd="0" parTransId="{CE8369A7-18D7-4352-B99C-2E5325EA5AD3}" sibTransId="{35831F13-5A46-45EC-AFFA-00F24489CC1A}"/>
    <dgm:cxn modelId="{6B15266E-BCA8-4876-AFAA-A60F2CBF7B7C}" type="presOf" srcId="{E3FC396D-2C88-4581-B573-FD9FE638311E}" destId="{B8C3F30E-393C-438D-B262-DB4AFA9E383F}" srcOrd="0" destOrd="0" presId="urn:microsoft.com/office/officeart/2005/8/layout/process1"/>
    <dgm:cxn modelId="{41782E73-89FB-4C98-A9D7-1666A4CE0E84}" type="presOf" srcId="{09BA6510-70A4-4C56-BCBC-3C2D148DAF5E}" destId="{9300DAAC-5297-48FE-8326-35E7D4C14DBF}" srcOrd="0" destOrd="0" presId="urn:microsoft.com/office/officeart/2005/8/layout/process1"/>
    <dgm:cxn modelId="{4FD04C56-2F7F-4A64-8796-2CAEF4DFAE0F}" type="presOf" srcId="{5AD6A399-6A81-4C0E-AF4A-B70DD86F2341}" destId="{4848705B-0006-443B-A6B6-41416395AE8C}" srcOrd="0" destOrd="0" presId="urn:microsoft.com/office/officeart/2005/8/layout/process1"/>
    <dgm:cxn modelId="{CA22B3B1-2A37-4A74-83DF-DE99A81D20DA}" srcId="{86596714-A524-445E-A53A-2751F6D43AAB}" destId="{9C12A016-75D8-48B5-A1D6-E31386C1EC04}" srcOrd="2" destOrd="0" parTransId="{425A553A-D487-473D-937E-145B1F6BF5ED}" sibTransId="{FBB51751-608C-4227-8496-258B2B8F6368}"/>
    <dgm:cxn modelId="{A2A544B3-44FB-48FB-B961-C1218F54ACE1}" type="presOf" srcId="{4CEB2644-1E17-43F3-8FA3-4158327EE22B}" destId="{747FEA57-E052-44A8-81F4-AFA6A8122A59}" srcOrd="1" destOrd="0" presId="urn:microsoft.com/office/officeart/2005/8/layout/process1"/>
    <dgm:cxn modelId="{1DA936BA-CCBE-46B2-BCE5-B429366CC1AF}" type="presOf" srcId="{BE188689-B7F6-4160-A17B-325E4963D718}" destId="{7BE9ABC0-6ADA-4A04-926F-1522508A8E75}" srcOrd="0" destOrd="0" presId="urn:microsoft.com/office/officeart/2005/8/layout/process1"/>
    <dgm:cxn modelId="{08C080BB-C9E1-40E1-9D4B-78E8D65654B4}" type="presOf" srcId="{BE188689-B7F6-4160-A17B-325E4963D718}" destId="{8E2FAAFF-F255-49E3-8A81-7166AE2A0A57}" srcOrd="1" destOrd="0" presId="urn:microsoft.com/office/officeart/2005/8/layout/process1"/>
    <dgm:cxn modelId="{863D7ABD-0AEF-4F34-BE0C-88A741BFC2AF}" srcId="{86596714-A524-445E-A53A-2751F6D43AAB}" destId="{E3FC396D-2C88-4581-B573-FD9FE638311E}" srcOrd="1" destOrd="0" parTransId="{6BDA1E62-F16D-4BCC-9BB9-28806DD78FFD}" sibTransId="{5AD6A399-6A81-4C0E-AF4A-B70DD86F2341}"/>
    <dgm:cxn modelId="{0B9642CE-4100-4C9F-822F-F2346BAA13B3}" type="presOf" srcId="{45C01650-22FB-4338-9084-BF39263E48E8}" destId="{A2914C89-603B-4F8C-A6A7-C8E78C4CD1F5}" srcOrd="0" destOrd="0" presId="urn:microsoft.com/office/officeart/2005/8/layout/process1"/>
    <dgm:cxn modelId="{62B47EE0-C5DD-4195-8EDD-7F72F2BDB452}" type="presOf" srcId="{FBB51751-608C-4227-8496-258B2B8F6368}" destId="{B4737471-8BF5-4A0A-8A9B-BD590E03880D}" srcOrd="1" destOrd="0" presId="urn:microsoft.com/office/officeart/2005/8/layout/process1"/>
    <dgm:cxn modelId="{99490AE1-09E2-45FE-992D-0A76C1F04F8C}" type="presOf" srcId="{86596714-A524-445E-A53A-2751F6D43AAB}" destId="{BF77F021-9050-48B9-A846-9C1C95CC8F48}" srcOrd="0" destOrd="0" presId="urn:microsoft.com/office/officeart/2005/8/layout/process1"/>
    <dgm:cxn modelId="{30301AE1-DB54-4CCE-9A75-AF093ABFB1FE}" type="presOf" srcId="{35831F13-5A46-45EC-AFFA-00F24489CC1A}" destId="{160C44B4-CB7F-41CA-BBD0-18BDA9089D99}" srcOrd="1" destOrd="0" presId="urn:microsoft.com/office/officeart/2005/8/layout/process1"/>
    <dgm:cxn modelId="{92329AE4-41C5-49C0-BE87-22BC61493697}" srcId="{86596714-A524-445E-A53A-2751F6D43AAB}" destId="{2F81751D-B4C9-4726-AD5D-25E733A65098}" srcOrd="7" destOrd="0" parTransId="{0119276A-398D-4447-BD13-A0CCD397128C}" sibTransId="{BE188689-B7F6-4160-A17B-325E4963D718}"/>
    <dgm:cxn modelId="{63354DE7-FFDE-46E2-81F2-1D13BA590F14}" type="presOf" srcId="{9B521EAD-EF04-4314-9324-21A8DF5EC1FA}" destId="{55BE866F-7F6C-4141-BE07-B5F12E7D9920}" srcOrd="0" destOrd="0" presId="urn:microsoft.com/office/officeart/2005/8/layout/process1"/>
    <dgm:cxn modelId="{C797FDE8-AE56-4480-AC08-4CDB49C63A61}" type="presOf" srcId="{0E2C9621-30BB-46DA-A9C1-FF478F8E8649}" destId="{CF02F368-3419-4D32-A01A-919043113349}" srcOrd="1" destOrd="0" presId="urn:microsoft.com/office/officeart/2005/8/layout/process1"/>
    <dgm:cxn modelId="{1497AFF0-8ED8-4506-96A5-E768122F43B8}" srcId="{86596714-A524-445E-A53A-2751F6D43AAB}" destId="{45C01650-22FB-4338-9084-BF39263E48E8}" srcOrd="5" destOrd="0" parTransId="{685399D5-3C4E-4F1A-9E4F-26C65D948663}" sibTransId="{9B521EAD-EF04-4314-9324-21A8DF5EC1FA}"/>
    <dgm:cxn modelId="{922CE2F7-CB98-456C-A4BE-7CAE2168E27B}" srcId="{86596714-A524-445E-A53A-2751F6D43AAB}" destId="{6ED7587B-BECC-485D-957A-42BFE85CB552}" srcOrd="4" destOrd="0" parTransId="{FA785A3F-FEE2-4D42-A5A9-357552209B59}" sibTransId="{0E2C9621-30BB-46DA-A9C1-FF478F8E8649}"/>
    <dgm:cxn modelId="{53D1D4FB-4428-424D-BC49-4DBB77485A8B}" srcId="{86596714-A524-445E-A53A-2751F6D43AAB}" destId="{09BA6510-70A4-4C56-BCBC-3C2D148DAF5E}" srcOrd="3" destOrd="0" parTransId="{DA18DB03-A1B0-402C-8CE0-2CDEFFCFCC96}" sibTransId="{4CEB2644-1E17-43F3-8FA3-4158327EE22B}"/>
    <dgm:cxn modelId="{A346A395-D0E6-4C21-86B0-78F50FD4AA06}" type="presParOf" srcId="{BF77F021-9050-48B9-A846-9C1C95CC8F48}" destId="{8292DCB5-28B0-48D8-BF55-4B7D3107FCD4}" srcOrd="0" destOrd="0" presId="urn:microsoft.com/office/officeart/2005/8/layout/process1"/>
    <dgm:cxn modelId="{87B91C93-44AD-40F6-8897-DD085A596C39}" type="presParOf" srcId="{BF77F021-9050-48B9-A846-9C1C95CC8F48}" destId="{5B3E5855-48CF-4C2D-BB26-6D86C4871DA1}" srcOrd="1" destOrd="0" presId="urn:microsoft.com/office/officeart/2005/8/layout/process1"/>
    <dgm:cxn modelId="{08147DCE-56CF-4234-AB28-DFF27FBCBEDC}" type="presParOf" srcId="{5B3E5855-48CF-4C2D-BB26-6D86C4871DA1}" destId="{160C44B4-CB7F-41CA-BBD0-18BDA9089D99}" srcOrd="0" destOrd="0" presId="urn:microsoft.com/office/officeart/2005/8/layout/process1"/>
    <dgm:cxn modelId="{A8E76AF4-7F57-4592-95F8-8AE4F805ACFA}" type="presParOf" srcId="{BF77F021-9050-48B9-A846-9C1C95CC8F48}" destId="{B8C3F30E-393C-438D-B262-DB4AFA9E383F}" srcOrd="2" destOrd="0" presId="urn:microsoft.com/office/officeart/2005/8/layout/process1"/>
    <dgm:cxn modelId="{6A5D73F7-5F0C-430A-8D24-56489072F9AD}" type="presParOf" srcId="{BF77F021-9050-48B9-A846-9C1C95CC8F48}" destId="{4848705B-0006-443B-A6B6-41416395AE8C}" srcOrd="3" destOrd="0" presId="urn:microsoft.com/office/officeart/2005/8/layout/process1"/>
    <dgm:cxn modelId="{72246B18-06A3-46BD-AE08-68C99A26F30B}" type="presParOf" srcId="{4848705B-0006-443B-A6B6-41416395AE8C}" destId="{89FD7243-F27F-4148-930D-DA49B6840253}" srcOrd="0" destOrd="0" presId="urn:microsoft.com/office/officeart/2005/8/layout/process1"/>
    <dgm:cxn modelId="{919BF4C5-A0CC-4ADB-9A70-F58D7E71A706}" type="presParOf" srcId="{BF77F021-9050-48B9-A846-9C1C95CC8F48}" destId="{83A023DB-DAA6-43D6-8263-C85245603E82}" srcOrd="4" destOrd="0" presId="urn:microsoft.com/office/officeart/2005/8/layout/process1"/>
    <dgm:cxn modelId="{8891C9B7-16AE-415F-83DC-400CAE2CE08F}" type="presParOf" srcId="{BF77F021-9050-48B9-A846-9C1C95CC8F48}" destId="{B3F11F47-026C-4E70-BC4A-88DD6B6B838A}" srcOrd="5" destOrd="0" presId="urn:microsoft.com/office/officeart/2005/8/layout/process1"/>
    <dgm:cxn modelId="{822EFE7A-A8CC-4C84-BB0E-8414ECA0B7BE}" type="presParOf" srcId="{B3F11F47-026C-4E70-BC4A-88DD6B6B838A}" destId="{B4737471-8BF5-4A0A-8A9B-BD590E03880D}" srcOrd="0" destOrd="0" presId="urn:microsoft.com/office/officeart/2005/8/layout/process1"/>
    <dgm:cxn modelId="{1C446ABE-2254-46CC-889E-0B485C705165}" type="presParOf" srcId="{BF77F021-9050-48B9-A846-9C1C95CC8F48}" destId="{9300DAAC-5297-48FE-8326-35E7D4C14DBF}" srcOrd="6" destOrd="0" presId="urn:microsoft.com/office/officeart/2005/8/layout/process1"/>
    <dgm:cxn modelId="{F4C8DACB-E3FA-4233-82FB-B8E949C2333B}" type="presParOf" srcId="{BF77F021-9050-48B9-A846-9C1C95CC8F48}" destId="{D659796E-3EB8-47F8-B8B6-6C29765BBF9B}" srcOrd="7" destOrd="0" presId="urn:microsoft.com/office/officeart/2005/8/layout/process1"/>
    <dgm:cxn modelId="{36B3425A-C9D3-4478-A2F2-3D1C60106467}" type="presParOf" srcId="{D659796E-3EB8-47F8-B8B6-6C29765BBF9B}" destId="{747FEA57-E052-44A8-81F4-AFA6A8122A59}" srcOrd="0" destOrd="0" presId="urn:microsoft.com/office/officeart/2005/8/layout/process1"/>
    <dgm:cxn modelId="{FD3179C3-20B8-47E2-BBF9-51A3E66631CE}" type="presParOf" srcId="{BF77F021-9050-48B9-A846-9C1C95CC8F48}" destId="{CC2E8AE2-BE06-4372-A739-5911CC0F4559}" srcOrd="8" destOrd="0" presId="urn:microsoft.com/office/officeart/2005/8/layout/process1"/>
    <dgm:cxn modelId="{1BB398E9-A14B-4E70-9807-A2FC0D2BB89C}" type="presParOf" srcId="{BF77F021-9050-48B9-A846-9C1C95CC8F48}" destId="{71EFB992-659B-466C-9850-B26573E2A29C}" srcOrd="9" destOrd="0" presId="urn:microsoft.com/office/officeart/2005/8/layout/process1"/>
    <dgm:cxn modelId="{ABBEA4EE-E410-46B4-9A83-273CD439B345}" type="presParOf" srcId="{71EFB992-659B-466C-9850-B26573E2A29C}" destId="{CF02F368-3419-4D32-A01A-919043113349}" srcOrd="0" destOrd="0" presId="urn:microsoft.com/office/officeart/2005/8/layout/process1"/>
    <dgm:cxn modelId="{6502EC62-3BC7-495B-8092-03FA60E50749}" type="presParOf" srcId="{BF77F021-9050-48B9-A846-9C1C95CC8F48}" destId="{A2914C89-603B-4F8C-A6A7-C8E78C4CD1F5}" srcOrd="10" destOrd="0" presId="urn:microsoft.com/office/officeart/2005/8/layout/process1"/>
    <dgm:cxn modelId="{97655B89-C648-4BEE-AB42-AAAB7DE89157}" type="presParOf" srcId="{BF77F021-9050-48B9-A846-9C1C95CC8F48}" destId="{55BE866F-7F6C-4141-BE07-B5F12E7D9920}" srcOrd="11" destOrd="0" presId="urn:microsoft.com/office/officeart/2005/8/layout/process1"/>
    <dgm:cxn modelId="{6A77A935-4AD3-44B9-83CF-D23CF5BE6A0E}" type="presParOf" srcId="{55BE866F-7F6C-4141-BE07-B5F12E7D9920}" destId="{B84CEAA4-6CBE-44A2-8DBE-8657B9632280}" srcOrd="0" destOrd="0" presId="urn:microsoft.com/office/officeart/2005/8/layout/process1"/>
    <dgm:cxn modelId="{F901A06B-E29A-47BC-B0D6-2A49633469C3}" type="presParOf" srcId="{BF77F021-9050-48B9-A846-9C1C95CC8F48}" destId="{50F07D39-442C-4DB7-9D63-A24147A956B4}" srcOrd="12" destOrd="0" presId="urn:microsoft.com/office/officeart/2005/8/layout/process1"/>
    <dgm:cxn modelId="{82C723A6-61C9-4100-B922-2501A4D568D0}" type="presParOf" srcId="{BF77F021-9050-48B9-A846-9C1C95CC8F48}" destId="{9EFC45E3-23AC-4E51-B3A8-4C78FA66C7D4}" srcOrd="13" destOrd="0" presId="urn:microsoft.com/office/officeart/2005/8/layout/process1"/>
    <dgm:cxn modelId="{78CEEF4E-094B-4060-817D-1144A9551377}" type="presParOf" srcId="{9EFC45E3-23AC-4E51-B3A8-4C78FA66C7D4}" destId="{8F4322EF-45D6-4063-A958-6E3204801450}" srcOrd="0" destOrd="0" presId="urn:microsoft.com/office/officeart/2005/8/layout/process1"/>
    <dgm:cxn modelId="{39FA8F9A-5F6E-4114-BF58-43517A5AFA78}" type="presParOf" srcId="{BF77F021-9050-48B9-A846-9C1C95CC8F48}" destId="{30CD3B3C-75CE-42A9-BF7B-D94016CC8540}" srcOrd="14" destOrd="0" presId="urn:microsoft.com/office/officeart/2005/8/layout/process1"/>
    <dgm:cxn modelId="{6AB50BB9-4C7E-4101-84A4-C31AC8A2A69B}" type="presParOf" srcId="{BF77F021-9050-48B9-A846-9C1C95CC8F48}" destId="{7BE9ABC0-6ADA-4A04-926F-1522508A8E75}" srcOrd="15" destOrd="0" presId="urn:microsoft.com/office/officeart/2005/8/layout/process1"/>
    <dgm:cxn modelId="{D8D6F84F-7D95-41E0-BFBF-7311E30D0047}" type="presParOf" srcId="{7BE9ABC0-6ADA-4A04-926F-1522508A8E75}" destId="{8E2FAAFF-F255-49E3-8A81-7166AE2A0A57}" srcOrd="0" destOrd="0" presId="urn:microsoft.com/office/officeart/2005/8/layout/process1"/>
    <dgm:cxn modelId="{F01E23A0-A7E2-46F7-A8BE-C1D0E5BE5BCC}" type="presParOf" srcId="{BF77F021-9050-48B9-A846-9C1C95CC8F48}" destId="{84C4DE89-12D1-4AFF-BF99-54318E6F9AAD}" srcOrd="1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22C890B-AF56-4B66-9530-3071DCDB14A2}" type="doc">
      <dgm:prSet loTypeId="urn:microsoft.com/office/officeart/2005/8/layout/process1" loCatId="process" qsTypeId="urn:microsoft.com/office/officeart/2005/8/quickstyle/simple1" qsCatId="simple" csTypeId="urn:microsoft.com/office/officeart/2005/8/colors/accent2_3" csCatId="accent2" phldr="1"/>
      <dgm:spPr/>
    </dgm:pt>
    <dgm:pt modelId="{583546FA-7314-46FB-875B-B783F973BB65}">
      <dgm:prSet phldrT="[文本]" custT="1"/>
      <dgm:spPr/>
      <dgm:t>
        <a:bodyPr/>
        <a:lstStyle/>
        <a:p>
          <a:r>
            <a:rPr lang="en-US" altLang="zh-CN" sz="1800" dirty="0"/>
            <a:t>UMAP</a:t>
          </a:r>
          <a:r>
            <a:rPr lang="zh-CN" altLang="en-US" sz="1800" dirty="0"/>
            <a:t>降维</a:t>
          </a:r>
        </a:p>
      </dgm:t>
    </dgm:pt>
    <dgm:pt modelId="{53977859-409A-4FD5-BDAB-626D11BFAFFB}" type="parTrans" cxnId="{4EA053D1-7FD6-440A-AC0B-EE67D599994E}">
      <dgm:prSet/>
      <dgm:spPr/>
      <dgm:t>
        <a:bodyPr/>
        <a:lstStyle/>
        <a:p>
          <a:endParaRPr lang="zh-CN" altLang="en-US" sz="1800"/>
        </a:p>
      </dgm:t>
    </dgm:pt>
    <dgm:pt modelId="{6BBEB09C-5AD7-4F53-B1BF-1C41E55BAD81}" type="sibTrans" cxnId="{4EA053D1-7FD6-440A-AC0B-EE67D599994E}">
      <dgm:prSet custT="1"/>
      <dgm:spPr/>
      <dgm:t>
        <a:bodyPr/>
        <a:lstStyle/>
        <a:p>
          <a:endParaRPr lang="zh-CN" altLang="en-US" sz="1800"/>
        </a:p>
      </dgm:t>
    </dgm:pt>
    <dgm:pt modelId="{848C9BC6-E029-453A-9B15-F7417403BB94}">
      <dgm:prSet phldrT="[文本]" custT="1"/>
      <dgm:spPr/>
      <dgm:t>
        <a:bodyPr/>
        <a:lstStyle/>
        <a:p>
          <a:r>
            <a:rPr lang="en-US" altLang="zh-CN" sz="1800" dirty="0"/>
            <a:t>ForceAtlas2</a:t>
          </a:r>
          <a:r>
            <a:rPr lang="zh-CN" altLang="en-US" sz="1800" dirty="0"/>
            <a:t>降维</a:t>
          </a:r>
        </a:p>
      </dgm:t>
    </dgm:pt>
    <dgm:pt modelId="{1DCAF7D3-7B36-41BF-BE80-076B7800CDB7}" type="parTrans" cxnId="{87EBFBA5-BA50-4436-9296-9851DB455227}">
      <dgm:prSet/>
      <dgm:spPr/>
      <dgm:t>
        <a:bodyPr/>
        <a:lstStyle/>
        <a:p>
          <a:endParaRPr lang="zh-CN" altLang="en-US" sz="1800"/>
        </a:p>
      </dgm:t>
    </dgm:pt>
    <dgm:pt modelId="{43E7ED24-0084-40D7-8A40-0D649685F386}" type="sibTrans" cxnId="{87EBFBA5-BA50-4436-9296-9851DB455227}">
      <dgm:prSet custT="1"/>
      <dgm:spPr/>
      <dgm:t>
        <a:bodyPr/>
        <a:lstStyle/>
        <a:p>
          <a:endParaRPr lang="zh-CN" altLang="en-US" sz="1800"/>
        </a:p>
      </dgm:t>
    </dgm:pt>
    <dgm:pt modelId="{BE84213A-104C-44F5-890B-E0365AAF98C1}">
      <dgm:prSet phldrT="[文本]" custT="1"/>
      <dgm:spPr/>
      <dgm:t>
        <a:bodyPr/>
        <a:lstStyle/>
        <a:p>
          <a:r>
            <a:rPr lang="en-US" altLang="zh-CN" sz="1800" dirty="0"/>
            <a:t>DPT</a:t>
          </a:r>
          <a:r>
            <a:rPr lang="zh-CN" altLang="en-US" sz="1800" dirty="0"/>
            <a:t>绘制拟时间轴</a:t>
          </a:r>
        </a:p>
      </dgm:t>
    </dgm:pt>
    <dgm:pt modelId="{22D65122-DF43-4007-A364-C6ED09CF1F76}" type="parTrans" cxnId="{B0670702-1EAC-4E60-B98C-4CF2592CD0F2}">
      <dgm:prSet/>
      <dgm:spPr/>
      <dgm:t>
        <a:bodyPr/>
        <a:lstStyle/>
        <a:p>
          <a:endParaRPr lang="zh-CN" altLang="en-US" sz="1800"/>
        </a:p>
      </dgm:t>
    </dgm:pt>
    <dgm:pt modelId="{A531BE62-C04D-47C2-9403-E9D36573533C}" type="sibTrans" cxnId="{B0670702-1EAC-4E60-B98C-4CF2592CD0F2}">
      <dgm:prSet custT="1"/>
      <dgm:spPr/>
      <dgm:t>
        <a:bodyPr/>
        <a:lstStyle/>
        <a:p>
          <a:endParaRPr lang="zh-CN" altLang="en-US" sz="1800"/>
        </a:p>
      </dgm:t>
    </dgm:pt>
    <dgm:pt modelId="{2800A486-E629-4F54-8E9E-221CFF674882}">
      <dgm:prSet phldrT="[文本]" custT="1"/>
      <dgm:spPr/>
      <dgm:t>
        <a:bodyPr/>
        <a:lstStyle/>
        <a:p>
          <a:r>
            <a:rPr lang="zh-CN" altLang="en-US" sz="1800" dirty="0"/>
            <a:t>明确发育路径</a:t>
          </a:r>
        </a:p>
      </dgm:t>
    </dgm:pt>
    <dgm:pt modelId="{534EAC73-3962-460D-93F9-9A52F12E47B7}" type="parTrans" cxnId="{0639BA8C-BE15-4139-9F43-BAAAE8E4B3A6}">
      <dgm:prSet/>
      <dgm:spPr/>
      <dgm:t>
        <a:bodyPr/>
        <a:lstStyle/>
        <a:p>
          <a:endParaRPr lang="zh-CN" altLang="en-US" sz="1800"/>
        </a:p>
      </dgm:t>
    </dgm:pt>
    <dgm:pt modelId="{ACB94D3B-CBAC-4C3E-9FF0-1ACAB6B0F440}" type="sibTrans" cxnId="{0639BA8C-BE15-4139-9F43-BAAAE8E4B3A6}">
      <dgm:prSet custT="1"/>
      <dgm:spPr/>
      <dgm:t>
        <a:bodyPr/>
        <a:lstStyle/>
        <a:p>
          <a:endParaRPr lang="zh-CN" altLang="en-US" sz="1800"/>
        </a:p>
      </dgm:t>
    </dgm:pt>
    <dgm:pt modelId="{E83A574D-B843-4C68-92B2-FEAA14B49385}">
      <dgm:prSet phldrT="[文本]" custT="1"/>
      <dgm:spPr/>
      <dgm:t>
        <a:bodyPr/>
        <a:lstStyle/>
        <a:p>
          <a:r>
            <a:rPr lang="zh-CN" altLang="en-US" sz="1800" dirty="0"/>
            <a:t>明确发育节点</a:t>
          </a:r>
        </a:p>
      </dgm:t>
    </dgm:pt>
    <dgm:pt modelId="{97854183-1F36-4535-943B-1CEB70270ADA}" type="parTrans" cxnId="{5A756A56-5BA1-4A07-9A91-1ED044F27AA3}">
      <dgm:prSet/>
      <dgm:spPr/>
      <dgm:t>
        <a:bodyPr/>
        <a:lstStyle/>
        <a:p>
          <a:endParaRPr lang="zh-CN" altLang="en-US" sz="1800"/>
        </a:p>
      </dgm:t>
    </dgm:pt>
    <dgm:pt modelId="{9EA77D46-A5A0-461D-9BB5-9A7261C88536}" type="sibTrans" cxnId="{5A756A56-5BA1-4A07-9A91-1ED044F27AA3}">
      <dgm:prSet/>
      <dgm:spPr/>
      <dgm:t>
        <a:bodyPr/>
        <a:lstStyle/>
        <a:p>
          <a:endParaRPr lang="zh-CN" altLang="en-US" sz="1800"/>
        </a:p>
      </dgm:t>
    </dgm:pt>
    <dgm:pt modelId="{7D764CD9-E975-45AC-94EA-DC7BF16C9E09}" type="pres">
      <dgm:prSet presAssocID="{A22C890B-AF56-4B66-9530-3071DCDB14A2}" presName="Name0" presStyleCnt="0">
        <dgm:presLayoutVars>
          <dgm:dir/>
          <dgm:resizeHandles val="exact"/>
        </dgm:presLayoutVars>
      </dgm:prSet>
      <dgm:spPr/>
    </dgm:pt>
    <dgm:pt modelId="{3A2EDCEF-63C3-4746-AED0-F20B00958CC8}" type="pres">
      <dgm:prSet presAssocID="{583546FA-7314-46FB-875B-B783F973BB65}" presName="node" presStyleLbl="node1" presStyleIdx="0" presStyleCnt="5">
        <dgm:presLayoutVars>
          <dgm:bulletEnabled val="1"/>
        </dgm:presLayoutVars>
      </dgm:prSet>
      <dgm:spPr/>
    </dgm:pt>
    <dgm:pt modelId="{595DC51A-3AFC-42E3-8F49-2CF915C3F986}" type="pres">
      <dgm:prSet presAssocID="{6BBEB09C-5AD7-4F53-B1BF-1C41E55BAD81}" presName="sibTrans" presStyleLbl="sibTrans2D1" presStyleIdx="0" presStyleCnt="4"/>
      <dgm:spPr/>
    </dgm:pt>
    <dgm:pt modelId="{B21F8D04-3FDF-43A4-887F-E768BA509825}" type="pres">
      <dgm:prSet presAssocID="{6BBEB09C-5AD7-4F53-B1BF-1C41E55BAD81}" presName="connectorText" presStyleLbl="sibTrans2D1" presStyleIdx="0" presStyleCnt="4"/>
      <dgm:spPr/>
    </dgm:pt>
    <dgm:pt modelId="{34BCE7E3-88C6-48D6-86FF-04DBCA27ECE9}" type="pres">
      <dgm:prSet presAssocID="{848C9BC6-E029-453A-9B15-F7417403BB94}" presName="node" presStyleLbl="node1" presStyleIdx="1" presStyleCnt="5" custScaleX="113229">
        <dgm:presLayoutVars>
          <dgm:bulletEnabled val="1"/>
        </dgm:presLayoutVars>
      </dgm:prSet>
      <dgm:spPr/>
    </dgm:pt>
    <dgm:pt modelId="{E88E2E01-11DB-4BE4-A68D-EB8A10BC06BE}" type="pres">
      <dgm:prSet presAssocID="{43E7ED24-0084-40D7-8A40-0D649685F386}" presName="sibTrans" presStyleLbl="sibTrans2D1" presStyleIdx="1" presStyleCnt="4"/>
      <dgm:spPr/>
    </dgm:pt>
    <dgm:pt modelId="{685043DD-7C9D-4202-B69A-37AE527933FB}" type="pres">
      <dgm:prSet presAssocID="{43E7ED24-0084-40D7-8A40-0D649685F386}" presName="connectorText" presStyleLbl="sibTrans2D1" presStyleIdx="1" presStyleCnt="4"/>
      <dgm:spPr/>
    </dgm:pt>
    <dgm:pt modelId="{29CA230E-CB8D-428D-A17E-417A29F16454}" type="pres">
      <dgm:prSet presAssocID="{BE84213A-104C-44F5-890B-E0365AAF98C1}" presName="node" presStyleLbl="node1" presStyleIdx="2" presStyleCnt="5">
        <dgm:presLayoutVars>
          <dgm:bulletEnabled val="1"/>
        </dgm:presLayoutVars>
      </dgm:prSet>
      <dgm:spPr/>
    </dgm:pt>
    <dgm:pt modelId="{B328A919-EE26-4EBD-B484-804767D206AC}" type="pres">
      <dgm:prSet presAssocID="{A531BE62-C04D-47C2-9403-E9D36573533C}" presName="sibTrans" presStyleLbl="sibTrans2D1" presStyleIdx="2" presStyleCnt="4"/>
      <dgm:spPr/>
    </dgm:pt>
    <dgm:pt modelId="{680F7AFE-DCB0-4EC3-8D13-A36397204873}" type="pres">
      <dgm:prSet presAssocID="{A531BE62-C04D-47C2-9403-E9D36573533C}" presName="connectorText" presStyleLbl="sibTrans2D1" presStyleIdx="2" presStyleCnt="4"/>
      <dgm:spPr/>
    </dgm:pt>
    <dgm:pt modelId="{6D8BBC55-0F94-4779-B05A-0B93E1951958}" type="pres">
      <dgm:prSet presAssocID="{2800A486-E629-4F54-8E9E-221CFF674882}" presName="node" presStyleLbl="node1" presStyleIdx="3" presStyleCnt="5">
        <dgm:presLayoutVars>
          <dgm:bulletEnabled val="1"/>
        </dgm:presLayoutVars>
      </dgm:prSet>
      <dgm:spPr/>
    </dgm:pt>
    <dgm:pt modelId="{415B5F7A-A455-43C3-8788-3F4471FFE3AD}" type="pres">
      <dgm:prSet presAssocID="{ACB94D3B-CBAC-4C3E-9FF0-1ACAB6B0F440}" presName="sibTrans" presStyleLbl="sibTrans2D1" presStyleIdx="3" presStyleCnt="4"/>
      <dgm:spPr/>
    </dgm:pt>
    <dgm:pt modelId="{DCC61706-7EDD-41AF-B2BF-D0FBE0073E15}" type="pres">
      <dgm:prSet presAssocID="{ACB94D3B-CBAC-4C3E-9FF0-1ACAB6B0F440}" presName="connectorText" presStyleLbl="sibTrans2D1" presStyleIdx="3" presStyleCnt="4"/>
      <dgm:spPr/>
    </dgm:pt>
    <dgm:pt modelId="{6734A257-744F-41F3-A8F2-8CDD8C1820AD}" type="pres">
      <dgm:prSet presAssocID="{E83A574D-B843-4C68-92B2-FEAA14B49385}" presName="node" presStyleLbl="node1" presStyleIdx="4" presStyleCnt="5">
        <dgm:presLayoutVars>
          <dgm:bulletEnabled val="1"/>
        </dgm:presLayoutVars>
      </dgm:prSet>
      <dgm:spPr/>
    </dgm:pt>
  </dgm:ptLst>
  <dgm:cxnLst>
    <dgm:cxn modelId="{B0670702-1EAC-4E60-B98C-4CF2592CD0F2}" srcId="{A22C890B-AF56-4B66-9530-3071DCDB14A2}" destId="{BE84213A-104C-44F5-890B-E0365AAF98C1}" srcOrd="2" destOrd="0" parTransId="{22D65122-DF43-4007-A364-C6ED09CF1F76}" sibTransId="{A531BE62-C04D-47C2-9403-E9D36573533C}"/>
    <dgm:cxn modelId="{E4F80205-3C7A-44D4-98A3-C7AD26742464}" type="presOf" srcId="{43E7ED24-0084-40D7-8A40-0D649685F386}" destId="{E88E2E01-11DB-4BE4-A68D-EB8A10BC06BE}" srcOrd="0" destOrd="0" presId="urn:microsoft.com/office/officeart/2005/8/layout/process1"/>
    <dgm:cxn modelId="{A8C86908-58CD-4C9C-8509-2E8726D20523}" type="presOf" srcId="{A531BE62-C04D-47C2-9403-E9D36573533C}" destId="{680F7AFE-DCB0-4EC3-8D13-A36397204873}" srcOrd="1" destOrd="0" presId="urn:microsoft.com/office/officeart/2005/8/layout/process1"/>
    <dgm:cxn modelId="{5C9CCC27-D9DC-4B24-ADCC-F0AD491312CA}" type="presOf" srcId="{ACB94D3B-CBAC-4C3E-9FF0-1ACAB6B0F440}" destId="{415B5F7A-A455-43C3-8788-3F4471FFE3AD}" srcOrd="0" destOrd="0" presId="urn:microsoft.com/office/officeart/2005/8/layout/process1"/>
    <dgm:cxn modelId="{85C6422A-139E-4E59-AF93-B2FDB8145678}" type="presOf" srcId="{A22C890B-AF56-4B66-9530-3071DCDB14A2}" destId="{7D764CD9-E975-45AC-94EA-DC7BF16C9E09}" srcOrd="0" destOrd="0" presId="urn:microsoft.com/office/officeart/2005/8/layout/process1"/>
    <dgm:cxn modelId="{6F4B502D-BD80-46EB-AE0B-44F98DA348B2}" type="presOf" srcId="{BE84213A-104C-44F5-890B-E0365AAF98C1}" destId="{29CA230E-CB8D-428D-A17E-417A29F16454}" srcOrd="0" destOrd="0" presId="urn:microsoft.com/office/officeart/2005/8/layout/process1"/>
    <dgm:cxn modelId="{F2C2F230-07BB-40BB-9E62-E32206D5D7B9}" type="presOf" srcId="{583546FA-7314-46FB-875B-B783F973BB65}" destId="{3A2EDCEF-63C3-4746-AED0-F20B00958CC8}" srcOrd="0" destOrd="0" presId="urn:microsoft.com/office/officeart/2005/8/layout/process1"/>
    <dgm:cxn modelId="{C4A8DB5F-B59B-4605-8DF6-83B7915BF5AA}" type="presOf" srcId="{A531BE62-C04D-47C2-9403-E9D36573533C}" destId="{B328A919-EE26-4EBD-B484-804767D206AC}" srcOrd="0" destOrd="0" presId="urn:microsoft.com/office/officeart/2005/8/layout/process1"/>
    <dgm:cxn modelId="{B3537468-C477-4E42-8274-0D78960C2408}" type="presOf" srcId="{E83A574D-B843-4C68-92B2-FEAA14B49385}" destId="{6734A257-744F-41F3-A8F2-8CDD8C1820AD}" srcOrd="0" destOrd="0" presId="urn:microsoft.com/office/officeart/2005/8/layout/process1"/>
    <dgm:cxn modelId="{5A756A56-5BA1-4A07-9A91-1ED044F27AA3}" srcId="{A22C890B-AF56-4B66-9530-3071DCDB14A2}" destId="{E83A574D-B843-4C68-92B2-FEAA14B49385}" srcOrd="4" destOrd="0" parTransId="{97854183-1F36-4535-943B-1CEB70270ADA}" sibTransId="{9EA77D46-A5A0-461D-9BB5-9A7261C88536}"/>
    <dgm:cxn modelId="{B6D86F79-78BE-48F9-B0C4-C75F9880B92C}" type="presOf" srcId="{6BBEB09C-5AD7-4F53-B1BF-1C41E55BAD81}" destId="{595DC51A-3AFC-42E3-8F49-2CF915C3F986}" srcOrd="0" destOrd="0" presId="urn:microsoft.com/office/officeart/2005/8/layout/process1"/>
    <dgm:cxn modelId="{0639BA8C-BE15-4139-9F43-BAAAE8E4B3A6}" srcId="{A22C890B-AF56-4B66-9530-3071DCDB14A2}" destId="{2800A486-E629-4F54-8E9E-221CFF674882}" srcOrd="3" destOrd="0" parTransId="{534EAC73-3962-460D-93F9-9A52F12E47B7}" sibTransId="{ACB94D3B-CBAC-4C3E-9FF0-1ACAB6B0F440}"/>
    <dgm:cxn modelId="{87EBFBA5-BA50-4436-9296-9851DB455227}" srcId="{A22C890B-AF56-4B66-9530-3071DCDB14A2}" destId="{848C9BC6-E029-453A-9B15-F7417403BB94}" srcOrd="1" destOrd="0" parTransId="{1DCAF7D3-7B36-41BF-BE80-076B7800CDB7}" sibTransId="{43E7ED24-0084-40D7-8A40-0D649685F386}"/>
    <dgm:cxn modelId="{B07BB4AF-3FCF-4E75-A3B7-4EACBC5E044A}" type="presOf" srcId="{2800A486-E629-4F54-8E9E-221CFF674882}" destId="{6D8BBC55-0F94-4779-B05A-0B93E1951958}" srcOrd="0" destOrd="0" presId="urn:microsoft.com/office/officeart/2005/8/layout/process1"/>
    <dgm:cxn modelId="{A37F9FCF-AFE1-4979-B9A6-3FB25D822ECF}" type="presOf" srcId="{ACB94D3B-CBAC-4C3E-9FF0-1ACAB6B0F440}" destId="{DCC61706-7EDD-41AF-B2BF-D0FBE0073E15}" srcOrd="1" destOrd="0" presId="urn:microsoft.com/office/officeart/2005/8/layout/process1"/>
    <dgm:cxn modelId="{4EA053D1-7FD6-440A-AC0B-EE67D599994E}" srcId="{A22C890B-AF56-4B66-9530-3071DCDB14A2}" destId="{583546FA-7314-46FB-875B-B783F973BB65}" srcOrd="0" destOrd="0" parTransId="{53977859-409A-4FD5-BDAB-626D11BFAFFB}" sibTransId="{6BBEB09C-5AD7-4F53-B1BF-1C41E55BAD81}"/>
    <dgm:cxn modelId="{DA49BDD6-C76F-41C1-9A4A-90E4CF98BE7A}" type="presOf" srcId="{43E7ED24-0084-40D7-8A40-0D649685F386}" destId="{685043DD-7C9D-4202-B69A-37AE527933FB}" srcOrd="1" destOrd="0" presId="urn:microsoft.com/office/officeart/2005/8/layout/process1"/>
    <dgm:cxn modelId="{5901A9D7-7C0E-4C29-A62E-A7033C253582}" type="presOf" srcId="{848C9BC6-E029-453A-9B15-F7417403BB94}" destId="{34BCE7E3-88C6-48D6-86FF-04DBCA27ECE9}" srcOrd="0" destOrd="0" presId="urn:microsoft.com/office/officeart/2005/8/layout/process1"/>
    <dgm:cxn modelId="{C97377FC-4891-4360-9648-A3906B6B3E18}" type="presOf" srcId="{6BBEB09C-5AD7-4F53-B1BF-1C41E55BAD81}" destId="{B21F8D04-3FDF-43A4-887F-E768BA509825}" srcOrd="1" destOrd="0" presId="urn:microsoft.com/office/officeart/2005/8/layout/process1"/>
    <dgm:cxn modelId="{80A2B244-16FC-4371-83EC-E3FCFD514676}" type="presParOf" srcId="{7D764CD9-E975-45AC-94EA-DC7BF16C9E09}" destId="{3A2EDCEF-63C3-4746-AED0-F20B00958CC8}" srcOrd="0" destOrd="0" presId="urn:microsoft.com/office/officeart/2005/8/layout/process1"/>
    <dgm:cxn modelId="{9EB65A68-BE70-4777-AF7C-58BEEF29D5DE}" type="presParOf" srcId="{7D764CD9-E975-45AC-94EA-DC7BF16C9E09}" destId="{595DC51A-3AFC-42E3-8F49-2CF915C3F986}" srcOrd="1" destOrd="0" presId="urn:microsoft.com/office/officeart/2005/8/layout/process1"/>
    <dgm:cxn modelId="{F63A093A-82DB-466A-AAB3-6D12ECFFC28C}" type="presParOf" srcId="{595DC51A-3AFC-42E3-8F49-2CF915C3F986}" destId="{B21F8D04-3FDF-43A4-887F-E768BA509825}" srcOrd="0" destOrd="0" presId="urn:microsoft.com/office/officeart/2005/8/layout/process1"/>
    <dgm:cxn modelId="{4D780028-E848-4C9B-B775-7EBD2EB7B696}" type="presParOf" srcId="{7D764CD9-E975-45AC-94EA-DC7BF16C9E09}" destId="{34BCE7E3-88C6-48D6-86FF-04DBCA27ECE9}" srcOrd="2" destOrd="0" presId="urn:microsoft.com/office/officeart/2005/8/layout/process1"/>
    <dgm:cxn modelId="{24427538-96A5-4006-8D81-422AA53931EA}" type="presParOf" srcId="{7D764CD9-E975-45AC-94EA-DC7BF16C9E09}" destId="{E88E2E01-11DB-4BE4-A68D-EB8A10BC06BE}" srcOrd="3" destOrd="0" presId="urn:microsoft.com/office/officeart/2005/8/layout/process1"/>
    <dgm:cxn modelId="{06073359-637D-4CB0-A96C-41CB5F978016}" type="presParOf" srcId="{E88E2E01-11DB-4BE4-A68D-EB8A10BC06BE}" destId="{685043DD-7C9D-4202-B69A-37AE527933FB}" srcOrd="0" destOrd="0" presId="urn:microsoft.com/office/officeart/2005/8/layout/process1"/>
    <dgm:cxn modelId="{6BD119A2-DCEA-46F9-99C3-D97456188D0A}" type="presParOf" srcId="{7D764CD9-E975-45AC-94EA-DC7BF16C9E09}" destId="{29CA230E-CB8D-428D-A17E-417A29F16454}" srcOrd="4" destOrd="0" presId="urn:microsoft.com/office/officeart/2005/8/layout/process1"/>
    <dgm:cxn modelId="{B436DC31-3B9F-4505-AB8F-90DBF767A2CD}" type="presParOf" srcId="{7D764CD9-E975-45AC-94EA-DC7BF16C9E09}" destId="{B328A919-EE26-4EBD-B484-804767D206AC}" srcOrd="5" destOrd="0" presId="urn:microsoft.com/office/officeart/2005/8/layout/process1"/>
    <dgm:cxn modelId="{BFFADFE4-9E1E-47D2-AA1F-35A0E3C715EC}" type="presParOf" srcId="{B328A919-EE26-4EBD-B484-804767D206AC}" destId="{680F7AFE-DCB0-4EC3-8D13-A36397204873}" srcOrd="0" destOrd="0" presId="urn:microsoft.com/office/officeart/2005/8/layout/process1"/>
    <dgm:cxn modelId="{A095F758-AC8A-4E0B-A761-B80AC7AB77D6}" type="presParOf" srcId="{7D764CD9-E975-45AC-94EA-DC7BF16C9E09}" destId="{6D8BBC55-0F94-4779-B05A-0B93E1951958}" srcOrd="6" destOrd="0" presId="urn:microsoft.com/office/officeart/2005/8/layout/process1"/>
    <dgm:cxn modelId="{3A280CE1-CEDB-406E-B824-575DFBE099DE}" type="presParOf" srcId="{7D764CD9-E975-45AC-94EA-DC7BF16C9E09}" destId="{415B5F7A-A455-43C3-8788-3F4471FFE3AD}" srcOrd="7" destOrd="0" presId="urn:microsoft.com/office/officeart/2005/8/layout/process1"/>
    <dgm:cxn modelId="{97CE17B6-26EB-43B7-92F8-255C9CE244ED}" type="presParOf" srcId="{415B5F7A-A455-43C3-8788-3F4471FFE3AD}" destId="{DCC61706-7EDD-41AF-B2BF-D0FBE0073E15}" srcOrd="0" destOrd="0" presId="urn:microsoft.com/office/officeart/2005/8/layout/process1"/>
    <dgm:cxn modelId="{33D3C410-016A-4A41-8F7E-ABE33A2AF065}" type="presParOf" srcId="{7D764CD9-E975-45AC-94EA-DC7BF16C9E09}" destId="{6734A257-744F-41F3-A8F2-8CDD8C1820AD}"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C329FC-4FF7-4C9E-ACDC-2C574E51812B}" type="doc">
      <dgm:prSet loTypeId="urn:microsoft.com/office/officeart/2005/8/layout/process1" loCatId="process" qsTypeId="urn:microsoft.com/office/officeart/2005/8/quickstyle/simple1" qsCatId="simple" csTypeId="urn:microsoft.com/office/officeart/2005/8/colors/accent6_3" csCatId="accent6" phldr="1"/>
      <dgm:spPr/>
    </dgm:pt>
    <dgm:pt modelId="{D74864DF-B0BC-4DC7-AF70-ACABEBB68196}">
      <dgm:prSet phldrT="[文本]" custT="1"/>
      <dgm:spPr/>
      <dgm:t>
        <a:bodyPr/>
        <a:lstStyle/>
        <a:p>
          <a:r>
            <a:rPr lang="zh-CN" altLang="en-US" sz="1800" dirty="0"/>
            <a:t>选择目标节点细胞类别</a:t>
          </a:r>
        </a:p>
      </dgm:t>
    </dgm:pt>
    <dgm:pt modelId="{5D1785D9-502C-48EE-9CA8-D6194869F18E}" type="parTrans" cxnId="{FCC58E55-0204-46FF-95EA-5345D362DDF6}">
      <dgm:prSet/>
      <dgm:spPr/>
      <dgm:t>
        <a:bodyPr/>
        <a:lstStyle/>
        <a:p>
          <a:endParaRPr lang="zh-CN" altLang="en-US" sz="1800"/>
        </a:p>
      </dgm:t>
    </dgm:pt>
    <dgm:pt modelId="{FEBCD0D2-FA71-4E19-B4D3-9C3867EB4553}" type="sibTrans" cxnId="{FCC58E55-0204-46FF-95EA-5345D362DDF6}">
      <dgm:prSet custT="1"/>
      <dgm:spPr/>
      <dgm:t>
        <a:bodyPr/>
        <a:lstStyle/>
        <a:p>
          <a:endParaRPr lang="zh-CN" altLang="en-US" sz="1800"/>
        </a:p>
      </dgm:t>
    </dgm:pt>
    <dgm:pt modelId="{EE84A1C2-DBA9-4B0E-B465-EEED57FA0246}">
      <dgm:prSet phldrT="[文本]" custT="1"/>
      <dgm:spPr/>
      <dgm:t>
        <a:bodyPr/>
        <a:lstStyle/>
        <a:p>
          <a:r>
            <a:rPr lang="zh-CN" altLang="en-US" sz="1800" dirty="0"/>
            <a:t>显著性检验筛选得到差异基因列表</a:t>
          </a:r>
        </a:p>
      </dgm:t>
    </dgm:pt>
    <dgm:pt modelId="{B66D407A-DF05-458B-B61B-E8F3A89035C9}" type="parTrans" cxnId="{9F6847F3-66CB-4C19-9204-606FAEC4CD11}">
      <dgm:prSet/>
      <dgm:spPr/>
      <dgm:t>
        <a:bodyPr/>
        <a:lstStyle/>
        <a:p>
          <a:endParaRPr lang="zh-CN" altLang="en-US" sz="1800"/>
        </a:p>
      </dgm:t>
    </dgm:pt>
    <dgm:pt modelId="{761B2E31-9992-4CC2-B1B4-C35A49FFCD28}" type="sibTrans" cxnId="{9F6847F3-66CB-4C19-9204-606FAEC4CD11}">
      <dgm:prSet custT="1"/>
      <dgm:spPr/>
      <dgm:t>
        <a:bodyPr/>
        <a:lstStyle/>
        <a:p>
          <a:endParaRPr lang="zh-CN" altLang="en-US" sz="1800"/>
        </a:p>
      </dgm:t>
    </dgm:pt>
    <dgm:pt modelId="{134699B0-C57D-4A5C-BA7F-21A01EBF2726}">
      <dgm:prSet phldrT="[文本]" custT="1"/>
      <dgm:spPr/>
      <dgm:t>
        <a:bodyPr/>
        <a:lstStyle/>
        <a:p>
          <a:r>
            <a:rPr lang="zh-CN" altLang="en-US" sz="1800" dirty="0"/>
            <a:t>差异基因可视化</a:t>
          </a:r>
          <a:endParaRPr lang="en-US" altLang="zh-CN" sz="1800" dirty="0"/>
        </a:p>
        <a:p>
          <a:r>
            <a:rPr lang="zh-CN" altLang="en-US" sz="1800" dirty="0"/>
            <a:t>（火山图、小提琴图）</a:t>
          </a:r>
        </a:p>
      </dgm:t>
    </dgm:pt>
    <dgm:pt modelId="{DDE6C648-AEC5-4193-B074-ADB4994C65EA}" type="parTrans" cxnId="{4AA88E37-7D49-4F24-B005-9CC76AF1DD55}">
      <dgm:prSet/>
      <dgm:spPr/>
      <dgm:t>
        <a:bodyPr/>
        <a:lstStyle/>
        <a:p>
          <a:endParaRPr lang="zh-CN" altLang="en-US" sz="1800"/>
        </a:p>
      </dgm:t>
    </dgm:pt>
    <dgm:pt modelId="{24C5AEE4-ED25-4FA2-87DC-91038FC4642A}" type="sibTrans" cxnId="{4AA88E37-7D49-4F24-B005-9CC76AF1DD55}">
      <dgm:prSet custT="1"/>
      <dgm:spPr/>
      <dgm:t>
        <a:bodyPr/>
        <a:lstStyle/>
        <a:p>
          <a:endParaRPr lang="zh-CN" altLang="en-US" sz="1800"/>
        </a:p>
      </dgm:t>
    </dgm:pt>
    <dgm:pt modelId="{F451A64B-A72B-4A37-9C39-B6FE8E9E1AE9}">
      <dgm:prSet phldrT="[文本]" custT="1"/>
      <dgm:spPr/>
      <dgm:t>
        <a:bodyPr/>
        <a:lstStyle/>
        <a:p>
          <a:r>
            <a:rPr lang="zh-CN" altLang="en-US" sz="1800" dirty="0"/>
            <a:t>差异基因富集功能注释聚类</a:t>
          </a:r>
        </a:p>
      </dgm:t>
    </dgm:pt>
    <dgm:pt modelId="{F0C8420A-3E5C-41DC-AA7D-F2870D9337B1}" type="parTrans" cxnId="{E6630D20-6A08-43C5-A9AD-AC994E26C95C}">
      <dgm:prSet/>
      <dgm:spPr/>
      <dgm:t>
        <a:bodyPr/>
        <a:lstStyle/>
        <a:p>
          <a:endParaRPr lang="zh-CN" altLang="en-US" sz="1800"/>
        </a:p>
      </dgm:t>
    </dgm:pt>
    <dgm:pt modelId="{17EA3A2D-0E42-4E9A-87BC-6AF6D5ACCFB5}" type="sibTrans" cxnId="{E6630D20-6A08-43C5-A9AD-AC994E26C95C}">
      <dgm:prSet custT="1"/>
      <dgm:spPr/>
      <dgm:t>
        <a:bodyPr/>
        <a:lstStyle/>
        <a:p>
          <a:endParaRPr lang="zh-CN" altLang="en-US" sz="1800"/>
        </a:p>
      </dgm:t>
    </dgm:pt>
    <dgm:pt modelId="{E5EB4BD5-79EB-4516-A982-3AF133B39BBC}">
      <dgm:prSet phldrT="[文本]" custT="1"/>
      <dgm:spPr/>
      <dgm:t>
        <a:bodyPr/>
        <a:lstStyle/>
        <a:p>
          <a:r>
            <a:rPr lang="zh-CN" altLang="en-US" sz="1800" dirty="0"/>
            <a:t>对节点上下游细胞功能差异初步了解</a:t>
          </a:r>
        </a:p>
      </dgm:t>
    </dgm:pt>
    <dgm:pt modelId="{D99188DB-D5BA-4916-993D-87BFBB214B65}" type="parTrans" cxnId="{5B7FE693-E8AA-4FFC-9D25-032E94A5E800}">
      <dgm:prSet/>
      <dgm:spPr/>
      <dgm:t>
        <a:bodyPr/>
        <a:lstStyle/>
        <a:p>
          <a:endParaRPr lang="zh-CN" altLang="en-US" sz="1800"/>
        </a:p>
      </dgm:t>
    </dgm:pt>
    <dgm:pt modelId="{DEA7BE49-8926-4891-B73E-0E9566C65A14}" type="sibTrans" cxnId="{5B7FE693-E8AA-4FFC-9D25-032E94A5E800}">
      <dgm:prSet/>
      <dgm:spPr/>
      <dgm:t>
        <a:bodyPr/>
        <a:lstStyle/>
        <a:p>
          <a:endParaRPr lang="zh-CN" altLang="en-US" sz="1800"/>
        </a:p>
      </dgm:t>
    </dgm:pt>
    <dgm:pt modelId="{3BEED126-15A5-49D7-9E54-DF76B30546CA}" type="pres">
      <dgm:prSet presAssocID="{DDC329FC-4FF7-4C9E-ACDC-2C574E51812B}" presName="Name0" presStyleCnt="0">
        <dgm:presLayoutVars>
          <dgm:dir/>
          <dgm:resizeHandles val="exact"/>
        </dgm:presLayoutVars>
      </dgm:prSet>
      <dgm:spPr/>
    </dgm:pt>
    <dgm:pt modelId="{E7C8417B-D5EE-4D2A-87AD-B0ACDBBAB067}" type="pres">
      <dgm:prSet presAssocID="{D74864DF-B0BC-4DC7-AF70-ACABEBB68196}" presName="node" presStyleLbl="node1" presStyleIdx="0" presStyleCnt="5">
        <dgm:presLayoutVars>
          <dgm:bulletEnabled val="1"/>
        </dgm:presLayoutVars>
      </dgm:prSet>
      <dgm:spPr/>
    </dgm:pt>
    <dgm:pt modelId="{EEF9D82C-EED8-4FDD-B305-55D267A88BD8}" type="pres">
      <dgm:prSet presAssocID="{FEBCD0D2-FA71-4E19-B4D3-9C3867EB4553}" presName="sibTrans" presStyleLbl="sibTrans2D1" presStyleIdx="0" presStyleCnt="4"/>
      <dgm:spPr/>
    </dgm:pt>
    <dgm:pt modelId="{FA0ACF79-F299-4E8E-B2B2-7C1D52734627}" type="pres">
      <dgm:prSet presAssocID="{FEBCD0D2-FA71-4E19-B4D3-9C3867EB4553}" presName="connectorText" presStyleLbl="sibTrans2D1" presStyleIdx="0" presStyleCnt="4"/>
      <dgm:spPr/>
    </dgm:pt>
    <dgm:pt modelId="{428C2EEA-76F5-4CCF-86FC-226FF068299D}" type="pres">
      <dgm:prSet presAssocID="{EE84A1C2-DBA9-4B0E-B465-EEED57FA0246}" presName="node" presStyleLbl="node1" presStyleIdx="1" presStyleCnt="5" custScaleX="116435">
        <dgm:presLayoutVars>
          <dgm:bulletEnabled val="1"/>
        </dgm:presLayoutVars>
      </dgm:prSet>
      <dgm:spPr/>
    </dgm:pt>
    <dgm:pt modelId="{F02E448F-4FBD-4851-A098-BA7B33770F0A}" type="pres">
      <dgm:prSet presAssocID="{761B2E31-9992-4CC2-B1B4-C35A49FFCD28}" presName="sibTrans" presStyleLbl="sibTrans2D1" presStyleIdx="1" presStyleCnt="4"/>
      <dgm:spPr/>
    </dgm:pt>
    <dgm:pt modelId="{08B16D00-ACC8-404D-BBA0-78F6A24662BB}" type="pres">
      <dgm:prSet presAssocID="{761B2E31-9992-4CC2-B1B4-C35A49FFCD28}" presName="connectorText" presStyleLbl="sibTrans2D1" presStyleIdx="1" presStyleCnt="4"/>
      <dgm:spPr/>
    </dgm:pt>
    <dgm:pt modelId="{B987AACD-EFF8-47C1-B2B3-C70B04478B60}" type="pres">
      <dgm:prSet presAssocID="{134699B0-C57D-4A5C-BA7F-21A01EBF2726}" presName="node" presStyleLbl="node1" presStyleIdx="2" presStyleCnt="5" custScaleX="136523">
        <dgm:presLayoutVars>
          <dgm:bulletEnabled val="1"/>
        </dgm:presLayoutVars>
      </dgm:prSet>
      <dgm:spPr/>
    </dgm:pt>
    <dgm:pt modelId="{26D01656-DA54-42DF-83F9-795FF0079E94}" type="pres">
      <dgm:prSet presAssocID="{24C5AEE4-ED25-4FA2-87DC-91038FC4642A}" presName="sibTrans" presStyleLbl="sibTrans2D1" presStyleIdx="2" presStyleCnt="4"/>
      <dgm:spPr/>
    </dgm:pt>
    <dgm:pt modelId="{5DBDCE34-DD41-42A2-8802-3A8F3A96C027}" type="pres">
      <dgm:prSet presAssocID="{24C5AEE4-ED25-4FA2-87DC-91038FC4642A}" presName="connectorText" presStyleLbl="sibTrans2D1" presStyleIdx="2" presStyleCnt="4"/>
      <dgm:spPr/>
    </dgm:pt>
    <dgm:pt modelId="{64FC8DBE-64B9-4C9B-ADF4-92DF14226E20}" type="pres">
      <dgm:prSet presAssocID="{F451A64B-A72B-4A37-9C39-B6FE8E9E1AE9}" presName="node" presStyleLbl="node1" presStyleIdx="3" presStyleCnt="5">
        <dgm:presLayoutVars>
          <dgm:bulletEnabled val="1"/>
        </dgm:presLayoutVars>
      </dgm:prSet>
      <dgm:spPr/>
    </dgm:pt>
    <dgm:pt modelId="{A46A165C-69F6-4D36-83D7-E9F8E429607B}" type="pres">
      <dgm:prSet presAssocID="{17EA3A2D-0E42-4E9A-87BC-6AF6D5ACCFB5}" presName="sibTrans" presStyleLbl="sibTrans2D1" presStyleIdx="3" presStyleCnt="4"/>
      <dgm:spPr/>
    </dgm:pt>
    <dgm:pt modelId="{25E22885-B95D-4BFE-A666-B7C92B15C80E}" type="pres">
      <dgm:prSet presAssocID="{17EA3A2D-0E42-4E9A-87BC-6AF6D5ACCFB5}" presName="connectorText" presStyleLbl="sibTrans2D1" presStyleIdx="3" presStyleCnt="4"/>
      <dgm:spPr/>
    </dgm:pt>
    <dgm:pt modelId="{7CE68024-E86D-4609-864F-7EC28563835A}" type="pres">
      <dgm:prSet presAssocID="{E5EB4BD5-79EB-4516-A982-3AF133B39BBC}" presName="node" presStyleLbl="node1" presStyleIdx="4" presStyleCnt="5">
        <dgm:presLayoutVars>
          <dgm:bulletEnabled val="1"/>
        </dgm:presLayoutVars>
      </dgm:prSet>
      <dgm:spPr/>
    </dgm:pt>
  </dgm:ptLst>
  <dgm:cxnLst>
    <dgm:cxn modelId="{9E1DF216-6D14-47FC-AABA-A5A1E9DB0F69}" type="presOf" srcId="{24C5AEE4-ED25-4FA2-87DC-91038FC4642A}" destId="{26D01656-DA54-42DF-83F9-795FF0079E94}" srcOrd="0" destOrd="0" presId="urn:microsoft.com/office/officeart/2005/8/layout/process1"/>
    <dgm:cxn modelId="{E6630D20-6A08-43C5-A9AD-AC994E26C95C}" srcId="{DDC329FC-4FF7-4C9E-ACDC-2C574E51812B}" destId="{F451A64B-A72B-4A37-9C39-B6FE8E9E1AE9}" srcOrd="3" destOrd="0" parTransId="{F0C8420A-3E5C-41DC-AA7D-F2870D9337B1}" sibTransId="{17EA3A2D-0E42-4E9A-87BC-6AF6D5ACCFB5}"/>
    <dgm:cxn modelId="{4AA88E37-7D49-4F24-B005-9CC76AF1DD55}" srcId="{DDC329FC-4FF7-4C9E-ACDC-2C574E51812B}" destId="{134699B0-C57D-4A5C-BA7F-21A01EBF2726}" srcOrd="2" destOrd="0" parTransId="{DDE6C648-AEC5-4193-B074-ADB4994C65EA}" sibTransId="{24C5AEE4-ED25-4FA2-87DC-91038FC4642A}"/>
    <dgm:cxn modelId="{6297D641-E305-4B73-B7D0-D635290A6C71}" type="presOf" srcId="{761B2E31-9992-4CC2-B1B4-C35A49FFCD28}" destId="{08B16D00-ACC8-404D-BBA0-78F6A24662BB}" srcOrd="1" destOrd="0" presId="urn:microsoft.com/office/officeart/2005/8/layout/process1"/>
    <dgm:cxn modelId="{5987C246-5A7B-447C-8B86-FDF91F9450DD}" type="presOf" srcId="{F451A64B-A72B-4A37-9C39-B6FE8E9E1AE9}" destId="{64FC8DBE-64B9-4C9B-ADF4-92DF14226E20}" srcOrd="0" destOrd="0" presId="urn:microsoft.com/office/officeart/2005/8/layout/process1"/>
    <dgm:cxn modelId="{3832514B-9F33-454B-9DA3-90778D35E1F9}" type="presOf" srcId="{FEBCD0D2-FA71-4E19-B4D3-9C3867EB4553}" destId="{EEF9D82C-EED8-4FDD-B305-55D267A88BD8}" srcOrd="0" destOrd="0" presId="urn:microsoft.com/office/officeart/2005/8/layout/process1"/>
    <dgm:cxn modelId="{FCC58E55-0204-46FF-95EA-5345D362DDF6}" srcId="{DDC329FC-4FF7-4C9E-ACDC-2C574E51812B}" destId="{D74864DF-B0BC-4DC7-AF70-ACABEBB68196}" srcOrd="0" destOrd="0" parTransId="{5D1785D9-502C-48EE-9CA8-D6194869F18E}" sibTransId="{FEBCD0D2-FA71-4E19-B4D3-9C3867EB4553}"/>
    <dgm:cxn modelId="{7B15DE7A-DE59-4FDB-ADC8-BA13C704DE51}" type="presOf" srcId="{D74864DF-B0BC-4DC7-AF70-ACABEBB68196}" destId="{E7C8417B-D5EE-4D2A-87AD-B0ACDBBAB067}" srcOrd="0" destOrd="0" presId="urn:microsoft.com/office/officeart/2005/8/layout/process1"/>
    <dgm:cxn modelId="{25EDEC84-86D9-4877-8462-D0870D556756}" type="presOf" srcId="{17EA3A2D-0E42-4E9A-87BC-6AF6D5ACCFB5}" destId="{A46A165C-69F6-4D36-83D7-E9F8E429607B}" srcOrd="0" destOrd="0" presId="urn:microsoft.com/office/officeart/2005/8/layout/process1"/>
    <dgm:cxn modelId="{F7CB8685-D207-450F-A131-84B21F1AC687}" type="presOf" srcId="{E5EB4BD5-79EB-4516-A982-3AF133B39BBC}" destId="{7CE68024-E86D-4609-864F-7EC28563835A}" srcOrd="0" destOrd="0" presId="urn:microsoft.com/office/officeart/2005/8/layout/process1"/>
    <dgm:cxn modelId="{5B7FE693-E8AA-4FFC-9D25-032E94A5E800}" srcId="{DDC329FC-4FF7-4C9E-ACDC-2C574E51812B}" destId="{E5EB4BD5-79EB-4516-A982-3AF133B39BBC}" srcOrd="4" destOrd="0" parTransId="{D99188DB-D5BA-4916-993D-87BFBB214B65}" sibTransId="{DEA7BE49-8926-4891-B73E-0E9566C65A14}"/>
    <dgm:cxn modelId="{E8CE999B-4846-4E81-8F3B-849F4D90155C}" type="presOf" srcId="{134699B0-C57D-4A5C-BA7F-21A01EBF2726}" destId="{B987AACD-EFF8-47C1-B2B3-C70B04478B60}" srcOrd="0" destOrd="0" presId="urn:microsoft.com/office/officeart/2005/8/layout/process1"/>
    <dgm:cxn modelId="{FA44E19C-980B-45F8-8B76-EB9E6E954E33}" type="presOf" srcId="{24C5AEE4-ED25-4FA2-87DC-91038FC4642A}" destId="{5DBDCE34-DD41-42A2-8802-3A8F3A96C027}" srcOrd="1" destOrd="0" presId="urn:microsoft.com/office/officeart/2005/8/layout/process1"/>
    <dgm:cxn modelId="{4AECB0B6-4E96-4617-9224-B6971AFEB072}" type="presOf" srcId="{FEBCD0D2-FA71-4E19-B4D3-9C3867EB4553}" destId="{FA0ACF79-F299-4E8E-B2B2-7C1D52734627}" srcOrd="1" destOrd="0" presId="urn:microsoft.com/office/officeart/2005/8/layout/process1"/>
    <dgm:cxn modelId="{FC8C9CB8-43E2-41BD-96CC-947936342BBB}" type="presOf" srcId="{761B2E31-9992-4CC2-B1B4-C35A49FFCD28}" destId="{F02E448F-4FBD-4851-A098-BA7B33770F0A}" srcOrd="0" destOrd="0" presId="urn:microsoft.com/office/officeart/2005/8/layout/process1"/>
    <dgm:cxn modelId="{8DD515B9-3794-4AF3-B2F7-31F8D96CDC4A}" type="presOf" srcId="{EE84A1C2-DBA9-4B0E-B465-EEED57FA0246}" destId="{428C2EEA-76F5-4CCF-86FC-226FF068299D}" srcOrd="0" destOrd="0" presId="urn:microsoft.com/office/officeart/2005/8/layout/process1"/>
    <dgm:cxn modelId="{76F134D8-B12E-4E72-AA32-81DB63CA11B0}" type="presOf" srcId="{DDC329FC-4FF7-4C9E-ACDC-2C574E51812B}" destId="{3BEED126-15A5-49D7-9E54-DF76B30546CA}" srcOrd="0" destOrd="0" presId="urn:microsoft.com/office/officeart/2005/8/layout/process1"/>
    <dgm:cxn modelId="{75B7C5DB-149D-493A-887F-27CBA3C5A449}" type="presOf" srcId="{17EA3A2D-0E42-4E9A-87BC-6AF6D5ACCFB5}" destId="{25E22885-B95D-4BFE-A666-B7C92B15C80E}" srcOrd="1" destOrd="0" presId="urn:microsoft.com/office/officeart/2005/8/layout/process1"/>
    <dgm:cxn modelId="{9F6847F3-66CB-4C19-9204-606FAEC4CD11}" srcId="{DDC329FC-4FF7-4C9E-ACDC-2C574E51812B}" destId="{EE84A1C2-DBA9-4B0E-B465-EEED57FA0246}" srcOrd="1" destOrd="0" parTransId="{B66D407A-DF05-458B-B61B-E8F3A89035C9}" sibTransId="{761B2E31-9992-4CC2-B1B4-C35A49FFCD28}"/>
    <dgm:cxn modelId="{12A81054-C6C7-484C-B1C6-79FAC788CDE4}" type="presParOf" srcId="{3BEED126-15A5-49D7-9E54-DF76B30546CA}" destId="{E7C8417B-D5EE-4D2A-87AD-B0ACDBBAB067}" srcOrd="0" destOrd="0" presId="urn:microsoft.com/office/officeart/2005/8/layout/process1"/>
    <dgm:cxn modelId="{B17D04EC-76E0-4D61-9AEA-CADEB0E33395}" type="presParOf" srcId="{3BEED126-15A5-49D7-9E54-DF76B30546CA}" destId="{EEF9D82C-EED8-4FDD-B305-55D267A88BD8}" srcOrd="1" destOrd="0" presId="urn:microsoft.com/office/officeart/2005/8/layout/process1"/>
    <dgm:cxn modelId="{E9BEEDC0-5FE3-4481-B50E-DB59923B51FA}" type="presParOf" srcId="{EEF9D82C-EED8-4FDD-B305-55D267A88BD8}" destId="{FA0ACF79-F299-4E8E-B2B2-7C1D52734627}" srcOrd="0" destOrd="0" presId="urn:microsoft.com/office/officeart/2005/8/layout/process1"/>
    <dgm:cxn modelId="{41BECB8B-6475-4F5F-B066-CCDFF0998138}" type="presParOf" srcId="{3BEED126-15A5-49D7-9E54-DF76B30546CA}" destId="{428C2EEA-76F5-4CCF-86FC-226FF068299D}" srcOrd="2" destOrd="0" presId="urn:microsoft.com/office/officeart/2005/8/layout/process1"/>
    <dgm:cxn modelId="{86B729D3-DF55-46AC-AF76-222A7B5263A5}" type="presParOf" srcId="{3BEED126-15A5-49D7-9E54-DF76B30546CA}" destId="{F02E448F-4FBD-4851-A098-BA7B33770F0A}" srcOrd="3" destOrd="0" presId="urn:microsoft.com/office/officeart/2005/8/layout/process1"/>
    <dgm:cxn modelId="{372FEA7C-0A1D-415A-946F-F587A5AD620F}" type="presParOf" srcId="{F02E448F-4FBD-4851-A098-BA7B33770F0A}" destId="{08B16D00-ACC8-404D-BBA0-78F6A24662BB}" srcOrd="0" destOrd="0" presId="urn:microsoft.com/office/officeart/2005/8/layout/process1"/>
    <dgm:cxn modelId="{858D4757-50B4-48E4-A1D4-2F8447B32934}" type="presParOf" srcId="{3BEED126-15A5-49D7-9E54-DF76B30546CA}" destId="{B987AACD-EFF8-47C1-B2B3-C70B04478B60}" srcOrd="4" destOrd="0" presId="urn:microsoft.com/office/officeart/2005/8/layout/process1"/>
    <dgm:cxn modelId="{8E09FC1A-76F4-4D63-99A2-1A71C621C28B}" type="presParOf" srcId="{3BEED126-15A5-49D7-9E54-DF76B30546CA}" destId="{26D01656-DA54-42DF-83F9-795FF0079E94}" srcOrd="5" destOrd="0" presId="urn:microsoft.com/office/officeart/2005/8/layout/process1"/>
    <dgm:cxn modelId="{06DE4992-5B5C-46DC-A9DE-7C753D52633D}" type="presParOf" srcId="{26D01656-DA54-42DF-83F9-795FF0079E94}" destId="{5DBDCE34-DD41-42A2-8802-3A8F3A96C027}" srcOrd="0" destOrd="0" presId="urn:microsoft.com/office/officeart/2005/8/layout/process1"/>
    <dgm:cxn modelId="{A56A7059-7B04-4B2D-BE46-2C084A1D4220}" type="presParOf" srcId="{3BEED126-15A5-49D7-9E54-DF76B30546CA}" destId="{64FC8DBE-64B9-4C9B-ADF4-92DF14226E20}" srcOrd="6" destOrd="0" presId="urn:microsoft.com/office/officeart/2005/8/layout/process1"/>
    <dgm:cxn modelId="{18929496-2B67-4489-AB2E-B61C24207BF1}" type="presParOf" srcId="{3BEED126-15A5-49D7-9E54-DF76B30546CA}" destId="{A46A165C-69F6-4D36-83D7-E9F8E429607B}" srcOrd="7" destOrd="0" presId="urn:microsoft.com/office/officeart/2005/8/layout/process1"/>
    <dgm:cxn modelId="{41CAC434-355E-400D-9CB8-EE417A6F365D}" type="presParOf" srcId="{A46A165C-69F6-4D36-83D7-E9F8E429607B}" destId="{25E22885-B95D-4BFE-A666-B7C92B15C80E}" srcOrd="0" destOrd="0" presId="urn:microsoft.com/office/officeart/2005/8/layout/process1"/>
    <dgm:cxn modelId="{43E67AE3-C446-4AA8-B971-065086CEC80C}" type="presParOf" srcId="{3BEED126-15A5-49D7-9E54-DF76B30546CA}" destId="{7CE68024-E86D-4609-864F-7EC28563835A}" srcOrd="8"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92DCB5-28B0-48D8-BF55-4B7D3107FCD4}">
      <dsp:nvSpPr>
        <dsp:cNvPr id="0" name=""/>
        <dsp:cNvSpPr/>
      </dsp:nvSpPr>
      <dsp:spPr>
        <a:xfrm>
          <a:off x="6834" y="352688"/>
          <a:ext cx="885677" cy="1050270"/>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Data Insight</a:t>
          </a:r>
          <a:endParaRPr lang="zh-CN" altLang="en-US" sz="1800" kern="1200" dirty="0"/>
        </a:p>
      </dsp:txBody>
      <dsp:txXfrm>
        <a:off x="32775" y="378629"/>
        <a:ext cx="833795" cy="998388"/>
      </dsp:txXfrm>
    </dsp:sp>
    <dsp:sp modelId="{5B3E5855-48CF-4C2D-BB26-6D86C4871DA1}">
      <dsp:nvSpPr>
        <dsp:cNvPr id="0" name=""/>
        <dsp:cNvSpPr/>
      </dsp:nvSpPr>
      <dsp:spPr>
        <a:xfrm>
          <a:off x="981080" y="767999"/>
          <a:ext cx="187763" cy="21964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981080" y="811929"/>
        <a:ext cx="131434" cy="131788"/>
      </dsp:txXfrm>
    </dsp:sp>
    <dsp:sp modelId="{B8C3F30E-393C-438D-B262-DB4AFA9E383F}">
      <dsp:nvSpPr>
        <dsp:cNvPr id="0" name=""/>
        <dsp:cNvSpPr/>
      </dsp:nvSpPr>
      <dsp:spPr>
        <a:xfrm>
          <a:off x="1246783" y="352688"/>
          <a:ext cx="1319996" cy="1050270"/>
        </a:xfrm>
        <a:prstGeom prst="roundRect">
          <a:avLst>
            <a:gd name="adj" fmla="val 10000"/>
          </a:avLst>
        </a:prstGeom>
        <a:solidFill>
          <a:schemeClr val="accent1">
            <a:shade val="80000"/>
            <a:hueOff val="43660"/>
            <a:satOff val="-782"/>
            <a:lumOff val="33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绘制总读数 基因种类分布图</a:t>
          </a:r>
        </a:p>
      </dsp:txBody>
      <dsp:txXfrm>
        <a:off x="1277544" y="383449"/>
        <a:ext cx="1258474" cy="988748"/>
      </dsp:txXfrm>
    </dsp:sp>
    <dsp:sp modelId="{4848705B-0006-443B-A6B6-41416395AE8C}">
      <dsp:nvSpPr>
        <dsp:cNvPr id="0" name=""/>
        <dsp:cNvSpPr/>
      </dsp:nvSpPr>
      <dsp:spPr>
        <a:xfrm>
          <a:off x="2655347" y="767999"/>
          <a:ext cx="187763" cy="219648"/>
        </a:xfrm>
        <a:prstGeom prst="rightArrow">
          <a:avLst>
            <a:gd name="adj1" fmla="val 60000"/>
            <a:gd name="adj2" fmla="val 50000"/>
          </a:avLst>
        </a:prstGeom>
        <a:solidFill>
          <a:schemeClr val="accent1">
            <a:shade val="90000"/>
            <a:hueOff val="49889"/>
            <a:satOff val="-854"/>
            <a:lumOff val="342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655347" y="811929"/>
        <a:ext cx="131434" cy="131788"/>
      </dsp:txXfrm>
    </dsp:sp>
    <dsp:sp modelId="{83A023DB-DAA6-43D6-8263-C85245603E82}">
      <dsp:nvSpPr>
        <dsp:cNvPr id="0" name=""/>
        <dsp:cNvSpPr/>
      </dsp:nvSpPr>
      <dsp:spPr>
        <a:xfrm>
          <a:off x="2921050" y="352688"/>
          <a:ext cx="885677" cy="1050270"/>
        </a:xfrm>
        <a:prstGeom prst="roundRect">
          <a:avLst>
            <a:gd name="adj" fmla="val 10000"/>
          </a:avLst>
        </a:prstGeom>
        <a:solidFill>
          <a:schemeClr val="accent1">
            <a:shade val="80000"/>
            <a:hueOff val="87321"/>
            <a:satOff val="-1564"/>
            <a:lumOff val="66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筛选基因</a:t>
          </a:r>
        </a:p>
      </dsp:txBody>
      <dsp:txXfrm>
        <a:off x="2946991" y="378629"/>
        <a:ext cx="833795" cy="998388"/>
      </dsp:txXfrm>
    </dsp:sp>
    <dsp:sp modelId="{B3F11F47-026C-4E70-BC4A-88DD6B6B838A}">
      <dsp:nvSpPr>
        <dsp:cNvPr id="0" name=""/>
        <dsp:cNvSpPr/>
      </dsp:nvSpPr>
      <dsp:spPr>
        <a:xfrm>
          <a:off x="3895296" y="767999"/>
          <a:ext cx="187763" cy="219648"/>
        </a:xfrm>
        <a:prstGeom prst="rightArrow">
          <a:avLst>
            <a:gd name="adj1" fmla="val 60000"/>
            <a:gd name="adj2" fmla="val 50000"/>
          </a:avLst>
        </a:prstGeom>
        <a:solidFill>
          <a:schemeClr val="accent1">
            <a:shade val="90000"/>
            <a:hueOff val="99779"/>
            <a:satOff val="-1709"/>
            <a:lumOff val="684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895296" y="811929"/>
        <a:ext cx="131434" cy="131788"/>
      </dsp:txXfrm>
    </dsp:sp>
    <dsp:sp modelId="{9300DAAC-5297-48FE-8326-35E7D4C14DBF}">
      <dsp:nvSpPr>
        <dsp:cNvPr id="0" name=""/>
        <dsp:cNvSpPr/>
      </dsp:nvSpPr>
      <dsp:spPr>
        <a:xfrm>
          <a:off x="4160999" y="352688"/>
          <a:ext cx="885677" cy="1050270"/>
        </a:xfrm>
        <a:prstGeom prst="roundRect">
          <a:avLst>
            <a:gd name="adj" fmla="val 10000"/>
          </a:avLst>
        </a:prstGeom>
        <a:solidFill>
          <a:schemeClr val="accent1">
            <a:shade val="80000"/>
            <a:hueOff val="130981"/>
            <a:satOff val="-2346"/>
            <a:lumOff val="99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筛选细胞</a:t>
          </a:r>
        </a:p>
      </dsp:txBody>
      <dsp:txXfrm>
        <a:off x="4186940" y="378629"/>
        <a:ext cx="833795" cy="998388"/>
      </dsp:txXfrm>
    </dsp:sp>
    <dsp:sp modelId="{D659796E-3EB8-47F8-B8B6-6C29765BBF9B}">
      <dsp:nvSpPr>
        <dsp:cNvPr id="0" name=""/>
        <dsp:cNvSpPr/>
      </dsp:nvSpPr>
      <dsp:spPr>
        <a:xfrm>
          <a:off x="5135245" y="767999"/>
          <a:ext cx="187763" cy="219648"/>
        </a:xfrm>
        <a:prstGeom prst="rightArrow">
          <a:avLst>
            <a:gd name="adj1" fmla="val 60000"/>
            <a:gd name="adj2" fmla="val 50000"/>
          </a:avLst>
        </a:prstGeom>
        <a:solidFill>
          <a:schemeClr val="accent1">
            <a:shade val="90000"/>
            <a:hueOff val="149668"/>
            <a:satOff val="-2563"/>
            <a:lumOff val="102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5135245" y="811929"/>
        <a:ext cx="131434" cy="131788"/>
      </dsp:txXfrm>
    </dsp:sp>
    <dsp:sp modelId="{CC2E8AE2-BE06-4372-A739-5911CC0F4559}">
      <dsp:nvSpPr>
        <dsp:cNvPr id="0" name=""/>
        <dsp:cNvSpPr/>
      </dsp:nvSpPr>
      <dsp:spPr>
        <a:xfrm>
          <a:off x="5400948" y="352688"/>
          <a:ext cx="885677" cy="1050270"/>
        </a:xfrm>
        <a:prstGeom prst="roundRect">
          <a:avLst>
            <a:gd name="adj" fmla="val 10000"/>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0" i="0" kern="1200" dirty="0"/>
            <a:t>总读数标准化</a:t>
          </a:r>
          <a:endParaRPr lang="zh-CN" altLang="en-US" sz="1800" kern="1200" dirty="0"/>
        </a:p>
      </dsp:txBody>
      <dsp:txXfrm>
        <a:off x="5426889" y="378629"/>
        <a:ext cx="833795" cy="998388"/>
      </dsp:txXfrm>
    </dsp:sp>
    <dsp:sp modelId="{71EFB992-659B-466C-9850-B26573E2A29C}">
      <dsp:nvSpPr>
        <dsp:cNvPr id="0" name=""/>
        <dsp:cNvSpPr/>
      </dsp:nvSpPr>
      <dsp:spPr>
        <a:xfrm>
          <a:off x="6375193" y="767999"/>
          <a:ext cx="187763" cy="219648"/>
        </a:xfrm>
        <a:prstGeom prst="rightArrow">
          <a:avLst>
            <a:gd name="adj1" fmla="val 60000"/>
            <a:gd name="adj2" fmla="val 50000"/>
          </a:avLst>
        </a:prstGeom>
        <a:solidFill>
          <a:schemeClr val="accent1">
            <a:shade val="90000"/>
            <a:hueOff val="199557"/>
            <a:satOff val="-3418"/>
            <a:lumOff val="1369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6375193" y="811929"/>
        <a:ext cx="131434" cy="131788"/>
      </dsp:txXfrm>
    </dsp:sp>
    <dsp:sp modelId="{A2914C89-603B-4F8C-A6A7-C8E78C4CD1F5}">
      <dsp:nvSpPr>
        <dsp:cNvPr id="0" name=""/>
        <dsp:cNvSpPr/>
      </dsp:nvSpPr>
      <dsp:spPr>
        <a:xfrm>
          <a:off x="6640897" y="352688"/>
          <a:ext cx="885677" cy="1050270"/>
        </a:xfrm>
        <a:prstGeom prst="roundRect">
          <a:avLst>
            <a:gd name="adj" fmla="val 10000"/>
          </a:avLst>
        </a:prstGeom>
        <a:solidFill>
          <a:schemeClr val="accent1">
            <a:shade val="80000"/>
            <a:hueOff val="218302"/>
            <a:satOff val="-3910"/>
            <a:lumOff val="166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对数化</a:t>
          </a:r>
        </a:p>
      </dsp:txBody>
      <dsp:txXfrm>
        <a:off x="6666838" y="378629"/>
        <a:ext cx="833795" cy="998388"/>
      </dsp:txXfrm>
    </dsp:sp>
    <dsp:sp modelId="{55BE866F-7F6C-4141-BE07-B5F12E7D9920}">
      <dsp:nvSpPr>
        <dsp:cNvPr id="0" name=""/>
        <dsp:cNvSpPr/>
      </dsp:nvSpPr>
      <dsp:spPr>
        <a:xfrm>
          <a:off x="7615142" y="767999"/>
          <a:ext cx="187763" cy="219648"/>
        </a:xfrm>
        <a:prstGeom prst="rightArrow">
          <a:avLst>
            <a:gd name="adj1" fmla="val 60000"/>
            <a:gd name="adj2" fmla="val 50000"/>
          </a:avLst>
        </a:prstGeom>
        <a:solidFill>
          <a:schemeClr val="accent1">
            <a:shade val="90000"/>
            <a:hueOff val="249447"/>
            <a:satOff val="-4272"/>
            <a:lumOff val="1711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7615142" y="811929"/>
        <a:ext cx="131434" cy="131788"/>
      </dsp:txXfrm>
    </dsp:sp>
    <dsp:sp modelId="{50F07D39-442C-4DB7-9D63-A24147A956B4}">
      <dsp:nvSpPr>
        <dsp:cNvPr id="0" name=""/>
        <dsp:cNvSpPr/>
      </dsp:nvSpPr>
      <dsp:spPr>
        <a:xfrm>
          <a:off x="7880846" y="352688"/>
          <a:ext cx="1233961" cy="1050270"/>
        </a:xfrm>
        <a:prstGeom prst="roundRect">
          <a:avLst>
            <a:gd name="adj" fmla="val 10000"/>
          </a:avLst>
        </a:prstGeom>
        <a:solidFill>
          <a:schemeClr val="accent1">
            <a:shade val="80000"/>
            <a:hueOff val="261962"/>
            <a:satOff val="-4692"/>
            <a:lumOff val="199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Combat</a:t>
          </a:r>
          <a:r>
            <a:rPr lang="zh-CN" altLang="en-US" sz="1800" kern="1200" dirty="0"/>
            <a:t>或</a:t>
          </a:r>
          <a:r>
            <a:rPr lang="en-US" altLang="zh-CN" sz="1800" kern="1200" dirty="0" err="1"/>
            <a:t>mnn</a:t>
          </a:r>
          <a:r>
            <a:rPr lang="zh-CN" altLang="en-US" sz="1800" kern="1200" dirty="0"/>
            <a:t>批次矫正</a:t>
          </a:r>
        </a:p>
      </dsp:txBody>
      <dsp:txXfrm>
        <a:off x="7911607" y="383449"/>
        <a:ext cx="1172439" cy="988748"/>
      </dsp:txXfrm>
    </dsp:sp>
    <dsp:sp modelId="{9EFC45E3-23AC-4E51-B3A8-4C78FA66C7D4}">
      <dsp:nvSpPr>
        <dsp:cNvPr id="0" name=""/>
        <dsp:cNvSpPr/>
      </dsp:nvSpPr>
      <dsp:spPr>
        <a:xfrm>
          <a:off x="9203375" y="767999"/>
          <a:ext cx="187763" cy="219648"/>
        </a:xfrm>
        <a:prstGeom prst="rightArrow">
          <a:avLst>
            <a:gd name="adj1" fmla="val 60000"/>
            <a:gd name="adj2" fmla="val 50000"/>
          </a:avLst>
        </a:prstGeom>
        <a:solidFill>
          <a:schemeClr val="accent1">
            <a:shade val="90000"/>
            <a:hueOff val="299336"/>
            <a:satOff val="-5127"/>
            <a:lumOff val="2053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9203375" y="811929"/>
        <a:ext cx="131434" cy="131788"/>
      </dsp:txXfrm>
    </dsp:sp>
    <dsp:sp modelId="{30CD3B3C-75CE-42A9-BF7B-D94016CC8540}">
      <dsp:nvSpPr>
        <dsp:cNvPr id="0" name=""/>
        <dsp:cNvSpPr/>
      </dsp:nvSpPr>
      <dsp:spPr>
        <a:xfrm>
          <a:off x="9469078" y="352688"/>
          <a:ext cx="885677" cy="1050270"/>
        </a:xfrm>
        <a:prstGeom prst="roundRect">
          <a:avLst>
            <a:gd name="adj" fmla="val 10000"/>
          </a:avLst>
        </a:prstGeom>
        <a:solidFill>
          <a:schemeClr val="accent1">
            <a:shade val="80000"/>
            <a:hueOff val="305622"/>
            <a:satOff val="-5474"/>
            <a:lumOff val="232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归一化</a:t>
          </a:r>
        </a:p>
      </dsp:txBody>
      <dsp:txXfrm>
        <a:off x="9495019" y="378629"/>
        <a:ext cx="833795" cy="998388"/>
      </dsp:txXfrm>
    </dsp:sp>
    <dsp:sp modelId="{7BE9ABC0-6ADA-4A04-926F-1522508A8E75}">
      <dsp:nvSpPr>
        <dsp:cNvPr id="0" name=""/>
        <dsp:cNvSpPr/>
      </dsp:nvSpPr>
      <dsp:spPr>
        <a:xfrm>
          <a:off x="10443324" y="767999"/>
          <a:ext cx="187763" cy="219648"/>
        </a:xfrm>
        <a:prstGeom prst="rightArrow">
          <a:avLst>
            <a:gd name="adj1" fmla="val 60000"/>
            <a:gd name="adj2" fmla="val 50000"/>
          </a:avLst>
        </a:prstGeom>
        <a:solidFill>
          <a:schemeClr val="accent1">
            <a:shade val="90000"/>
            <a:hueOff val="349225"/>
            <a:satOff val="-5981"/>
            <a:lumOff val="2396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p>
      </dsp:txBody>
      <dsp:txXfrm>
        <a:off x="10443324" y="811929"/>
        <a:ext cx="131434" cy="131788"/>
      </dsp:txXfrm>
    </dsp:sp>
    <dsp:sp modelId="{84C4DE89-12D1-4AFF-BF99-54318E6F9AAD}">
      <dsp:nvSpPr>
        <dsp:cNvPr id="0" name=""/>
        <dsp:cNvSpPr/>
      </dsp:nvSpPr>
      <dsp:spPr>
        <a:xfrm>
          <a:off x="10709027" y="352688"/>
          <a:ext cx="885677" cy="1050270"/>
        </a:xfrm>
        <a:prstGeom prst="roundRect">
          <a:avLst>
            <a:gd name="adj" fmla="val 10000"/>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获得可靠数据集</a:t>
          </a:r>
        </a:p>
      </dsp:txBody>
      <dsp:txXfrm>
        <a:off x="10734968" y="378629"/>
        <a:ext cx="833795" cy="998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2EDCEF-63C3-4746-AED0-F20B00958CC8}">
      <dsp:nvSpPr>
        <dsp:cNvPr id="0" name=""/>
        <dsp:cNvSpPr/>
      </dsp:nvSpPr>
      <dsp:spPr>
        <a:xfrm>
          <a:off x="3919" y="361192"/>
          <a:ext cx="1722103" cy="1033262"/>
        </a:xfrm>
        <a:prstGeom prst="roundRect">
          <a:avLst>
            <a:gd name="adj" fmla="val 10000"/>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UMAP</a:t>
          </a:r>
          <a:r>
            <a:rPr lang="zh-CN" altLang="en-US" sz="1800" kern="1200" dirty="0"/>
            <a:t>降维</a:t>
          </a:r>
        </a:p>
      </dsp:txBody>
      <dsp:txXfrm>
        <a:off x="34182" y="391455"/>
        <a:ext cx="1661577" cy="972736"/>
      </dsp:txXfrm>
    </dsp:sp>
    <dsp:sp modelId="{595DC51A-3AFC-42E3-8F49-2CF915C3F986}">
      <dsp:nvSpPr>
        <dsp:cNvPr id="0" name=""/>
        <dsp:cNvSpPr/>
      </dsp:nvSpPr>
      <dsp:spPr>
        <a:xfrm>
          <a:off x="1898233" y="664283"/>
          <a:ext cx="365085" cy="427081"/>
        </a:xfrm>
        <a:prstGeom prst="rightArrow">
          <a:avLst>
            <a:gd name="adj1" fmla="val 60000"/>
            <a:gd name="adj2" fmla="val 50000"/>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1898233" y="749699"/>
        <a:ext cx="255560" cy="256249"/>
      </dsp:txXfrm>
    </dsp:sp>
    <dsp:sp modelId="{34BCE7E3-88C6-48D6-86FF-04DBCA27ECE9}">
      <dsp:nvSpPr>
        <dsp:cNvPr id="0" name=""/>
        <dsp:cNvSpPr/>
      </dsp:nvSpPr>
      <dsp:spPr>
        <a:xfrm>
          <a:off x="2414864" y="361192"/>
          <a:ext cx="1949920" cy="1033262"/>
        </a:xfrm>
        <a:prstGeom prst="roundRect">
          <a:avLst>
            <a:gd name="adj" fmla="val 10000"/>
          </a:avLst>
        </a:prstGeom>
        <a:solidFill>
          <a:schemeClr val="accent2">
            <a:shade val="80000"/>
            <a:hueOff val="-120354"/>
            <a:satOff val="2542"/>
            <a:lumOff val="67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ForceAtlas2</a:t>
          </a:r>
          <a:r>
            <a:rPr lang="zh-CN" altLang="en-US" sz="1800" kern="1200" dirty="0"/>
            <a:t>降维</a:t>
          </a:r>
        </a:p>
      </dsp:txBody>
      <dsp:txXfrm>
        <a:off x="2445127" y="391455"/>
        <a:ext cx="1889394" cy="972736"/>
      </dsp:txXfrm>
    </dsp:sp>
    <dsp:sp modelId="{E88E2E01-11DB-4BE4-A68D-EB8A10BC06BE}">
      <dsp:nvSpPr>
        <dsp:cNvPr id="0" name=""/>
        <dsp:cNvSpPr/>
      </dsp:nvSpPr>
      <dsp:spPr>
        <a:xfrm>
          <a:off x="4536995" y="664283"/>
          <a:ext cx="365085" cy="427081"/>
        </a:xfrm>
        <a:prstGeom prst="rightArrow">
          <a:avLst>
            <a:gd name="adj1" fmla="val 60000"/>
            <a:gd name="adj2" fmla="val 50000"/>
          </a:avLst>
        </a:prstGeom>
        <a:solidFill>
          <a:schemeClr val="accent2">
            <a:shade val="90000"/>
            <a:hueOff val="-160484"/>
            <a:satOff val="805"/>
            <a:lumOff val="808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4536995" y="749699"/>
        <a:ext cx="255560" cy="256249"/>
      </dsp:txXfrm>
    </dsp:sp>
    <dsp:sp modelId="{29CA230E-CB8D-428D-A17E-417A29F16454}">
      <dsp:nvSpPr>
        <dsp:cNvPr id="0" name=""/>
        <dsp:cNvSpPr/>
      </dsp:nvSpPr>
      <dsp:spPr>
        <a:xfrm>
          <a:off x="5053626" y="361192"/>
          <a:ext cx="1722103" cy="1033262"/>
        </a:xfrm>
        <a:prstGeom prst="roundRect">
          <a:avLst>
            <a:gd name="adj" fmla="val 10000"/>
          </a:avLst>
        </a:prstGeom>
        <a:solidFill>
          <a:schemeClr val="accent2">
            <a:shade val="80000"/>
            <a:hueOff val="-240708"/>
            <a:satOff val="5083"/>
            <a:lumOff val="135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DPT</a:t>
          </a:r>
          <a:r>
            <a:rPr lang="zh-CN" altLang="en-US" sz="1800" kern="1200" dirty="0"/>
            <a:t>绘制拟时间轴</a:t>
          </a:r>
        </a:p>
      </dsp:txBody>
      <dsp:txXfrm>
        <a:off x="5083889" y="391455"/>
        <a:ext cx="1661577" cy="972736"/>
      </dsp:txXfrm>
    </dsp:sp>
    <dsp:sp modelId="{B328A919-EE26-4EBD-B484-804767D206AC}">
      <dsp:nvSpPr>
        <dsp:cNvPr id="0" name=""/>
        <dsp:cNvSpPr/>
      </dsp:nvSpPr>
      <dsp:spPr>
        <a:xfrm>
          <a:off x="6947940" y="664283"/>
          <a:ext cx="365085" cy="427081"/>
        </a:xfrm>
        <a:prstGeom prst="rightArrow">
          <a:avLst>
            <a:gd name="adj1" fmla="val 60000"/>
            <a:gd name="adj2" fmla="val 50000"/>
          </a:avLst>
        </a:prstGeom>
        <a:solidFill>
          <a:schemeClr val="accent2">
            <a:shade val="90000"/>
            <a:hueOff val="-320968"/>
            <a:satOff val="1611"/>
            <a:lumOff val="1617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6947940" y="749699"/>
        <a:ext cx="255560" cy="256249"/>
      </dsp:txXfrm>
    </dsp:sp>
    <dsp:sp modelId="{6D8BBC55-0F94-4779-B05A-0B93E1951958}">
      <dsp:nvSpPr>
        <dsp:cNvPr id="0" name=""/>
        <dsp:cNvSpPr/>
      </dsp:nvSpPr>
      <dsp:spPr>
        <a:xfrm>
          <a:off x="7464571" y="361192"/>
          <a:ext cx="1722103" cy="1033262"/>
        </a:xfrm>
        <a:prstGeom prst="roundRect">
          <a:avLst>
            <a:gd name="adj" fmla="val 10000"/>
          </a:avLst>
        </a:prstGeom>
        <a:solidFill>
          <a:schemeClr val="accent2">
            <a:shade val="80000"/>
            <a:hueOff val="-361061"/>
            <a:satOff val="7625"/>
            <a:lumOff val="203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明确发育路径</a:t>
          </a:r>
        </a:p>
      </dsp:txBody>
      <dsp:txXfrm>
        <a:off x="7494834" y="391455"/>
        <a:ext cx="1661577" cy="972736"/>
      </dsp:txXfrm>
    </dsp:sp>
    <dsp:sp modelId="{415B5F7A-A455-43C3-8788-3F4471FFE3AD}">
      <dsp:nvSpPr>
        <dsp:cNvPr id="0" name=""/>
        <dsp:cNvSpPr/>
      </dsp:nvSpPr>
      <dsp:spPr>
        <a:xfrm>
          <a:off x="9358885" y="664283"/>
          <a:ext cx="365085" cy="427081"/>
        </a:xfrm>
        <a:prstGeom prst="rightArrow">
          <a:avLst>
            <a:gd name="adj1" fmla="val 60000"/>
            <a:gd name="adj2" fmla="val 50000"/>
          </a:avLst>
        </a:prstGeom>
        <a:solidFill>
          <a:schemeClr val="accent2">
            <a:shade val="90000"/>
            <a:hueOff val="-481452"/>
            <a:satOff val="2416"/>
            <a:lumOff val="2425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9358885" y="749699"/>
        <a:ext cx="255560" cy="256249"/>
      </dsp:txXfrm>
    </dsp:sp>
    <dsp:sp modelId="{6734A257-744F-41F3-A8F2-8CDD8C1820AD}">
      <dsp:nvSpPr>
        <dsp:cNvPr id="0" name=""/>
        <dsp:cNvSpPr/>
      </dsp:nvSpPr>
      <dsp:spPr>
        <a:xfrm>
          <a:off x="9875516" y="361192"/>
          <a:ext cx="1722103" cy="1033262"/>
        </a:xfrm>
        <a:prstGeom prst="roundRect">
          <a:avLst>
            <a:gd name="adj" fmla="val 10000"/>
          </a:avLst>
        </a:prstGeom>
        <a:solidFill>
          <a:schemeClr val="accent2">
            <a:shade val="80000"/>
            <a:hueOff val="-481415"/>
            <a:satOff val="10166"/>
            <a:lumOff val="270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明确发育节点</a:t>
          </a:r>
        </a:p>
      </dsp:txBody>
      <dsp:txXfrm>
        <a:off x="9905779" y="391455"/>
        <a:ext cx="1661577" cy="9727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8417B-D5EE-4D2A-87AD-B0ACDBBAB067}">
      <dsp:nvSpPr>
        <dsp:cNvPr id="0" name=""/>
        <dsp:cNvSpPr/>
      </dsp:nvSpPr>
      <dsp:spPr>
        <a:xfrm>
          <a:off x="10787" y="125579"/>
          <a:ext cx="1624214" cy="1159725"/>
        </a:xfrm>
        <a:prstGeom prst="roundRect">
          <a:avLst>
            <a:gd name="adj" fmla="val 10000"/>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选择目标节点细胞类别</a:t>
          </a:r>
        </a:p>
      </dsp:txBody>
      <dsp:txXfrm>
        <a:off x="44754" y="159546"/>
        <a:ext cx="1556280" cy="1091791"/>
      </dsp:txXfrm>
    </dsp:sp>
    <dsp:sp modelId="{EEF9D82C-EED8-4FDD-B305-55D267A88BD8}">
      <dsp:nvSpPr>
        <dsp:cNvPr id="0" name=""/>
        <dsp:cNvSpPr/>
      </dsp:nvSpPr>
      <dsp:spPr>
        <a:xfrm>
          <a:off x="1797423" y="504039"/>
          <a:ext cx="344333" cy="402805"/>
        </a:xfrm>
        <a:prstGeom prst="rightArrow">
          <a:avLst>
            <a:gd name="adj1" fmla="val 60000"/>
            <a:gd name="adj2" fmla="val 50000"/>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1797423" y="584600"/>
        <a:ext cx="241033" cy="241683"/>
      </dsp:txXfrm>
    </dsp:sp>
    <dsp:sp modelId="{428C2EEA-76F5-4CCF-86FC-226FF068299D}">
      <dsp:nvSpPr>
        <dsp:cNvPr id="0" name=""/>
        <dsp:cNvSpPr/>
      </dsp:nvSpPr>
      <dsp:spPr>
        <a:xfrm>
          <a:off x="2284687" y="125579"/>
          <a:ext cx="1891153" cy="1159725"/>
        </a:xfrm>
        <a:prstGeom prst="roundRect">
          <a:avLst>
            <a:gd name="adj" fmla="val 10000"/>
          </a:avLst>
        </a:prstGeom>
        <a:solidFill>
          <a:schemeClr val="accent6">
            <a:shade val="80000"/>
            <a:hueOff val="80320"/>
            <a:satOff val="-3227"/>
            <a:lumOff val="69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显著性检验筛选得到差异基因列表</a:t>
          </a:r>
        </a:p>
      </dsp:txBody>
      <dsp:txXfrm>
        <a:off x="2318654" y="159546"/>
        <a:ext cx="1823219" cy="1091791"/>
      </dsp:txXfrm>
    </dsp:sp>
    <dsp:sp modelId="{F02E448F-4FBD-4851-A098-BA7B33770F0A}">
      <dsp:nvSpPr>
        <dsp:cNvPr id="0" name=""/>
        <dsp:cNvSpPr/>
      </dsp:nvSpPr>
      <dsp:spPr>
        <a:xfrm>
          <a:off x="4338262" y="504039"/>
          <a:ext cx="344333" cy="402805"/>
        </a:xfrm>
        <a:prstGeom prst="rightArrow">
          <a:avLst>
            <a:gd name="adj1" fmla="val 60000"/>
            <a:gd name="adj2" fmla="val 50000"/>
          </a:avLst>
        </a:prstGeom>
        <a:solidFill>
          <a:schemeClr val="accent6">
            <a:shade val="90000"/>
            <a:hueOff val="107129"/>
            <a:satOff val="-4218"/>
            <a:lumOff val="839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4338262" y="584600"/>
        <a:ext cx="241033" cy="241683"/>
      </dsp:txXfrm>
    </dsp:sp>
    <dsp:sp modelId="{B987AACD-EFF8-47C1-B2B3-C70B04478B60}">
      <dsp:nvSpPr>
        <dsp:cNvPr id="0" name=""/>
        <dsp:cNvSpPr/>
      </dsp:nvSpPr>
      <dsp:spPr>
        <a:xfrm>
          <a:off x="4825526" y="125579"/>
          <a:ext cx="2217425" cy="1159725"/>
        </a:xfrm>
        <a:prstGeom prst="roundRect">
          <a:avLst>
            <a:gd name="adj" fmla="val 10000"/>
          </a:avLst>
        </a:prstGeom>
        <a:solidFill>
          <a:schemeClr val="accent6">
            <a:shade val="80000"/>
            <a:hueOff val="160640"/>
            <a:satOff val="-6455"/>
            <a:lumOff val="138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差异基因可视化</a:t>
          </a:r>
          <a:endParaRPr lang="en-US" altLang="zh-CN" sz="1800" kern="1200" dirty="0"/>
        </a:p>
        <a:p>
          <a:pPr marL="0" lvl="0" indent="0" algn="ctr" defTabSz="800100">
            <a:lnSpc>
              <a:spcPct val="90000"/>
            </a:lnSpc>
            <a:spcBef>
              <a:spcPct val="0"/>
            </a:spcBef>
            <a:spcAft>
              <a:spcPct val="35000"/>
            </a:spcAft>
            <a:buNone/>
          </a:pPr>
          <a:r>
            <a:rPr lang="zh-CN" altLang="en-US" sz="1800" kern="1200" dirty="0"/>
            <a:t>（火山图、小提琴图）</a:t>
          </a:r>
        </a:p>
      </dsp:txBody>
      <dsp:txXfrm>
        <a:off x="4859493" y="159546"/>
        <a:ext cx="2149491" cy="1091791"/>
      </dsp:txXfrm>
    </dsp:sp>
    <dsp:sp modelId="{26D01656-DA54-42DF-83F9-795FF0079E94}">
      <dsp:nvSpPr>
        <dsp:cNvPr id="0" name=""/>
        <dsp:cNvSpPr/>
      </dsp:nvSpPr>
      <dsp:spPr>
        <a:xfrm>
          <a:off x="7205374" y="504039"/>
          <a:ext cx="344333" cy="402805"/>
        </a:xfrm>
        <a:prstGeom prst="rightArrow">
          <a:avLst>
            <a:gd name="adj1" fmla="val 60000"/>
            <a:gd name="adj2" fmla="val 50000"/>
          </a:avLst>
        </a:prstGeom>
        <a:solidFill>
          <a:schemeClr val="accent6">
            <a:shade val="90000"/>
            <a:hueOff val="214258"/>
            <a:satOff val="-8435"/>
            <a:lumOff val="167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7205374" y="584600"/>
        <a:ext cx="241033" cy="241683"/>
      </dsp:txXfrm>
    </dsp:sp>
    <dsp:sp modelId="{64FC8DBE-64B9-4C9B-ADF4-92DF14226E20}">
      <dsp:nvSpPr>
        <dsp:cNvPr id="0" name=""/>
        <dsp:cNvSpPr/>
      </dsp:nvSpPr>
      <dsp:spPr>
        <a:xfrm>
          <a:off x="7692638" y="125579"/>
          <a:ext cx="1624214" cy="1159725"/>
        </a:xfrm>
        <a:prstGeom prst="roundRect">
          <a:avLst>
            <a:gd name="adj" fmla="val 10000"/>
          </a:avLst>
        </a:prstGeom>
        <a:solidFill>
          <a:schemeClr val="accent6">
            <a:shade val="80000"/>
            <a:hueOff val="240960"/>
            <a:satOff val="-9682"/>
            <a:lumOff val="207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差异基因富集功能注释聚类</a:t>
          </a:r>
        </a:p>
      </dsp:txBody>
      <dsp:txXfrm>
        <a:off x="7726605" y="159546"/>
        <a:ext cx="1556280" cy="1091791"/>
      </dsp:txXfrm>
    </dsp:sp>
    <dsp:sp modelId="{A46A165C-69F6-4D36-83D7-E9F8E429607B}">
      <dsp:nvSpPr>
        <dsp:cNvPr id="0" name=""/>
        <dsp:cNvSpPr/>
      </dsp:nvSpPr>
      <dsp:spPr>
        <a:xfrm>
          <a:off x="9479273" y="504039"/>
          <a:ext cx="344333" cy="402805"/>
        </a:xfrm>
        <a:prstGeom prst="rightArrow">
          <a:avLst>
            <a:gd name="adj1" fmla="val 60000"/>
            <a:gd name="adj2" fmla="val 50000"/>
          </a:avLst>
        </a:prstGeom>
        <a:solidFill>
          <a:schemeClr val="accent6">
            <a:shade val="90000"/>
            <a:hueOff val="321387"/>
            <a:satOff val="-12653"/>
            <a:lumOff val="2518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9479273" y="584600"/>
        <a:ext cx="241033" cy="241683"/>
      </dsp:txXfrm>
    </dsp:sp>
    <dsp:sp modelId="{7CE68024-E86D-4609-864F-7EC28563835A}">
      <dsp:nvSpPr>
        <dsp:cNvPr id="0" name=""/>
        <dsp:cNvSpPr/>
      </dsp:nvSpPr>
      <dsp:spPr>
        <a:xfrm>
          <a:off x="9966537" y="125579"/>
          <a:ext cx="1624214" cy="1159725"/>
        </a:xfrm>
        <a:prstGeom prst="roundRect">
          <a:avLst>
            <a:gd name="adj" fmla="val 10000"/>
          </a:avLst>
        </a:prstGeom>
        <a:solidFill>
          <a:schemeClr val="accent6">
            <a:shade val="80000"/>
            <a:hueOff val="321280"/>
            <a:satOff val="-12909"/>
            <a:lumOff val="27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对节点上下游细胞功能差异初步了解</a:t>
          </a:r>
        </a:p>
      </dsp:txBody>
      <dsp:txXfrm>
        <a:off x="10000504" y="159546"/>
        <a:ext cx="1556280" cy="109179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C1D47E-6376-4AFF-B30E-791383D2F2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E7B0630-0AF8-4395-BCFE-9458D15775C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78F0F8-F951-4CF1-91A1-7B56F60E6A97}" type="datetimeFigureOut">
              <a:rPr lang="zh-CN" altLang="en-US" smtClean="0"/>
              <a:t>2025/4/16</a:t>
            </a:fld>
            <a:endParaRPr lang="zh-CN" altLang="en-US"/>
          </a:p>
        </p:txBody>
      </p:sp>
      <p:sp>
        <p:nvSpPr>
          <p:cNvPr id="4" name="页脚占位符 3">
            <a:extLst>
              <a:ext uri="{FF2B5EF4-FFF2-40B4-BE49-F238E27FC236}">
                <a16:creationId xmlns:a16="http://schemas.microsoft.com/office/drawing/2014/main" id="{984ADECE-BC48-4C2F-94FD-58DA048B93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B2A37FA-600E-4815-B1A3-72B4DFE0BE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62B142-5AC6-4F57-A5D1-6FC6D6DEAF6D}" type="slidenum">
              <a:rPr lang="zh-CN" altLang="en-US" smtClean="0"/>
              <a:t>‹#›</a:t>
            </a:fld>
            <a:endParaRPr lang="zh-CN" altLang="en-US"/>
          </a:p>
        </p:txBody>
      </p:sp>
    </p:spTree>
    <p:extLst>
      <p:ext uri="{BB962C8B-B14F-4D97-AF65-F5344CB8AC3E}">
        <p14:creationId xmlns:p14="http://schemas.microsoft.com/office/powerpoint/2010/main" val="3789331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D74B9-B2A3-4F51-953E-3FE8F263AECC}"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C1B67-ADA9-4A10-B15B-EFBFFF8A222B}" type="slidenum">
              <a:rPr lang="zh-CN" altLang="en-US" smtClean="0"/>
              <a:t>‹#›</a:t>
            </a:fld>
            <a:endParaRPr lang="zh-CN" altLang="en-US"/>
          </a:p>
        </p:txBody>
      </p:sp>
    </p:spTree>
    <p:extLst>
      <p:ext uri="{BB962C8B-B14F-4D97-AF65-F5344CB8AC3E}">
        <p14:creationId xmlns:p14="http://schemas.microsoft.com/office/powerpoint/2010/main" val="286482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幻灯片">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9F68356-81E2-4606-BFA6-2E9C928F92EA}"/>
              </a:ext>
            </a:extLst>
          </p:cNvPr>
          <p:cNvSpPr/>
          <p:nvPr userDrawn="1"/>
        </p:nvSpPr>
        <p:spPr>
          <a:xfrm>
            <a:off x="249084" y="796964"/>
            <a:ext cx="10847294" cy="45719"/>
          </a:xfrm>
          <a:prstGeom prst="rect">
            <a:avLst/>
          </a:prstGeom>
          <a:solidFill>
            <a:schemeClr val="accent2">
              <a:lumMod val="60000"/>
              <a:lumOff val="40000"/>
            </a:schemeClr>
          </a:solidFill>
          <a:ln>
            <a:noFill/>
          </a:ln>
          <a:effectLst>
            <a:outerShdw blurRad="50800" dist="38100" dir="8100000" algn="t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40000"/>
                  <a:lumOff val="60000"/>
                </a:schemeClr>
              </a:solidFill>
            </a:endParaRPr>
          </a:p>
        </p:txBody>
      </p:sp>
      <p:pic>
        <p:nvPicPr>
          <p:cNvPr id="1026" name="Picture 2">
            <a:extLst>
              <a:ext uri="{FF2B5EF4-FFF2-40B4-BE49-F238E27FC236}">
                <a16:creationId xmlns:a16="http://schemas.microsoft.com/office/drawing/2014/main" id="{958413FE-FC1B-4854-A636-AEC1BFEE3F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76189" y="70386"/>
            <a:ext cx="774847" cy="77229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4B267A1-B211-4F6F-9B70-BD18521D159A}"/>
              </a:ext>
            </a:extLst>
          </p:cNvPr>
          <p:cNvSpPr/>
          <p:nvPr userDrawn="1"/>
        </p:nvSpPr>
        <p:spPr>
          <a:xfrm>
            <a:off x="0" y="6454588"/>
            <a:ext cx="12192000" cy="403412"/>
          </a:xfrm>
          <a:prstGeom prst="rect">
            <a:avLst/>
          </a:prstGeom>
          <a:solidFill>
            <a:schemeClr val="accent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736D7D6-D7F6-42EA-9BC7-8C8105FECC1C}"/>
              </a:ext>
            </a:extLst>
          </p:cNvPr>
          <p:cNvSpPr txBox="1"/>
          <p:nvPr userDrawn="1"/>
        </p:nvSpPr>
        <p:spPr>
          <a:xfrm>
            <a:off x="0" y="6471628"/>
            <a:ext cx="6925294" cy="369332"/>
          </a:xfrm>
          <a:prstGeom prst="rect">
            <a:avLst/>
          </a:prstGeom>
          <a:noFill/>
        </p:spPr>
        <p:txBody>
          <a:bodyPr wrap="none" rtlCol="0">
            <a:spAutoFit/>
          </a:bodyPr>
          <a:lstStyle/>
          <a:p>
            <a:r>
              <a:rPr lang="zh-CN" altLang="en-US" b="1" dirty="0">
                <a:solidFill>
                  <a:schemeClr val="bg1"/>
                </a:solidFill>
                <a:latin typeface="黑体" panose="02010609060101010101" pitchFamily="49" charset="-122"/>
                <a:ea typeface="黑体" panose="02010609060101010101" pitchFamily="49" charset="-122"/>
              </a:rPr>
              <a:t>利用单细胞测序技术研究中胚层细胞的命运决定过程</a:t>
            </a:r>
            <a:r>
              <a:rPr lang="en-US" altLang="zh-CN" b="1" dirty="0">
                <a:solidFill>
                  <a:schemeClr val="bg1"/>
                </a:solidFill>
                <a:latin typeface="黑体" panose="02010609060101010101" pitchFamily="49" charset="-122"/>
                <a:ea typeface="黑体" panose="02010609060101010101" pitchFamily="49" charset="-122"/>
              </a:rPr>
              <a:t>——</a:t>
            </a:r>
            <a:r>
              <a:rPr lang="zh-CN" altLang="en-US" b="1" dirty="0">
                <a:solidFill>
                  <a:schemeClr val="bg1"/>
                </a:solidFill>
                <a:latin typeface="黑体" panose="02010609060101010101" pitchFamily="49" charset="-122"/>
                <a:ea typeface="黑体" panose="02010609060101010101" pitchFamily="49" charset="-122"/>
              </a:rPr>
              <a:t>中期答辩</a:t>
            </a:r>
          </a:p>
        </p:txBody>
      </p:sp>
      <p:sp>
        <p:nvSpPr>
          <p:cNvPr id="7" name="文本框 6">
            <a:extLst>
              <a:ext uri="{FF2B5EF4-FFF2-40B4-BE49-F238E27FC236}">
                <a16:creationId xmlns:a16="http://schemas.microsoft.com/office/drawing/2014/main" id="{1631FC79-5FA6-4193-B63A-373C411D5C6B}"/>
              </a:ext>
            </a:extLst>
          </p:cNvPr>
          <p:cNvSpPr txBox="1"/>
          <p:nvPr userDrawn="1"/>
        </p:nvSpPr>
        <p:spPr>
          <a:xfrm>
            <a:off x="7949492" y="6488668"/>
            <a:ext cx="4242508" cy="369332"/>
          </a:xfrm>
          <a:prstGeom prst="rect">
            <a:avLst/>
          </a:prstGeom>
          <a:noFill/>
        </p:spPr>
        <p:txBody>
          <a:bodyPr wrap="none" rtlCol="0">
            <a:spAutoFit/>
          </a:bodyPr>
          <a:lstStyle/>
          <a:p>
            <a:r>
              <a:rPr lang="zh-CN" altLang="en-US" b="1" baseline="0" dirty="0">
                <a:solidFill>
                  <a:schemeClr val="bg1"/>
                </a:solidFill>
                <a:latin typeface="Calibri" panose="020F0502020204030204" pitchFamily="34" charset="0"/>
                <a:ea typeface="黑体" panose="02010609060101010101" pitchFamily="49" charset="-122"/>
              </a:rPr>
              <a:t>化生</a:t>
            </a:r>
            <a:r>
              <a:rPr lang="en-US" altLang="zh-CN" b="1" baseline="0" dirty="0">
                <a:solidFill>
                  <a:schemeClr val="bg1"/>
                </a:solidFill>
                <a:latin typeface="Calibri" panose="020F0502020204030204" pitchFamily="34" charset="0"/>
                <a:ea typeface="黑体" panose="02010609060101010101" pitchFamily="49" charset="-122"/>
              </a:rPr>
              <a:t>2101 </a:t>
            </a:r>
            <a:r>
              <a:rPr lang="zh-CN" altLang="en-US" b="1" baseline="0" dirty="0">
                <a:solidFill>
                  <a:schemeClr val="bg1"/>
                </a:solidFill>
                <a:latin typeface="Calibri" panose="020F0502020204030204" pitchFamily="34" charset="0"/>
                <a:ea typeface="黑体" panose="02010609060101010101" pitchFamily="49" charset="-122"/>
              </a:rPr>
              <a:t>刘般若 </a:t>
            </a:r>
            <a:r>
              <a:rPr lang="en-US" altLang="zh-CN" b="1" baseline="0" dirty="0">
                <a:solidFill>
                  <a:schemeClr val="bg1"/>
                </a:solidFill>
                <a:latin typeface="Calibri" panose="020F0502020204030204" pitchFamily="34" charset="0"/>
                <a:ea typeface="黑体" panose="02010609060101010101" pitchFamily="49" charset="-122"/>
              </a:rPr>
              <a:t>banruo@stu.xjtu.edu.cn</a:t>
            </a:r>
            <a:endParaRPr lang="zh-CN" altLang="en-US" b="1" baseline="0" dirty="0">
              <a:solidFill>
                <a:schemeClr val="bg1"/>
              </a:solidFill>
              <a:latin typeface="Calibri" panose="020F0502020204030204" pitchFamily="34" charset="0"/>
              <a:ea typeface="黑体" panose="02010609060101010101" pitchFamily="49" charset="-122"/>
            </a:endParaRPr>
          </a:p>
        </p:txBody>
      </p:sp>
      <p:sp>
        <p:nvSpPr>
          <p:cNvPr id="18" name="文本占位符 17">
            <a:extLst>
              <a:ext uri="{FF2B5EF4-FFF2-40B4-BE49-F238E27FC236}">
                <a16:creationId xmlns:a16="http://schemas.microsoft.com/office/drawing/2014/main" id="{313F14E8-7D33-4ED4-B105-EE18D0B64756}"/>
              </a:ext>
            </a:extLst>
          </p:cNvPr>
          <p:cNvSpPr>
            <a:spLocks noGrp="1"/>
          </p:cNvSpPr>
          <p:nvPr>
            <p:ph type="body" sz="quarter" idx="10"/>
          </p:nvPr>
        </p:nvSpPr>
        <p:spPr>
          <a:xfrm>
            <a:off x="249084" y="-9741"/>
            <a:ext cx="6558116" cy="602011"/>
          </a:xfrm>
          <a:prstGeom prst="rect">
            <a:avLst/>
          </a:prstGeom>
        </p:spPr>
        <p:txBody>
          <a:bodyPr/>
          <a:lstStyle>
            <a:lvl1pPr marL="0" indent="0">
              <a:buNone/>
              <a:defRPr sz="3600">
                <a:latin typeface="黑体" panose="02010609060101010101" pitchFamily="49" charset="-122"/>
                <a:ea typeface="黑体" panose="02010609060101010101" pitchFamily="49" charset="-122"/>
              </a:defRPr>
            </a:lvl1pPr>
          </a:lstStyle>
          <a:p>
            <a:pPr lvl="0"/>
            <a:r>
              <a:rPr lang="zh-CN" altLang="en-US" dirty="0"/>
              <a:t>单击此处编辑母版文本样式</a:t>
            </a:r>
          </a:p>
        </p:txBody>
      </p:sp>
      <p:sp>
        <p:nvSpPr>
          <p:cNvPr id="24" name="文本占位符 23">
            <a:extLst>
              <a:ext uri="{FF2B5EF4-FFF2-40B4-BE49-F238E27FC236}">
                <a16:creationId xmlns:a16="http://schemas.microsoft.com/office/drawing/2014/main" id="{F6DA9D76-4C8F-4E94-A6FF-1429F6226C72}"/>
              </a:ext>
            </a:extLst>
          </p:cNvPr>
          <p:cNvSpPr>
            <a:spLocks noGrp="1"/>
          </p:cNvSpPr>
          <p:nvPr>
            <p:ph type="body" sz="quarter" idx="11"/>
          </p:nvPr>
        </p:nvSpPr>
        <p:spPr>
          <a:xfrm>
            <a:off x="249084" y="949252"/>
            <a:ext cx="10847294" cy="4849703"/>
          </a:xfrm>
          <a:prstGeom prst="rect">
            <a:avLst/>
          </a:prstGeom>
        </p:spPr>
        <p:txBody>
          <a:bodyPr/>
          <a:lstStyle>
            <a:lvl1pPr>
              <a:defRPr baseline="0">
                <a:latin typeface="Calibri" panose="020F0502020204030204" pitchFamily="34" charset="0"/>
                <a:ea typeface="宋体" panose="02010600030101010101" pitchFamily="2" charset="-122"/>
              </a:defRPr>
            </a:lvl1pPr>
            <a:lvl2pPr>
              <a:defRPr baseline="0">
                <a:latin typeface="Calibri" panose="020F0502020204030204" pitchFamily="34" charset="0"/>
                <a:ea typeface="宋体" panose="02010600030101010101" pitchFamily="2" charset="-122"/>
              </a:defRPr>
            </a:lvl2pPr>
            <a:lvl3pPr>
              <a:defRPr baseline="0">
                <a:latin typeface="Calibri" panose="020F0502020204030204" pitchFamily="34" charset="0"/>
                <a:ea typeface="宋体" panose="02010600030101010101" pitchFamily="2" charset="-122"/>
              </a:defRPr>
            </a:lvl3pPr>
            <a:lvl4pPr>
              <a:defRPr baseline="0">
                <a:latin typeface="Calibri" panose="020F0502020204030204" pitchFamily="34" charset="0"/>
                <a:ea typeface="宋体" panose="02010600030101010101" pitchFamily="2" charset="-122"/>
              </a:defRPr>
            </a:lvl4pPr>
            <a:lvl5pPr>
              <a:defRPr baseline="0">
                <a:latin typeface="Calibri" panose="020F0502020204030204" pitchFamily="34" charset="0"/>
                <a:ea typeface="宋体" panose="0201060003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7" name="内容占位符 26">
            <a:extLst>
              <a:ext uri="{FF2B5EF4-FFF2-40B4-BE49-F238E27FC236}">
                <a16:creationId xmlns:a16="http://schemas.microsoft.com/office/drawing/2014/main" id="{1FB46DF8-009B-4E33-A829-7907791812AF}"/>
              </a:ext>
            </a:extLst>
          </p:cNvPr>
          <p:cNvSpPr>
            <a:spLocks noGrp="1"/>
          </p:cNvSpPr>
          <p:nvPr>
            <p:ph sz="quarter" idx="12"/>
          </p:nvPr>
        </p:nvSpPr>
        <p:spPr>
          <a:xfrm>
            <a:off x="249084" y="5833035"/>
            <a:ext cx="11910074" cy="529327"/>
          </a:xfrm>
          <a:prstGeom prst="rect">
            <a:avLst/>
          </a:prstGeom>
        </p:spPr>
        <p:txBody>
          <a:bodyPr/>
          <a:lstStyle>
            <a:lvl1pPr>
              <a:defRPr sz="1400">
                <a:latin typeface="Arial" panose="020B0604020202020204" pitchFamily="34" charset="0"/>
                <a:cs typeface="Arial" panose="020B0604020202020204" pitchFamily="34" charset="0"/>
              </a:defRPr>
            </a:lvl1pPr>
          </a:lstStyle>
          <a:p>
            <a:pPr lvl="0"/>
            <a:endParaRPr lang="zh-CN" altLang="en-US" dirty="0"/>
          </a:p>
        </p:txBody>
      </p:sp>
    </p:spTree>
    <p:extLst>
      <p:ext uri="{BB962C8B-B14F-4D97-AF65-F5344CB8AC3E}">
        <p14:creationId xmlns:p14="http://schemas.microsoft.com/office/powerpoint/2010/main" val="3628998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幻灯片1">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9F68356-81E2-4606-BFA6-2E9C928F92EA}"/>
              </a:ext>
            </a:extLst>
          </p:cNvPr>
          <p:cNvSpPr/>
          <p:nvPr userDrawn="1"/>
        </p:nvSpPr>
        <p:spPr>
          <a:xfrm>
            <a:off x="249084" y="759829"/>
            <a:ext cx="10847294" cy="45719"/>
          </a:xfrm>
          <a:prstGeom prst="rect">
            <a:avLst/>
          </a:prstGeom>
          <a:solidFill>
            <a:schemeClr val="accent2">
              <a:lumMod val="60000"/>
              <a:lumOff val="40000"/>
            </a:schemeClr>
          </a:solidFill>
          <a:ln>
            <a:noFill/>
          </a:ln>
          <a:effectLst>
            <a:outerShdw blurRad="50800" dist="38100" dir="8100000" algn="tr"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40000"/>
                  <a:lumOff val="60000"/>
                </a:schemeClr>
              </a:solidFill>
            </a:endParaRPr>
          </a:p>
        </p:txBody>
      </p:sp>
      <p:pic>
        <p:nvPicPr>
          <p:cNvPr id="1026" name="Picture 2">
            <a:extLst>
              <a:ext uri="{FF2B5EF4-FFF2-40B4-BE49-F238E27FC236}">
                <a16:creationId xmlns:a16="http://schemas.microsoft.com/office/drawing/2014/main" id="{958413FE-FC1B-4854-A636-AEC1BFEE3F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75169" y="70385"/>
            <a:ext cx="675868" cy="67364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4B267A1-B211-4F6F-9B70-BD18521D159A}"/>
              </a:ext>
            </a:extLst>
          </p:cNvPr>
          <p:cNvSpPr/>
          <p:nvPr userDrawn="1"/>
        </p:nvSpPr>
        <p:spPr>
          <a:xfrm>
            <a:off x="0" y="6454588"/>
            <a:ext cx="12192000" cy="403412"/>
          </a:xfrm>
          <a:prstGeom prst="rect">
            <a:avLst/>
          </a:prstGeom>
          <a:solidFill>
            <a:schemeClr val="accent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736D7D6-D7F6-42EA-9BC7-8C8105FECC1C}"/>
              </a:ext>
            </a:extLst>
          </p:cNvPr>
          <p:cNvSpPr txBox="1"/>
          <p:nvPr userDrawn="1"/>
        </p:nvSpPr>
        <p:spPr>
          <a:xfrm>
            <a:off x="0" y="6471628"/>
            <a:ext cx="6925294" cy="369332"/>
          </a:xfrm>
          <a:prstGeom prst="rect">
            <a:avLst/>
          </a:prstGeom>
          <a:noFill/>
        </p:spPr>
        <p:txBody>
          <a:bodyPr wrap="none" rtlCol="0">
            <a:spAutoFit/>
          </a:bodyPr>
          <a:lstStyle/>
          <a:p>
            <a:r>
              <a:rPr lang="zh-CN" altLang="en-US" b="1" dirty="0">
                <a:solidFill>
                  <a:schemeClr val="bg1"/>
                </a:solidFill>
                <a:latin typeface="黑体" panose="02010609060101010101" pitchFamily="49" charset="-122"/>
                <a:ea typeface="黑体" panose="02010609060101010101" pitchFamily="49" charset="-122"/>
              </a:rPr>
              <a:t>利用单细胞测序技术研究中胚层细胞的命运决定过程</a:t>
            </a:r>
            <a:r>
              <a:rPr lang="en-US" altLang="zh-CN" b="1" dirty="0">
                <a:solidFill>
                  <a:schemeClr val="bg1"/>
                </a:solidFill>
                <a:latin typeface="黑体" panose="02010609060101010101" pitchFamily="49" charset="-122"/>
                <a:ea typeface="黑体" panose="02010609060101010101" pitchFamily="49" charset="-122"/>
              </a:rPr>
              <a:t>——</a:t>
            </a:r>
            <a:r>
              <a:rPr lang="zh-CN" altLang="en-US" b="1" dirty="0">
                <a:solidFill>
                  <a:schemeClr val="bg1"/>
                </a:solidFill>
                <a:latin typeface="黑体" panose="02010609060101010101" pitchFamily="49" charset="-122"/>
                <a:ea typeface="黑体" panose="02010609060101010101" pitchFamily="49" charset="-122"/>
              </a:rPr>
              <a:t>中期答辩</a:t>
            </a:r>
          </a:p>
        </p:txBody>
      </p:sp>
      <p:sp>
        <p:nvSpPr>
          <p:cNvPr id="7" name="文本框 6">
            <a:extLst>
              <a:ext uri="{FF2B5EF4-FFF2-40B4-BE49-F238E27FC236}">
                <a16:creationId xmlns:a16="http://schemas.microsoft.com/office/drawing/2014/main" id="{1631FC79-5FA6-4193-B63A-373C411D5C6B}"/>
              </a:ext>
            </a:extLst>
          </p:cNvPr>
          <p:cNvSpPr txBox="1"/>
          <p:nvPr userDrawn="1"/>
        </p:nvSpPr>
        <p:spPr>
          <a:xfrm>
            <a:off x="7949492" y="6488668"/>
            <a:ext cx="4242508" cy="369332"/>
          </a:xfrm>
          <a:prstGeom prst="rect">
            <a:avLst/>
          </a:prstGeom>
          <a:noFill/>
        </p:spPr>
        <p:txBody>
          <a:bodyPr wrap="none" rtlCol="0">
            <a:spAutoFit/>
          </a:bodyPr>
          <a:lstStyle/>
          <a:p>
            <a:r>
              <a:rPr lang="zh-CN" altLang="en-US" b="1" baseline="0" dirty="0">
                <a:solidFill>
                  <a:schemeClr val="bg1"/>
                </a:solidFill>
                <a:latin typeface="Calibri" panose="020F0502020204030204" pitchFamily="34" charset="0"/>
                <a:ea typeface="黑体" panose="02010609060101010101" pitchFamily="49" charset="-122"/>
              </a:rPr>
              <a:t>化生</a:t>
            </a:r>
            <a:r>
              <a:rPr lang="en-US" altLang="zh-CN" b="1" baseline="0" dirty="0">
                <a:solidFill>
                  <a:schemeClr val="bg1"/>
                </a:solidFill>
                <a:latin typeface="Calibri" panose="020F0502020204030204" pitchFamily="34" charset="0"/>
                <a:ea typeface="黑体" panose="02010609060101010101" pitchFamily="49" charset="-122"/>
              </a:rPr>
              <a:t>2101 </a:t>
            </a:r>
            <a:r>
              <a:rPr lang="zh-CN" altLang="en-US" b="1" baseline="0" dirty="0">
                <a:solidFill>
                  <a:schemeClr val="bg1"/>
                </a:solidFill>
                <a:latin typeface="Calibri" panose="020F0502020204030204" pitchFamily="34" charset="0"/>
                <a:ea typeface="黑体" panose="02010609060101010101" pitchFamily="49" charset="-122"/>
              </a:rPr>
              <a:t>刘般若 </a:t>
            </a:r>
            <a:r>
              <a:rPr lang="en-US" altLang="zh-CN" b="1" baseline="0" dirty="0">
                <a:solidFill>
                  <a:schemeClr val="bg1"/>
                </a:solidFill>
                <a:latin typeface="Calibri" panose="020F0502020204030204" pitchFamily="34" charset="0"/>
                <a:ea typeface="黑体" panose="02010609060101010101" pitchFamily="49" charset="-122"/>
              </a:rPr>
              <a:t>banruo@stu.xjtu.edu.cn</a:t>
            </a:r>
            <a:endParaRPr lang="zh-CN" altLang="en-US" b="1" baseline="0" dirty="0">
              <a:solidFill>
                <a:schemeClr val="bg1"/>
              </a:solidFill>
              <a:latin typeface="Calibri" panose="020F0502020204030204" pitchFamily="34" charset="0"/>
              <a:ea typeface="黑体" panose="02010609060101010101" pitchFamily="49" charset="-122"/>
            </a:endParaRPr>
          </a:p>
        </p:txBody>
      </p:sp>
      <p:sp>
        <p:nvSpPr>
          <p:cNvPr id="18" name="文本占位符 17">
            <a:extLst>
              <a:ext uri="{FF2B5EF4-FFF2-40B4-BE49-F238E27FC236}">
                <a16:creationId xmlns:a16="http://schemas.microsoft.com/office/drawing/2014/main" id="{313F14E8-7D33-4ED4-B105-EE18D0B64756}"/>
              </a:ext>
            </a:extLst>
          </p:cNvPr>
          <p:cNvSpPr>
            <a:spLocks noGrp="1"/>
          </p:cNvSpPr>
          <p:nvPr>
            <p:ph type="body" sz="quarter" idx="10"/>
          </p:nvPr>
        </p:nvSpPr>
        <p:spPr>
          <a:xfrm>
            <a:off x="249084" y="61906"/>
            <a:ext cx="6558116" cy="564535"/>
          </a:xfrm>
          <a:prstGeom prst="rect">
            <a:avLst/>
          </a:prstGeom>
        </p:spPr>
        <p:txBody>
          <a:bodyPr/>
          <a:lstStyle>
            <a:lvl1pPr marL="0" indent="0">
              <a:buNone/>
              <a:defRPr sz="3600">
                <a:latin typeface="黑体" panose="02010609060101010101" pitchFamily="49" charset="-122"/>
                <a:ea typeface="黑体" panose="02010609060101010101" pitchFamily="49" charset="-122"/>
              </a:defRPr>
            </a:lvl1pPr>
          </a:lstStyle>
          <a:p>
            <a:pPr lvl="0"/>
            <a:r>
              <a:rPr lang="zh-CN" altLang="en-US" dirty="0"/>
              <a:t>单击此处编辑母版文本样式</a:t>
            </a:r>
          </a:p>
        </p:txBody>
      </p:sp>
      <p:sp>
        <p:nvSpPr>
          <p:cNvPr id="8" name="文本占位符 23">
            <a:extLst>
              <a:ext uri="{FF2B5EF4-FFF2-40B4-BE49-F238E27FC236}">
                <a16:creationId xmlns:a16="http://schemas.microsoft.com/office/drawing/2014/main" id="{4A7945D6-F944-495D-B2DF-8814F25A582C}"/>
              </a:ext>
            </a:extLst>
          </p:cNvPr>
          <p:cNvSpPr>
            <a:spLocks noGrp="1"/>
          </p:cNvSpPr>
          <p:nvPr>
            <p:ph type="body" sz="quarter" idx="11"/>
          </p:nvPr>
        </p:nvSpPr>
        <p:spPr>
          <a:xfrm>
            <a:off x="249084" y="881367"/>
            <a:ext cx="10847294" cy="5467302"/>
          </a:xfrm>
          <a:prstGeom prst="rect">
            <a:avLst/>
          </a:prstGeom>
        </p:spPr>
        <p:txBody>
          <a:bodyPr/>
          <a:lstStyle>
            <a:lvl1pPr>
              <a:defRPr baseline="0">
                <a:latin typeface="Calibri" panose="020F0502020204030204" pitchFamily="34" charset="0"/>
                <a:ea typeface="宋体" panose="02010600030101010101" pitchFamily="2" charset="-122"/>
              </a:defRPr>
            </a:lvl1pPr>
            <a:lvl2pPr>
              <a:defRPr baseline="0">
                <a:latin typeface="Calibri" panose="020F0502020204030204" pitchFamily="34" charset="0"/>
                <a:ea typeface="宋体" panose="02010600030101010101" pitchFamily="2" charset="-122"/>
              </a:defRPr>
            </a:lvl2pPr>
            <a:lvl3pPr>
              <a:defRPr baseline="0">
                <a:latin typeface="Calibri" panose="020F0502020204030204" pitchFamily="34" charset="0"/>
                <a:ea typeface="宋体" panose="02010600030101010101" pitchFamily="2" charset="-122"/>
              </a:defRPr>
            </a:lvl3pPr>
            <a:lvl4pPr>
              <a:defRPr baseline="0">
                <a:latin typeface="Calibri" panose="020F0502020204030204" pitchFamily="34" charset="0"/>
                <a:ea typeface="宋体" panose="02010600030101010101" pitchFamily="2" charset="-122"/>
              </a:defRPr>
            </a:lvl4pPr>
            <a:lvl5pPr>
              <a:defRPr baseline="0">
                <a:latin typeface="Calibri" panose="020F0502020204030204" pitchFamily="34" charset="0"/>
                <a:ea typeface="宋体" panose="0201060003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4070742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58413FE-FC1B-4854-A636-AEC1BFEE3F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36179" y="70385"/>
            <a:ext cx="1014858" cy="101152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4B267A1-B211-4F6F-9B70-BD18521D159A}"/>
              </a:ext>
            </a:extLst>
          </p:cNvPr>
          <p:cNvSpPr/>
          <p:nvPr userDrawn="1"/>
        </p:nvSpPr>
        <p:spPr>
          <a:xfrm>
            <a:off x="0" y="6454588"/>
            <a:ext cx="12192000" cy="403412"/>
          </a:xfrm>
          <a:prstGeom prst="rect">
            <a:avLst/>
          </a:prstGeom>
          <a:solidFill>
            <a:schemeClr val="accent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5736D7D6-D7F6-42EA-9BC7-8C8105FECC1C}"/>
              </a:ext>
            </a:extLst>
          </p:cNvPr>
          <p:cNvSpPr txBox="1"/>
          <p:nvPr userDrawn="1"/>
        </p:nvSpPr>
        <p:spPr>
          <a:xfrm>
            <a:off x="0" y="6471628"/>
            <a:ext cx="6925294" cy="369332"/>
          </a:xfrm>
          <a:prstGeom prst="rect">
            <a:avLst/>
          </a:prstGeom>
          <a:noFill/>
        </p:spPr>
        <p:txBody>
          <a:bodyPr wrap="none" rtlCol="0">
            <a:spAutoFit/>
          </a:bodyPr>
          <a:lstStyle/>
          <a:p>
            <a:r>
              <a:rPr lang="zh-CN" altLang="en-US" b="1" dirty="0">
                <a:solidFill>
                  <a:schemeClr val="bg1"/>
                </a:solidFill>
                <a:latin typeface="黑体" panose="02010609060101010101" pitchFamily="49" charset="-122"/>
                <a:ea typeface="黑体" panose="02010609060101010101" pitchFamily="49" charset="-122"/>
              </a:rPr>
              <a:t>利用单细胞测序技术研究中胚层细胞的命运决定过程</a:t>
            </a:r>
            <a:r>
              <a:rPr lang="en-US" altLang="zh-CN" b="1" dirty="0">
                <a:solidFill>
                  <a:schemeClr val="bg1"/>
                </a:solidFill>
                <a:latin typeface="黑体" panose="02010609060101010101" pitchFamily="49" charset="-122"/>
                <a:ea typeface="黑体" panose="02010609060101010101" pitchFamily="49" charset="-122"/>
              </a:rPr>
              <a:t>——</a:t>
            </a:r>
            <a:r>
              <a:rPr lang="zh-CN" altLang="en-US" b="1" dirty="0">
                <a:solidFill>
                  <a:schemeClr val="bg1"/>
                </a:solidFill>
                <a:latin typeface="黑体" panose="02010609060101010101" pitchFamily="49" charset="-122"/>
                <a:ea typeface="黑体" panose="02010609060101010101" pitchFamily="49" charset="-122"/>
              </a:rPr>
              <a:t>中期答辩</a:t>
            </a:r>
          </a:p>
        </p:txBody>
      </p:sp>
      <p:sp>
        <p:nvSpPr>
          <p:cNvPr id="7" name="文本框 6">
            <a:extLst>
              <a:ext uri="{FF2B5EF4-FFF2-40B4-BE49-F238E27FC236}">
                <a16:creationId xmlns:a16="http://schemas.microsoft.com/office/drawing/2014/main" id="{1631FC79-5FA6-4193-B63A-373C411D5C6B}"/>
              </a:ext>
            </a:extLst>
          </p:cNvPr>
          <p:cNvSpPr txBox="1"/>
          <p:nvPr userDrawn="1"/>
        </p:nvSpPr>
        <p:spPr>
          <a:xfrm>
            <a:off x="7949492" y="6488668"/>
            <a:ext cx="4242508" cy="369332"/>
          </a:xfrm>
          <a:prstGeom prst="rect">
            <a:avLst/>
          </a:prstGeom>
          <a:noFill/>
        </p:spPr>
        <p:txBody>
          <a:bodyPr wrap="none" rtlCol="0">
            <a:spAutoFit/>
          </a:bodyPr>
          <a:lstStyle/>
          <a:p>
            <a:r>
              <a:rPr lang="zh-CN" altLang="en-US" b="1" baseline="0" dirty="0">
                <a:solidFill>
                  <a:schemeClr val="bg1"/>
                </a:solidFill>
                <a:latin typeface="Calibri" panose="020F0502020204030204" pitchFamily="34" charset="0"/>
                <a:ea typeface="黑体" panose="02010609060101010101" pitchFamily="49" charset="-122"/>
              </a:rPr>
              <a:t>化生</a:t>
            </a:r>
            <a:r>
              <a:rPr lang="en-US" altLang="zh-CN" b="1" baseline="0" dirty="0">
                <a:solidFill>
                  <a:schemeClr val="bg1"/>
                </a:solidFill>
                <a:latin typeface="Calibri" panose="020F0502020204030204" pitchFamily="34" charset="0"/>
                <a:ea typeface="黑体" panose="02010609060101010101" pitchFamily="49" charset="-122"/>
              </a:rPr>
              <a:t>2101 </a:t>
            </a:r>
            <a:r>
              <a:rPr lang="zh-CN" altLang="en-US" b="1" baseline="0" dirty="0">
                <a:solidFill>
                  <a:schemeClr val="bg1"/>
                </a:solidFill>
                <a:latin typeface="Calibri" panose="020F0502020204030204" pitchFamily="34" charset="0"/>
                <a:ea typeface="黑体" panose="02010609060101010101" pitchFamily="49" charset="-122"/>
              </a:rPr>
              <a:t>刘般若 </a:t>
            </a:r>
            <a:r>
              <a:rPr lang="en-US" altLang="zh-CN" b="1" baseline="0" dirty="0">
                <a:solidFill>
                  <a:schemeClr val="bg1"/>
                </a:solidFill>
                <a:latin typeface="Calibri" panose="020F0502020204030204" pitchFamily="34" charset="0"/>
                <a:ea typeface="黑体" panose="02010609060101010101" pitchFamily="49" charset="-122"/>
              </a:rPr>
              <a:t>banruo@stu.xjtu.edu.cn</a:t>
            </a:r>
            <a:endParaRPr lang="zh-CN" altLang="en-US" b="1" baseline="0" dirty="0">
              <a:solidFill>
                <a:schemeClr val="bg1"/>
              </a:solidFill>
              <a:latin typeface="Calibri" panose="020F0502020204030204" pitchFamily="34" charset="0"/>
              <a:ea typeface="黑体" panose="02010609060101010101" pitchFamily="49" charset="-122"/>
            </a:endParaRPr>
          </a:p>
        </p:txBody>
      </p:sp>
      <p:sp>
        <p:nvSpPr>
          <p:cNvPr id="2" name="标题 1">
            <a:extLst>
              <a:ext uri="{FF2B5EF4-FFF2-40B4-BE49-F238E27FC236}">
                <a16:creationId xmlns:a16="http://schemas.microsoft.com/office/drawing/2014/main" id="{3637FA0B-6015-4D45-A11B-AF9B18C20715}"/>
              </a:ext>
            </a:extLst>
          </p:cNvPr>
          <p:cNvSpPr>
            <a:spLocks noGrp="1"/>
          </p:cNvSpPr>
          <p:nvPr>
            <p:ph type="title"/>
          </p:nvPr>
        </p:nvSpPr>
        <p:spPr>
          <a:xfrm>
            <a:off x="838200" y="1779902"/>
            <a:ext cx="10515600" cy="1325563"/>
          </a:xfrm>
          <a:prstGeom prst="rect">
            <a:avLst/>
          </a:prstGeom>
        </p:spPr>
        <p:txBody>
          <a:bodyPr/>
          <a:lstStyle>
            <a:lvl1pPr algn="ctr">
              <a:defRPr>
                <a:latin typeface="黑体" panose="02010609060101010101" pitchFamily="49" charset="-122"/>
                <a:ea typeface="黑体" panose="02010609060101010101" pitchFamily="49" charset="-122"/>
              </a:defRPr>
            </a:lvl1pPr>
          </a:lstStyle>
          <a:p>
            <a:r>
              <a:rPr lang="zh-CN" altLang="en-US"/>
              <a:t>单击此处编辑母版标题样式</a:t>
            </a:r>
          </a:p>
        </p:txBody>
      </p:sp>
    </p:spTree>
    <p:extLst>
      <p:ext uri="{BB962C8B-B14F-4D97-AF65-F5344CB8AC3E}">
        <p14:creationId xmlns:p14="http://schemas.microsoft.com/office/powerpoint/2010/main" val="2211615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1916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BE4A9-E43D-4895-8D77-23B43952247F}"/>
              </a:ext>
            </a:extLst>
          </p:cNvPr>
          <p:cNvSpPr>
            <a:spLocks noGrp="1"/>
          </p:cNvSpPr>
          <p:nvPr>
            <p:ph type="title"/>
          </p:nvPr>
        </p:nvSpPr>
        <p:spPr>
          <a:xfrm>
            <a:off x="838199" y="1566542"/>
            <a:ext cx="10515600" cy="2030098"/>
          </a:xfrm>
        </p:spPr>
        <p:txBody>
          <a:bodyPr/>
          <a:lstStyle/>
          <a:p>
            <a:r>
              <a:rPr lang="zh-CN" altLang="en-US" dirty="0"/>
              <a:t>利用单细胞测序技术研究小鼠中胚层细胞</a:t>
            </a:r>
            <a:br>
              <a:rPr lang="en-US" altLang="zh-CN" dirty="0"/>
            </a:br>
            <a:r>
              <a:rPr lang="zh-CN" altLang="en-US" dirty="0"/>
              <a:t>的命运决定过程</a:t>
            </a:r>
            <a:br>
              <a:rPr lang="en-US" altLang="zh-CN" dirty="0"/>
            </a:br>
            <a:br>
              <a:rPr lang="en-US" altLang="zh-CN" dirty="0"/>
            </a:br>
            <a:r>
              <a:rPr lang="zh-CN" altLang="en-US" sz="3600" dirty="0"/>
              <a:t>中期答辩</a:t>
            </a:r>
            <a:endParaRPr lang="zh-CN" altLang="en-US" dirty="0"/>
          </a:p>
        </p:txBody>
      </p:sp>
      <p:sp>
        <p:nvSpPr>
          <p:cNvPr id="3" name="文本框 2">
            <a:extLst>
              <a:ext uri="{FF2B5EF4-FFF2-40B4-BE49-F238E27FC236}">
                <a16:creationId xmlns:a16="http://schemas.microsoft.com/office/drawing/2014/main" id="{6C26AC1F-1CB2-43BF-85B5-2EBFECCCE747}"/>
              </a:ext>
            </a:extLst>
          </p:cNvPr>
          <p:cNvSpPr txBox="1"/>
          <p:nvPr/>
        </p:nvSpPr>
        <p:spPr>
          <a:xfrm>
            <a:off x="3631227" y="4704080"/>
            <a:ext cx="4929556" cy="707886"/>
          </a:xfrm>
          <a:prstGeom prst="rect">
            <a:avLst/>
          </a:prstGeom>
          <a:noFill/>
        </p:spPr>
        <p:txBody>
          <a:bodyPr wrap="none" rtlCol="0">
            <a:spAutoFit/>
          </a:bodyPr>
          <a:lstStyle/>
          <a:p>
            <a:pPr algn="ctr"/>
            <a:r>
              <a:rPr lang="zh-CN" altLang="en-US" sz="2000" dirty="0">
                <a:latin typeface="黑体" panose="02010609060101010101" pitchFamily="49" charset="-122"/>
                <a:ea typeface="黑体" panose="02010609060101010101" pitchFamily="49" charset="-122"/>
              </a:rPr>
              <a:t>化生</a:t>
            </a:r>
            <a:r>
              <a:rPr lang="en-US" altLang="zh-CN" sz="2000" dirty="0">
                <a:latin typeface="黑体" panose="02010609060101010101" pitchFamily="49" charset="-122"/>
                <a:ea typeface="黑体" panose="02010609060101010101" pitchFamily="49" charset="-122"/>
              </a:rPr>
              <a:t>2101 </a:t>
            </a:r>
            <a:r>
              <a:rPr lang="zh-CN" altLang="en-US" sz="2000" dirty="0">
                <a:latin typeface="黑体" panose="02010609060101010101" pitchFamily="49" charset="-122"/>
                <a:ea typeface="黑体" panose="02010609060101010101" pitchFamily="49" charset="-122"/>
              </a:rPr>
              <a:t>刘般若</a:t>
            </a: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指导老师：王然研究员</a:t>
            </a:r>
            <a:endParaRPr lang="en-US" altLang="zh-CN" sz="2000" dirty="0">
              <a:latin typeface="黑体" panose="02010609060101010101" pitchFamily="49" charset="-122"/>
              <a:ea typeface="黑体" panose="02010609060101010101" pitchFamily="49" charset="-122"/>
            </a:endParaRPr>
          </a:p>
          <a:p>
            <a:pPr algn="ctr"/>
            <a:r>
              <a:rPr lang="en-US" altLang="zh-CN" sz="2000" dirty="0">
                <a:latin typeface="黑体" panose="02010609060101010101" pitchFamily="49" charset="-122"/>
                <a:ea typeface="黑体" panose="02010609060101010101" pitchFamily="49" charset="-122"/>
              </a:rPr>
              <a:t>2025</a:t>
            </a:r>
            <a:r>
              <a:rPr lang="zh-CN" altLang="en-US" sz="2000" dirty="0">
                <a:latin typeface="黑体" panose="02010609060101010101" pitchFamily="49" charset="-122"/>
                <a:ea typeface="黑体" panose="02010609060101010101" pitchFamily="49" charset="-122"/>
              </a:rPr>
              <a:t>年</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月</a:t>
            </a:r>
            <a:r>
              <a:rPr lang="en-US" altLang="zh-CN" sz="2000" dirty="0">
                <a:latin typeface="黑体" panose="02010609060101010101" pitchFamily="49" charset="-122"/>
                <a:ea typeface="黑体" panose="02010609060101010101" pitchFamily="49" charset="-122"/>
              </a:rPr>
              <a:t>16</a:t>
            </a:r>
            <a:r>
              <a:rPr lang="zh-CN" altLang="en-US" sz="2000" dirty="0">
                <a:latin typeface="黑体" panose="02010609060101010101" pitchFamily="49" charset="-122"/>
                <a:ea typeface="黑体" panose="02010609060101010101" pitchFamily="49" charset="-122"/>
              </a:rPr>
              <a:t>日</a:t>
            </a:r>
          </a:p>
        </p:txBody>
      </p:sp>
    </p:spTree>
    <p:extLst>
      <p:ext uri="{BB962C8B-B14F-4D97-AF65-F5344CB8AC3E}">
        <p14:creationId xmlns:p14="http://schemas.microsoft.com/office/powerpoint/2010/main" val="33188356"/>
      </p:ext>
    </p:extLst>
  </p:cSld>
  <p:clrMapOvr>
    <a:masterClrMapping/>
  </p:clrMapOvr>
  <mc:AlternateContent xmlns:mc="http://schemas.openxmlformats.org/markup-compatibility/2006" xmlns:p14="http://schemas.microsoft.com/office/powerpoint/2010/main">
    <mc:Choice Requires="p14">
      <p:transition spd="slow" p14:dur="2000" advTm="23295"/>
    </mc:Choice>
    <mc:Fallback xmlns="">
      <p:transition spd="slow" advTm="2329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0276A24-47D3-47D6-B870-EC9790521405}"/>
              </a:ext>
            </a:extLst>
          </p:cNvPr>
          <p:cNvSpPr>
            <a:spLocks noGrp="1"/>
          </p:cNvSpPr>
          <p:nvPr>
            <p:ph type="body" sz="quarter" idx="10"/>
          </p:nvPr>
        </p:nvSpPr>
        <p:spPr>
          <a:xfrm>
            <a:off x="249084" y="83023"/>
            <a:ext cx="6558116" cy="564535"/>
          </a:xfrm>
        </p:spPr>
        <p:txBody>
          <a:bodyPr/>
          <a:lstStyle/>
          <a:p>
            <a:r>
              <a:rPr lang="zh-CN" altLang="en-US" dirty="0"/>
              <a:t>研究背景</a:t>
            </a:r>
          </a:p>
        </p:txBody>
      </p:sp>
      <p:sp>
        <p:nvSpPr>
          <p:cNvPr id="4" name="文本框 3">
            <a:extLst>
              <a:ext uri="{FF2B5EF4-FFF2-40B4-BE49-F238E27FC236}">
                <a16:creationId xmlns:a16="http://schemas.microsoft.com/office/drawing/2014/main" id="{96286CFC-EFF7-4EC9-BB6C-25E929E04DA4}"/>
              </a:ext>
            </a:extLst>
          </p:cNvPr>
          <p:cNvSpPr txBox="1"/>
          <p:nvPr/>
        </p:nvSpPr>
        <p:spPr>
          <a:xfrm>
            <a:off x="249084" y="955548"/>
            <a:ext cx="11455236" cy="3215311"/>
          </a:xfrm>
          <a:prstGeom prst="rect">
            <a:avLst/>
          </a:prstGeom>
          <a:noFill/>
        </p:spPr>
        <p:txBody>
          <a:bodyPr wrap="square" rtlCol="0">
            <a:spAutoFit/>
          </a:bodyPr>
          <a:lstStyle/>
          <a:p>
            <a:pPr marL="0" indent="0">
              <a:buNone/>
            </a:pPr>
            <a:r>
              <a:rPr lang="zh-CN" altLang="en-US" sz="2000" b="0" i="0" dirty="0">
                <a:solidFill>
                  <a:srgbClr val="0C0D0E"/>
                </a:solidFill>
                <a:effectLst/>
                <a:latin typeface="Calibri" panose="020F0502020204030204" pitchFamily="34" charset="0"/>
                <a:ea typeface="宋体" panose="02010600030101010101" pitchFamily="2" charset="-122"/>
              </a:rPr>
              <a:t>本课题聚焦于利用单细胞测序技术研究小鼠中胚层细胞的命运决定过程。中胚层是胚胎发育中的关键胚层，其细胞命运决定涉及复杂的基因调控网络和信号通路，对后续器官形成和功能建立至关重要。传统群体测序方法无法捕捉单个细胞的异质性，而单细胞测序技术能够在单细胞分辨率下揭示基因表达动态，为研究细胞命运决定提供了强大工具。通过分析小鼠早期胚胎发育过程中中胚层细胞的单细胞转录组数据，本课题旨在重建细胞发育轨迹，识别驱动细胞命运决定的关键基因和调控因子。结合拟时间分析等方法，</a:t>
            </a:r>
            <a:r>
              <a:rPr lang="zh-CN" altLang="en-US" sz="2000" b="1" i="0" dirty="0">
                <a:solidFill>
                  <a:srgbClr val="0C0D0E"/>
                </a:solidFill>
                <a:effectLst/>
                <a:latin typeface="Calibri" panose="020F0502020204030204" pitchFamily="34" charset="0"/>
                <a:ea typeface="宋体" panose="02010600030101010101" pitchFamily="2" charset="-122"/>
              </a:rPr>
              <a:t>本课题将尝试找到上胚层细胞下游发育路径、尝试解析原条细胞发育节点的调控基因以及其控制的生命活动，揭示其如何从多能状态向特定谱系分化。</a:t>
            </a:r>
            <a:endParaRPr lang="en-US" altLang="zh-CN" sz="2000" b="1" i="0" dirty="0">
              <a:solidFill>
                <a:srgbClr val="0C0D0E"/>
              </a:solidFill>
              <a:effectLst/>
              <a:latin typeface="Calibri" panose="020F0502020204030204" pitchFamily="34" charset="0"/>
              <a:ea typeface="宋体" panose="02010600030101010101" pitchFamily="2" charset="-122"/>
            </a:endParaRPr>
          </a:p>
          <a:p>
            <a:pPr marL="0" indent="0">
              <a:buNone/>
            </a:pPr>
            <a:endParaRPr lang="en-US" altLang="zh-CN" sz="2000" dirty="0">
              <a:solidFill>
                <a:srgbClr val="0C0D0E"/>
              </a:solidFill>
              <a:latin typeface="Calibri" panose="020F0502020204030204" pitchFamily="34" charset="0"/>
              <a:ea typeface="宋体" panose="02010600030101010101" pitchFamily="2" charset="-122"/>
            </a:endParaRPr>
          </a:p>
          <a:p>
            <a:r>
              <a:rPr lang="zh-CN" altLang="en-US" sz="2000" dirty="0">
                <a:latin typeface="Calibri" panose="020F0502020204030204" pitchFamily="34" charset="0"/>
                <a:ea typeface="宋体" panose="02010600030101010101" pitchFamily="2" charset="-122"/>
              </a:rPr>
              <a:t>本课题数据来自论文</a:t>
            </a:r>
            <a:r>
              <a:rPr lang="en-US" altLang="zh-CN" sz="2000" dirty="0">
                <a:latin typeface="Calibri" panose="020F0502020204030204" pitchFamily="34" charset="0"/>
                <a:ea typeface="宋体" panose="02010600030101010101" pitchFamily="2" charset="-122"/>
              </a:rPr>
              <a:t>A single-cell molecular map of mouse gastrulation and early organogenesis</a:t>
            </a:r>
            <a:r>
              <a:rPr lang="zh-CN" altLang="en-US" sz="2000" dirty="0">
                <a:latin typeface="Calibri" panose="020F0502020204030204" pitchFamily="34" charset="0"/>
                <a:ea typeface="宋体" panose="02010600030101010101" pitchFamily="2" charset="-122"/>
              </a:rPr>
              <a:t>发布在</a:t>
            </a:r>
            <a:r>
              <a:rPr lang="en-US" altLang="zh-CN" sz="2000" dirty="0">
                <a:solidFill>
                  <a:srgbClr val="222222"/>
                </a:solidFill>
                <a:latin typeface="Calibri" panose="020F0502020204030204" pitchFamily="34" charset="0"/>
                <a:ea typeface="宋体" panose="02010600030101010101" pitchFamily="2" charset="-122"/>
              </a:rPr>
              <a:t>Gene Expression Omnibus (GEO)</a:t>
            </a:r>
            <a:r>
              <a:rPr lang="zh-CN" altLang="en-US" sz="2000" dirty="0">
                <a:solidFill>
                  <a:srgbClr val="222222"/>
                </a:solidFill>
                <a:latin typeface="Calibri" panose="020F0502020204030204" pitchFamily="34" charset="0"/>
                <a:ea typeface="宋体" panose="02010600030101010101" pitchFamily="2" charset="-122"/>
              </a:rPr>
              <a:t>的数据集，索引号为</a:t>
            </a:r>
            <a:r>
              <a:rPr lang="en-US" altLang="zh-CN" sz="2000" dirty="0">
                <a:solidFill>
                  <a:srgbClr val="222222"/>
                </a:solidFill>
                <a:latin typeface="Calibri" panose="020F0502020204030204" pitchFamily="34" charset="0"/>
                <a:ea typeface="宋体" panose="02010600030101010101" pitchFamily="2" charset="-122"/>
              </a:rPr>
              <a:t>GSE87038</a:t>
            </a:r>
            <a:r>
              <a:rPr lang="zh-CN" altLang="en-US" sz="2000" dirty="0">
                <a:solidFill>
                  <a:srgbClr val="222222"/>
                </a:solidFill>
                <a:latin typeface="Calibri" panose="020F0502020204030204" pitchFamily="34" charset="0"/>
                <a:ea typeface="宋体" panose="02010600030101010101" pitchFamily="2" charset="-122"/>
              </a:rPr>
              <a:t>。</a:t>
            </a:r>
            <a:endParaRPr lang="zh-CN" altLang="en-US" sz="2000" dirty="0">
              <a:latin typeface="Calibri" panose="020F0502020204030204" pitchFamily="34" charset="0"/>
              <a:ea typeface="宋体" panose="02010600030101010101" pitchFamily="2" charset="-122"/>
            </a:endParaRPr>
          </a:p>
        </p:txBody>
      </p:sp>
      <p:grpSp>
        <p:nvGrpSpPr>
          <p:cNvPr id="5" name="组合 4">
            <a:extLst>
              <a:ext uri="{FF2B5EF4-FFF2-40B4-BE49-F238E27FC236}">
                <a16:creationId xmlns:a16="http://schemas.microsoft.com/office/drawing/2014/main" id="{3A3FA721-575D-4E3E-BA5F-B573F302BF79}"/>
              </a:ext>
            </a:extLst>
          </p:cNvPr>
          <p:cNvGrpSpPr/>
          <p:nvPr/>
        </p:nvGrpSpPr>
        <p:grpSpPr>
          <a:xfrm>
            <a:off x="1510672" y="4170859"/>
            <a:ext cx="8337700" cy="1686380"/>
            <a:chOff x="442913" y="4419600"/>
            <a:chExt cx="8037194" cy="1625600"/>
          </a:xfrm>
        </p:grpSpPr>
        <p:pic>
          <p:nvPicPr>
            <p:cNvPr id="1026" name="Picture 2" descr="Extended Data Fig. 1">
              <a:extLst>
                <a:ext uri="{FF2B5EF4-FFF2-40B4-BE49-F238E27FC236}">
                  <a16:creationId xmlns:a16="http://schemas.microsoft.com/office/drawing/2014/main" id="{F82E132C-983E-40D2-A26A-65D391C698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6296"/>
            <a:stretch/>
          </p:blipFill>
          <p:spPr bwMode="auto">
            <a:xfrm>
              <a:off x="442913" y="4419600"/>
              <a:ext cx="3989387" cy="1625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xtended Data Fig. 1">
              <a:extLst>
                <a:ext uri="{FF2B5EF4-FFF2-40B4-BE49-F238E27FC236}">
                  <a16:creationId xmlns:a16="http://schemas.microsoft.com/office/drawing/2014/main" id="{C6A1D7EA-D17F-4D5A-85B4-F66FA70F0B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148" b="52444"/>
            <a:stretch/>
          </p:blipFill>
          <p:spPr bwMode="auto">
            <a:xfrm>
              <a:off x="4490720" y="4419600"/>
              <a:ext cx="3989387" cy="160528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文本框 6">
            <a:extLst>
              <a:ext uri="{FF2B5EF4-FFF2-40B4-BE49-F238E27FC236}">
                <a16:creationId xmlns:a16="http://schemas.microsoft.com/office/drawing/2014/main" id="{48EB2A52-8FDC-4933-AFAE-AF90BFE22FE4}"/>
              </a:ext>
            </a:extLst>
          </p:cNvPr>
          <p:cNvSpPr txBox="1"/>
          <p:nvPr/>
        </p:nvSpPr>
        <p:spPr>
          <a:xfrm>
            <a:off x="249084" y="5902452"/>
            <a:ext cx="11659339" cy="461665"/>
          </a:xfrm>
          <a:prstGeom prst="rect">
            <a:avLst/>
          </a:prstGeom>
          <a:noFill/>
        </p:spPr>
        <p:txBody>
          <a:bodyPr wrap="square" rtlCol="0">
            <a:spAutoFit/>
          </a:bodyPr>
          <a:lstStyle/>
          <a:p>
            <a:r>
              <a:rPr lang="zh-CN" altLang="en-US" sz="1200" dirty="0"/>
              <a:t>图片为小鼠胚胎，来自论文</a:t>
            </a:r>
            <a:r>
              <a:rPr lang="en-US" altLang="zh-CN" sz="1200" b="0" i="0" dirty="0" err="1">
                <a:solidFill>
                  <a:srgbClr val="222222"/>
                </a:solidFill>
                <a:effectLst/>
                <a:latin typeface="-apple-system"/>
              </a:rPr>
              <a:t>Pijuan</a:t>
            </a:r>
            <a:r>
              <a:rPr lang="en-US" altLang="zh-CN" sz="1200" b="0" i="0" dirty="0">
                <a:solidFill>
                  <a:srgbClr val="222222"/>
                </a:solidFill>
                <a:effectLst/>
                <a:latin typeface="-apple-system"/>
              </a:rPr>
              <a:t>-Sala, B., Griffiths, J.A., </a:t>
            </a:r>
            <a:r>
              <a:rPr lang="en-US" altLang="zh-CN" sz="1200" b="0" i="0" dirty="0" err="1">
                <a:solidFill>
                  <a:srgbClr val="222222"/>
                </a:solidFill>
                <a:effectLst/>
                <a:latin typeface="-apple-system"/>
              </a:rPr>
              <a:t>Guibentif</a:t>
            </a:r>
            <a:r>
              <a:rPr lang="en-US" altLang="zh-CN" sz="1200" b="0" i="0" dirty="0">
                <a:solidFill>
                  <a:srgbClr val="222222"/>
                </a:solidFill>
                <a:effectLst/>
                <a:latin typeface="-apple-system"/>
              </a:rPr>
              <a:t>, C. </a:t>
            </a:r>
            <a:r>
              <a:rPr lang="en-US" altLang="zh-CN" sz="1200" b="0" i="1" dirty="0">
                <a:solidFill>
                  <a:srgbClr val="222222"/>
                </a:solidFill>
                <a:effectLst/>
                <a:latin typeface="-apple-system"/>
              </a:rPr>
              <a:t>et al.</a:t>
            </a:r>
            <a:r>
              <a:rPr lang="en-US" altLang="zh-CN" sz="1200" b="0" i="0" dirty="0">
                <a:solidFill>
                  <a:srgbClr val="222222"/>
                </a:solidFill>
                <a:effectLst/>
                <a:latin typeface="-apple-system"/>
              </a:rPr>
              <a:t> A single-cell molecular map of mouse gastrulation and early organogenesis. </a:t>
            </a:r>
            <a:r>
              <a:rPr lang="en-US" altLang="zh-CN" sz="1200" b="0" i="1" dirty="0">
                <a:solidFill>
                  <a:srgbClr val="222222"/>
                </a:solidFill>
                <a:effectLst/>
                <a:latin typeface="-apple-system"/>
              </a:rPr>
              <a:t>Nature</a:t>
            </a:r>
            <a:r>
              <a:rPr lang="en-US" altLang="zh-CN" sz="1200" b="0" i="0" dirty="0">
                <a:solidFill>
                  <a:srgbClr val="222222"/>
                </a:solidFill>
                <a:effectLst/>
                <a:latin typeface="-apple-system"/>
              </a:rPr>
              <a:t> </a:t>
            </a:r>
            <a:r>
              <a:rPr lang="en-US" altLang="zh-CN" sz="1200" b="1" i="0" dirty="0">
                <a:solidFill>
                  <a:srgbClr val="222222"/>
                </a:solidFill>
                <a:effectLst/>
                <a:latin typeface="-apple-system"/>
              </a:rPr>
              <a:t>566</a:t>
            </a:r>
            <a:r>
              <a:rPr lang="en-US" altLang="zh-CN" sz="1200" b="0" i="0" dirty="0">
                <a:solidFill>
                  <a:srgbClr val="222222"/>
                </a:solidFill>
                <a:effectLst/>
                <a:latin typeface="-apple-system"/>
              </a:rPr>
              <a:t>, 490–495 (2019). https://doi.org/10.1038/s41586-019-0933-9</a:t>
            </a:r>
            <a:endParaRPr lang="zh-CN" altLang="en-US" sz="1200" dirty="0"/>
          </a:p>
        </p:txBody>
      </p:sp>
    </p:spTree>
    <p:extLst>
      <p:ext uri="{BB962C8B-B14F-4D97-AF65-F5344CB8AC3E}">
        <p14:creationId xmlns:p14="http://schemas.microsoft.com/office/powerpoint/2010/main" val="165954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6DA859E-C283-448A-B85B-C96984E19AB4}"/>
              </a:ext>
            </a:extLst>
          </p:cNvPr>
          <p:cNvSpPr>
            <a:spLocks noGrp="1"/>
          </p:cNvSpPr>
          <p:nvPr>
            <p:ph type="body" sz="quarter" idx="10"/>
          </p:nvPr>
        </p:nvSpPr>
        <p:spPr/>
        <p:txBody>
          <a:bodyPr/>
          <a:lstStyle/>
          <a:p>
            <a:r>
              <a:rPr lang="zh-CN" altLang="en-US" dirty="0"/>
              <a:t>当前已完成的工作</a:t>
            </a:r>
          </a:p>
        </p:txBody>
      </p:sp>
      <p:sp>
        <p:nvSpPr>
          <p:cNvPr id="3" name="文本占位符 2">
            <a:extLst>
              <a:ext uri="{FF2B5EF4-FFF2-40B4-BE49-F238E27FC236}">
                <a16:creationId xmlns:a16="http://schemas.microsoft.com/office/drawing/2014/main" id="{8D17157B-EE4D-4187-BF14-CCF229ECABC8}"/>
              </a:ext>
            </a:extLst>
          </p:cNvPr>
          <p:cNvSpPr>
            <a:spLocks noGrp="1"/>
          </p:cNvSpPr>
          <p:nvPr>
            <p:ph type="body" sz="quarter" idx="11"/>
          </p:nvPr>
        </p:nvSpPr>
        <p:spPr>
          <a:xfrm>
            <a:off x="254082" y="991992"/>
            <a:ext cx="11683836" cy="5317368"/>
          </a:xfrm>
        </p:spPr>
        <p:txBody>
          <a:bodyPr/>
          <a:lstStyle/>
          <a:p>
            <a:pPr marL="514350" indent="-514350">
              <a:buFont typeface="+mj-lt"/>
              <a:buAutoNum type="arabicPeriod"/>
            </a:pPr>
            <a:r>
              <a:rPr lang="zh-CN" altLang="en-US" sz="2400" dirty="0">
                <a:latin typeface="+mn-lt"/>
              </a:rPr>
              <a:t>搭建了一套单细胞分析工作流。包含数据预处理、质量控制工作流，数据降维发育路径表征工作流，差异基因富集功能注释聚类工作流。</a:t>
            </a:r>
          </a:p>
          <a:p>
            <a:pPr marL="514350" indent="-514350">
              <a:buFont typeface="+mj-lt"/>
              <a:buAutoNum type="arabicPeriod"/>
            </a:pPr>
            <a:r>
              <a:rPr lang="zh-CN" altLang="en-US" sz="2400" dirty="0">
                <a:latin typeface="+mn-lt"/>
              </a:rPr>
              <a:t>找到了小鼠胚胎细胞</a:t>
            </a:r>
            <a:r>
              <a:rPr lang="en-US" altLang="zh-CN" sz="2400" dirty="0">
                <a:latin typeface="+mn-lt"/>
              </a:rPr>
              <a:t>E6.5-E7.5</a:t>
            </a:r>
            <a:r>
              <a:rPr lang="zh-CN" altLang="en-US" sz="2400" dirty="0">
                <a:latin typeface="+mn-lt"/>
              </a:rPr>
              <a:t>期的发育路径，和湿实验吻合。 路径为：上胚层</a:t>
            </a:r>
            <a:r>
              <a:rPr lang="en-US" altLang="zh-CN" sz="2400" dirty="0">
                <a:latin typeface="+mn-lt"/>
              </a:rPr>
              <a:t>——</a:t>
            </a:r>
            <a:r>
              <a:rPr lang="zh-CN" altLang="en-US" sz="2400" dirty="0">
                <a:latin typeface="+mn-lt"/>
              </a:rPr>
              <a:t>原条细胞</a:t>
            </a:r>
            <a:r>
              <a:rPr lang="en-US" altLang="zh-CN" sz="2400" dirty="0">
                <a:latin typeface="+mn-lt"/>
              </a:rPr>
              <a:t>——</a:t>
            </a:r>
            <a:r>
              <a:rPr lang="zh-CN" altLang="en-US" sz="2400" dirty="0">
                <a:latin typeface="+mn-lt"/>
              </a:rPr>
              <a:t>前原条细胞</a:t>
            </a:r>
            <a:r>
              <a:rPr lang="en-US" altLang="zh-CN" sz="2400" dirty="0">
                <a:latin typeface="+mn-lt"/>
              </a:rPr>
              <a:t>——</a:t>
            </a:r>
            <a:r>
              <a:rPr lang="zh-CN" altLang="en-US" sz="2400" dirty="0">
                <a:latin typeface="+mn-lt"/>
              </a:rPr>
              <a:t>内胚层其余组分。  上胚层</a:t>
            </a:r>
            <a:r>
              <a:rPr lang="en-US" altLang="zh-CN" sz="2400" dirty="0">
                <a:latin typeface="+mn-lt"/>
              </a:rPr>
              <a:t>——</a:t>
            </a:r>
            <a:r>
              <a:rPr lang="zh-CN" altLang="en-US" sz="2400" dirty="0">
                <a:latin typeface="+mn-lt"/>
              </a:rPr>
              <a:t>原条细胞</a:t>
            </a:r>
            <a:r>
              <a:rPr lang="en-US" altLang="zh-CN" sz="2400" dirty="0">
                <a:latin typeface="+mn-lt"/>
              </a:rPr>
              <a:t>——</a:t>
            </a:r>
            <a:r>
              <a:rPr lang="zh-CN" altLang="en-US" sz="2400" dirty="0">
                <a:latin typeface="+mn-lt"/>
              </a:rPr>
              <a:t>新生中胚层细胞</a:t>
            </a:r>
            <a:r>
              <a:rPr lang="en-US" altLang="zh-CN" sz="2400" dirty="0">
                <a:latin typeface="+mn-lt"/>
              </a:rPr>
              <a:t>——</a:t>
            </a:r>
            <a:r>
              <a:rPr lang="zh-CN" altLang="en-US" sz="2400" dirty="0">
                <a:latin typeface="+mn-lt"/>
              </a:rPr>
              <a:t>中胚层其余组分。</a:t>
            </a:r>
            <a:endParaRPr lang="en-US" altLang="zh-CN" sz="2400" dirty="0">
              <a:latin typeface="+mn-lt"/>
            </a:endParaRPr>
          </a:p>
          <a:p>
            <a:pPr marL="514350" indent="-514350">
              <a:buFont typeface="+mj-lt"/>
              <a:buAutoNum type="arabicPeriod"/>
            </a:pPr>
            <a:r>
              <a:rPr lang="zh-CN" altLang="en-US" sz="2400" dirty="0">
                <a:latin typeface="+mn-lt"/>
              </a:rPr>
              <a:t>尝试对发育路径进行拟时序分析，建立拟时轴，取得初步成果。</a:t>
            </a:r>
          </a:p>
          <a:p>
            <a:pPr marL="514350" indent="-514350">
              <a:buFont typeface="+mj-lt"/>
              <a:buAutoNum type="arabicPeriod"/>
            </a:pPr>
            <a:r>
              <a:rPr lang="zh-CN" altLang="en-US" sz="2400" dirty="0">
                <a:latin typeface="+mn-lt"/>
              </a:rPr>
              <a:t>由</a:t>
            </a:r>
            <a:r>
              <a:rPr lang="en-US" altLang="zh-CN" sz="2400" dirty="0">
                <a:latin typeface="+mn-lt"/>
              </a:rPr>
              <a:t>2</a:t>
            </a:r>
            <a:r>
              <a:rPr lang="zh-CN" altLang="en-US" sz="2400" dirty="0">
                <a:latin typeface="+mn-lt"/>
              </a:rPr>
              <a:t>可知，原条细胞为关键发育节点。对原条细胞下游两类细胞进行显著性检验，找到了一系列差异基因。对差异基因进行可视化，并且将基因表达映射到整条发育路径上。</a:t>
            </a:r>
          </a:p>
          <a:p>
            <a:pPr marL="514350" indent="-514350">
              <a:buFont typeface="+mj-lt"/>
              <a:buAutoNum type="arabicPeriod"/>
            </a:pPr>
            <a:r>
              <a:rPr lang="zh-CN" altLang="en-US" sz="2400" dirty="0">
                <a:latin typeface="+mn-lt"/>
              </a:rPr>
              <a:t>在</a:t>
            </a:r>
            <a:r>
              <a:rPr lang="en-US" altLang="zh-CN" sz="2400" dirty="0">
                <a:latin typeface="+mn-lt"/>
              </a:rPr>
              <a:t>4</a:t>
            </a:r>
            <a:r>
              <a:rPr lang="zh-CN" altLang="en-US" sz="2400" dirty="0">
                <a:latin typeface="+mn-lt"/>
              </a:rPr>
              <a:t>的基础上，进行了基因本体论（</a:t>
            </a:r>
            <a:r>
              <a:rPr lang="en-US" altLang="zh-CN" sz="2400" dirty="0">
                <a:latin typeface="+mn-lt"/>
              </a:rPr>
              <a:t>GO</a:t>
            </a:r>
            <a:r>
              <a:rPr lang="zh-CN" altLang="en-US" sz="2400" dirty="0">
                <a:latin typeface="+mn-lt"/>
              </a:rPr>
              <a:t>）分析，对差异基因列表进行功能注释，并且从中筛选出相较于小鼠全基因背景，在差异基因列表中富集的基因功能。这可能代表了上下游细胞之间生命活动的差异。</a:t>
            </a:r>
            <a:endParaRPr lang="en-US" altLang="zh-CN" sz="2400" dirty="0">
              <a:latin typeface="+mn-lt"/>
            </a:endParaRPr>
          </a:p>
          <a:p>
            <a:pPr marL="514350" indent="-514350">
              <a:buFont typeface="+mj-lt"/>
              <a:buAutoNum type="arabicPeriod"/>
            </a:pPr>
            <a:r>
              <a:rPr lang="zh-CN" altLang="en-US" sz="2400" dirty="0">
                <a:latin typeface="+mn-lt"/>
              </a:rPr>
              <a:t>整理了为了完成上述工作开发的代码，并完善了代码注释和文档说明，上传至</a:t>
            </a:r>
            <a:r>
              <a:rPr lang="en-US" altLang="zh-CN" sz="2400" dirty="0">
                <a:latin typeface="+mn-lt"/>
              </a:rPr>
              <a:t>GitHub:</a:t>
            </a:r>
            <a:r>
              <a:rPr lang="zh-CN" altLang="en-US" sz="2400" dirty="0">
                <a:latin typeface="+mn-lt"/>
              </a:rPr>
              <a:t> </a:t>
            </a:r>
            <a:r>
              <a:rPr lang="en-US" altLang="zh-CN" sz="2400" dirty="0">
                <a:latin typeface="+mn-lt"/>
              </a:rPr>
              <a:t>https://github.com/herminyliu/sc-fyp</a:t>
            </a:r>
          </a:p>
          <a:p>
            <a:pPr marL="514350" indent="-514350">
              <a:buFont typeface="+mj-lt"/>
              <a:buAutoNum type="arabicPeriod"/>
            </a:pPr>
            <a:endParaRPr lang="en-US" altLang="zh-CN" sz="2400" dirty="0">
              <a:latin typeface="+mn-lt"/>
            </a:endParaRPr>
          </a:p>
          <a:p>
            <a:pPr marL="514350" indent="-514350">
              <a:buFont typeface="+mj-lt"/>
              <a:buAutoNum type="arabicPeriod"/>
            </a:pPr>
            <a:endParaRPr lang="en-US" altLang="zh-CN" sz="2400" dirty="0">
              <a:latin typeface="+mn-lt"/>
            </a:endParaRPr>
          </a:p>
          <a:p>
            <a:pPr marL="514350" indent="-514350">
              <a:buFont typeface="+mj-lt"/>
              <a:buAutoNum type="arabicPeriod"/>
            </a:pPr>
            <a:endParaRPr lang="zh-CN" altLang="en-US" sz="2400" dirty="0">
              <a:latin typeface="+mn-lt"/>
            </a:endParaRPr>
          </a:p>
        </p:txBody>
      </p:sp>
    </p:spTree>
    <p:extLst>
      <p:ext uri="{BB962C8B-B14F-4D97-AF65-F5344CB8AC3E}">
        <p14:creationId xmlns:p14="http://schemas.microsoft.com/office/powerpoint/2010/main" val="3700562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B0E63CD-9E46-40CE-9785-6BCA90A77720}"/>
              </a:ext>
            </a:extLst>
          </p:cNvPr>
          <p:cNvSpPr>
            <a:spLocks noGrp="1"/>
          </p:cNvSpPr>
          <p:nvPr>
            <p:ph type="body" sz="quarter" idx="10"/>
          </p:nvPr>
        </p:nvSpPr>
        <p:spPr/>
        <p:txBody>
          <a:bodyPr/>
          <a:lstStyle/>
          <a:p>
            <a:r>
              <a:rPr lang="zh-CN" altLang="en-US" dirty="0"/>
              <a:t>单细胞数据分析工作流</a:t>
            </a:r>
          </a:p>
        </p:txBody>
      </p:sp>
      <p:graphicFrame>
        <p:nvGraphicFramePr>
          <p:cNvPr id="5" name="图示 4">
            <a:extLst>
              <a:ext uri="{FF2B5EF4-FFF2-40B4-BE49-F238E27FC236}">
                <a16:creationId xmlns:a16="http://schemas.microsoft.com/office/drawing/2014/main" id="{83997A81-D480-421F-8927-62EA4180D24C}"/>
              </a:ext>
            </a:extLst>
          </p:cNvPr>
          <p:cNvGraphicFramePr/>
          <p:nvPr>
            <p:extLst>
              <p:ext uri="{D42A27DB-BD31-4B8C-83A1-F6EECF244321}">
                <p14:modId xmlns:p14="http://schemas.microsoft.com/office/powerpoint/2010/main" val="2771613529"/>
              </p:ext>
            </p:extLst>
          </p:nvPr>
        </p:nvGraphicFramePr>
        <p:xfrm>
          <a:off x="249084" y="1115568"/>
          <a:ext cx="11601540" cy="175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图示 5">
            <a:extLst>
              <a:ext uri="{FF2B5EF4-FFF2-40B4-BE49-F238E27FC236}">
                <a16:creationId xmlns:a16="http://schemas.microsoft.com/office/drawing/2014/main" id="{74ABF375-1CB9-4E6D-B41F-B8102D1EC477}"/>
              </a:ext>
            </a:extLst>
          </p:cNvPr>
          <p:cNvGraphicFramePr/>
          <p:nvPr>
            <p:extLst>
              <p:ext uri="{D42A27DB-BD31-4B8C-83A1-F6EECF244321}">
                <p14:modId xmlns:p14="http://schemas.microsoft.com/office/powerpoint/2010/main" val="4129755242"/>
              </p:ext>
            </p:extLst>
          </p:nvPr>
        </p:nvGraphicFramePr>
        <p:xfrm>
          <a:off x="249084" y="3014721"/>
          <a:ext cx="11601540" cy="17556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文本框 11">
            <a:extLst>
              <a:ext uri="{FF2B5EF4-FFF2-40B4-BE49-F238E27FC236}">
                <a16:creationId xmlns:a16="http://schemas.microsoft.com/office/drawing/2014/main" id="{21A602EC-6CBD-43B3-B57B-716952477082}"/>
              </a:ext>
            </a:extLst>
          </p:cNvPr>
          <p:cNvSpPr txBox="1"/>
          <p:nvPr/>
        </p:nvSpPr>
        <p:spPr>
          <a:xfrm>
            <a:off x="249084" y="887535"/>
            <a:ext cx="3570208" cy="461665"/>
          </a:xfrm>
          <a:prstGeom prst="rect">
            <a:avLst/>
          </a:prstGeom>
          <a:noFill/>
        </p:spPr>
        <p:txBody>
          <a:bodyPr wrap="none" rtlCol="0">
            <a:spAutoFit/>
          </a:bodyPr>
          <a:lstStyle/>
          <a:p>
            <a:r>
              <a:rPr lang="zh-CN" altLang="en-US" sz="2400" b="1" dirty="0"/>
              <a:t>质量控制、预处理工作流</a:t>
            </a:r>
          </a:p>
        </p:txBody>
      </p:sp>
      <p:sp>
        <p:nvSpPr>
          <p:cNvPr id="13" name="文本框 12">
            <a:extLst>
              <a:ext uri="{FF2B5EF4-FFF2-40B4-BE49-F238E27FC236}">
                <a16:creationId xmlns:a16="http://schemas.microsoft.com/office/drawing/2014/main" id="{B5A7FAE6-D84F-40E8-B89F-710F0E2D5517}"/>
              </a:ext>
            </a:extLst>
          </p:cNvPr>
          <p:cNvSpPr txBox="1"/>
          <p:nvPr/>
        </p:nvSpPr>
        <p:spPr>
          <a:xfrm>
            <a:off x="249084" y="2871216"/>
            <a:ext cx="3262432" cy="461665"/>
          </a:xfrm>
          <a:prstGeom prst="rect">
            <a:avLst/>
          </a:prstGeom>
          <a:noFill/>
        </p:spPr>
        <p:txBody>
          <a:bodyPr wrap="none" rtlCol="0">
            <a:spAutoFit/>
          </a:bodyPr>
          <a:lstStyle/>
          <a:p>
            <a:r>
              <a:rPr lang="zh-CN" altLang="en-US" sz="2400" b="1" dirty="0"/>
              <a:t>发育路径可视化工作流</a:t>
            </a:r>
          </a:p>
        </p:txBody>
      </p:sp>
      <p:graphicFrame>
        <p:nvGraphicFramePr>
          <p:cNvPr id="14" name="图示 13">
            <a:extLst>
              <a:ext uri="{FF2B5EF4-FFF2-40B4-BE49-F238E27FC236}">
                <a16:creationId xmlns:a16="http://schemas.microsoft.com/office/drawing/2014/main" id="{A77654A6-67F0-403D-84B0-FC24105E7F88}"/>
              </a:ext>
            </a:extLst>
          </p:cNvPr>
          <p:cNvGraphicFramePr/>
          <p:nvPr>
            <p:extLst>
              <p:ext uri="{D42A27DB-BD31-4B8C-83A1-F6EECF244321}">
                <p14:modId xmlns:p14="http://schemas.microsoft.com/office/powerpoint/2010/main" val="2537646989"/>
              </p:ext>
            </p:extLst>
          </p:nvPr>
        </p:nvGraphicFramePr>
        <p:xfrm>
          <a:off x="249084" y="4972284"/>
          <a:ext cx="11601540" cy="141088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5" name="文本框 14">
            <a:extLst>
              <a:ext uri="{FF2B5EF4-FFF2-40B4-BE49-F238E27FC236}">
                <a16:creationId xmlns:a16="http://schemas.microsoft.com/office/drawing/2014/main" id="{182B5C32-11FE-42E1-AF1E-86B44168303B}"/>
              </a:ext>
            </a:extLst>
          </p:cNvPr>
          <p:cNvSpPr txBox="1"/>
          <p:nvPr/>
        </p:nvSpPr>
        <p:spPr>
          <a:xfrm>
            <a:off x="249084" y="4595147"/>
            <a:ext cx="3570208" cy="461665"/>
          </a:xfrm>
          <a:prstGeom prst="rect">
            <a:avLst/>
          </a:prstGeom>
          <a:noFill/>
        </p:spPr>
        <p:txBody>
          <a:bodyPr wrap="none" rtlCol="0">
            <a:spAutoFit/>
          </a:bodyPr>
          <a:lstStyle/>
          <a:p>
            <a:r>
              <a:rPr lang="zh-CN" altLang="en-US" sz="2400" b="1" dirty="0"/>
              <a:t>差异基因表征注释工作流</a:t>
            </a:r>
          </a:p>
        </p:txBody>
      </p:sp>
    </p:spTree>
    <p:extLst>
      <p:ext uri="{BB962C8B-B14F-4D97-AF65-F5344CB8AC3E}">
        <p14:creationId xmlns:p14="http://schemas.microsoft.com/office/powerpoint/2010/main" val="2319510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F3903CE-C778-4209-B740-EA62B2EA491E}"/>
              </a:ext>
            </a:extLst>
          </p:cNvPr>
          <p:cNvSpPr>
            <a:spLocks noGrp="1"/>
          </p:cNvSpPr>
          <p:nvPr>
            <p:ph type="body" sz="quarter" idx="10"/>
          </p:nvPr>
        </p:nvSpPr>
        <p:spPr/>
        <p:txBody>
          <a:bodyPr/>
          <a:lstStyle/>
          <a:p>
            <a:r>
              <a:rPr lang="zh-CN" altLang="en-US" dirty="0"/>
              <a:t>数据分布情况</a:t>
            </a:r>
          </a:p>
        </p:txBody>
      </p:sp>
      <p:sp>
        <p:nvSpPr>
          <p:cNvPr id="14" name="文本框 13">
            <a:extLst>
              <a:ext uri="{FF2B5EF4-FFF2-40B4-BE49-F238E27FC236}">
                <a16:creationId xmlns:a16="http://schemas.microsoft.com/office/drawing/2014/main" id="{D0905A11-3944-40C1-85F3-40A6F0A1853F}"/>
              </a:ext>
            </a:extLst>
          </p:cNvPr>
          <p:cNvSpPr txBox="1"/>
          <p:nvPr/>
        </p:nvSpPr>
        <p:spPr>
          <a:xfrm>
            <a:off x="8825709" y="4342620"/>
            <a:ext cx="3020660"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t>单细胞内读数在</a:t>
            </a:r>
            <a:r>
              <a:rPr lang="en-US" altLang="zh-CN" sz="2000" b="1" dirty="0"/>
              <a:t>3000-75000reads</a:t>
            </a:r>
            <a:r>
              <a:rPr lang="zh-CN" altLang="en-US" sz="2000" dirty="0"/>
              <a:t>之间</a:t>
            </a:r>
            <a:endParaRPr lang="en-US" altLang="zh-CN" sz="2000" dirty="0"/>
          </a:p>
          <a:p>
            <a:pPr marL="342900" indent="-342900">
              <a:buFont typeface="Arial" panose="020B0604020202020204" pitchFamily="34" charset="0"/>
              <a:buChar char="•"/>
            </a:pPr>
            <a:r>
              <a:rPr lang="zh-CN" altLang="en-US" sz="2000" dirty="0"/>
              <a:t>单细胞内检测到基因种类在</a:t>
            </a:r>
            <a:r>
              <a:rPr lang="en-US" altLang="zh-CN" sz="2000" b="1" dirty="0"/>
              <a:t>1000-6000</a:t>
            </a:r>
            <a:r>
              <a:rPr lang="zh-CN" altLang="en-US" sz="2000" b="1" dirty="0"/>
              <a:t>种</a:t>
            </a:r>
            <a:r>
              <a:rPr lang="zh-CN" altLang="en-US" sz="2000" dirty="0"/>
              <a:t>之间</a:t>
            </a:r>
            <a:endParaRPr lang="en-US" altLang="zh-CN" sz="2000" dirty="0"/>
          </a:p>
          <a:p>
            <a:pPr marL="342900" indent="-342900">
              <a:buFont typeface="Arial" panose="020B0604020202020204" pitchFamily="34" charset="0"/>
              <a:buChar char="•"/>
            </a:pPr>
            <a:endParaRPr lang="zh-CN" altLang="en-US" sz="2000" dirty="0"/>
          </a:p>
        </p:txBody>
      </p:sp>
      <p:pic>
        <p:nvPicPr>
          <p:cNvPr id="8" name="图片 7">
            <a:extLst>
              <a:ext uri="{FF2B5EF4-FFF2-40B4-BE49-F238E27FC236}">
                <a16:creationId xmlns:a16="http://schemas.microsoft.com/office/drawing/2014/main" id="{8D6D420D-C68A-414C-AB7A-777399CA2A73}"/>
              </a:ext>
            </a:extLst>
          </p:cNvPr>
          <p:cNvPicPr>
            <a:picLocks noChangeAspect="1"/>
          </p:cNvPicPr>
          <p:nvPr/>
        </p:nvPicPr>
        <p:blipFill>
          <a:blip r:embed="rId2"/>
          <a:stretch>
            <a:fillRect/>
          </a:stretch>
        </p:blipFill>
        <p:spPr>
          <a:xfrm>
            <a:off x="6073656" y="3995928"/>
            <a:ext cx="2450775" cy="2387664"/>
          </a:xfrm>
          <a:prstGeom prst="rect">
            <a:avLst/>
          </a:prstGeom>
        </p:spPr>
      </p:pic>
      <p:graphicFrame>
        <p:nvGraphicFramePr>
          <p:cNvPr id="12" name="表格 3">
            <a:extLst>
              <a:ext uri="{FF2B5EF4-FFF2-40B4-BE49-F238E27FC236}">
                <a16:creationId xmlns:a16="http://schemas.microsoft.com/office/drawing/2014/main" id="{5BE8366E-EC82-476A-9D16-A5377E749574}"/>
              </a:ext>
            </a:extLst>
          </p:cNvPr>
          <p:cNvGraphicFramePr>
            <a:graphicFrameLocks noGrp="1"/>
          </p:cNvGraphicFramePr>
          <p:nvPr>
            <p:extLst>
              <p:ext uri="{D42A27DB-BD31-4B8C-83A1-F6EECF244321}">
                <p14:modId xmlns:p14="http://schemas.microsoft.com/office/powerpoint/2010/main" val="3495620649"/>
              </p:ext>
            </p:extLst>
          </p:nvPr>
        </p:nvGraphicFramePr>
        <p:xfrm>
          <a:off x="5999453" y="1078078"/>
          <a:ext cx="5846916" cy="2853720"/>
        </p:xfrm>
        <a:graphic>
          <a:graphicData uri="http://schemas.openxmlformats.org/drawingml/2006/table">
            <a:tbl>
              <a:tblPr firstRow="1" bandRow="1">
                <a:tableStyleId>{22838BEF-8BB2-4498-84A7-C5851F593DF1}</a:tableStyleId>
              </a:tblPr>
              <a:tblGrid>
                <a:gridCol w="755491">
                  <a:extLst>
                    <a:ext uri="{9D8B030D-6E8A-4147-A177-3AD203B41FA5}">
                      <a16:colId xmlns:a16="http://schemas.microsoft.com/office/drawing/2014/main" val="4130953241"/>
                    </a:ext>
                  </a:extLst>
                </a:gridCol>
                <a:gridCol w="3929285">
                  <a:extLst>
                    <a:ext uri="{9D8B030D-6E8A-4147-A177-3AD203B41FA5}">
                      <a16:colId xmlns:a16="http://schemas.microsoft.com/office/drawing/2014/main" val="2742990381"/>
                    </a:ext>
                  </a:extLst>
                </a:gridCol>
                <a:gridCol w="1162140">
                  <a:extLst>
                    <a:ext uri="{9D8B030D-6E8A-4147-A177-3AD203B41FA5}">
                      <a16:colId xmlns:a16="http://schemas.microsoft.com/office/drawing/2014/main" val="4058673428"/>
                    </a:ext>
                  </a:extLst>
                </a:gridCol>
              </a:tblGrid>
              <a:tr h="381047">
                <a:tc>
                  <a:txBody>
                    <a:bodyPr/>
                    <a:lstStyle/>
                    <a:p>
                      <a:r>
                        <a:rPr lang="zh-CN" altLang="en-US" dirty="0"/>
                        <a:t>时期记号</a:t>
                      </a:r>
                    </a:p>
                  </a:txBody>
                  <a:tcPr anchor="ctr"/>
                </a:tc>
                <a:tc>
                  <a:txBody>
                    <a:bodyPr/>
                    <a:lstStyle/>
                    <a:p>
                      <a:r>
                        <a:rPr lang="zh-CN" altLang="en-US" dirty="0"/>
                        <a:t>含义</a:t>
                      </a:r>
                    </a:p>
                  </a:txBody>
                  <a:tcPr anchor="ctr"/>
                </a:tc>
                <a:tc>
                  <a:txBody>
                    <a:bodyPr/>
                    <a:lstStyle/>
                    <a:p>
                      <a:r>
                        <a:rPr lang="zh-CN" altLang="en-US" dirty="0"/>
                        <a:t>单细胞数）过滤后）</a:t>
                      </a:r>
                    </a:p>
                  </a:txBody>
                  <a:tcPr anchor="ctr"/>
                </a:tc>
                <a:extLst>
                  <a:ext uri="{0D108BD9-81ED-4DB2-BD59-A6C34878D82A}">
                    <a16:rowId xmlns:a16="http://schemas.microsoft.com/office/drawing/2014/main" val="2110744744"/>
                  </a:ext>
                </a:extLst>
              </a:tr>
              <a:tr h="369576">
                <a:tc>
                  <a:txBody>
                    <a:bodyPr/>
                    <a:lstStyle/>
                    <a:p>
                      <a:r>
                        <a:rPr lang="en-US" altLang="zh-CN" dirty="0"/>
                        <a:t>E6.5</a:t>
                      </a:r>
                      <a:endParaRPr lang="zh-CN" altLang="en-US" dirty="0"/>
                    </a:p>
                  </a:txBody>
                  <a:tcPr anchor="ctr"/>
                </a:tc>
                <a:tc>
                  <a:txBody>
                    <a:bodyPr/>
                    <a:lstStyle/>
                    <a:p>
                      <a:r>
                        <a:rPr lang="zh-CN" altLang="en-US" dirty="0"/>
                        <a:t>小鼠胚胎受精</a:t>
                      </a:r>
                      <a:r>
                        <a:rPr lang="en-US" altLang="zh-CN" dirty="0"/>
                        <a:t>6.5</a:t>
                      </a:r>
                      <a:r>
                        <a:rPr lang="zh-CN" altLang="en-US" dirty="0"/>
                        <a:t>天后得到的单细胞</a:t>
                      </a:r>
                    </a:p>
                  </a:txBody>
                  <a:tcPr anchor="ctr"/>
                </a:tc>
                <a:tc>
                  <a:txBody>
                    <a:bodyPr/>
                    <a:lstStyle/>
                    <a:p>
                      <a:r>
                        <a:rPr lang="en-US" altLang="zh-CN" dirty="0"/>
                        <a:t>720</a:t>
                      </a:r>
                      <a:endParaRPr lang="zh-CN" altLang="en-US" dirty="0"/>
                    </a:p>
                  </a:txBody>
                  <a:tcPr anchor="ctr"/>
                </a:tc>
                <a:extLst>
                  <a:ext uri="{0D108BD9-81ED-4DB2-BD59-A6C34878D82A}">
                    <a16:rowId xmlns:a16="http://schemas.microsoft.com/office/drawing/2014/main" val="778655173"/>
                  </a:ext>
                </a:extLst>
              </a:tr>
              <a:tr h="369576">
                <a:tc>
                  <a:txBody>
                    <a:bodyPr/>
                    <a:lstStyle/>
                    <a:p>
                      <a:r>
                        <a:rPr lang="en-US" altLang="zh-CN" dirty="0"/>
                        <a:t>E6.75</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小鼠胚胎受精</a:t>
                      </a:r>
                      <a:r>
                        <a:rPr lang="en-US" altLang="zh-CN" dirty="0"/>
                        <a:t>6.75</a:t>
                      </a:r>
                      <a:r>
                        <a:rPr lang="zh-CN" altLang="en-US" dirty="0"/>
                        <a:t>天后得到的单细胞</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1036</a:t>
                      </a:r>
                      <a:endParaRPr lang="zh-CN" altLang="en-US" dirty="0"/>
                    </a:p>
                  </a:txBody>
                  <a:tcPr anchor="ctr"/>
                </a:tc>
                <a:extLst>
                  <a:ext uri="{0D108BD9-81ED-4DB2-BD59-A6C34878D82A}">
                    <a16:rowId xmlns:a16="http://schemas.microsoft.com/office/drawing/2014/main" val="3085950918"/>
                  </a:ext>
                </a:extLst>
              </a:tr>
              <a:tr h="369576">
                <a:tc>
                  <a:txBody>
                    <a:bodyPr/>
                    <a:lstStyle/>
                    <a:p>
                      <a:r>
                        <a:rPr lang="en-US" altLang="zh-CN" dirty="0"/>
                        <a:t>E7.0</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小鼠胚胎受精</a:t>
                      </a:r>
                      <a:r>
                        <a:rPr lang="en-US" altLang="zh-CN" dirty="0"/>
                        <a:t>7.70</a:t>
                      </a:r>
                      <a:r>
                        <a:rPr lang="zh-CN" altLang="en-US" dirty="0"/>
                        <a:t>天后得到的单细胞</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7222</a:t>
                      </a:r>
                      <a:endParaRPr lang="zh-CN" altLang="en-US" dirty="0"/>
                    </a:p>
                  </a:txBody>
                  <a:tcPr anchor="ctr"/>
                </a:tc>
                <a:extLst>
                  <a:ext uri="{0D108BD9-81ED-4DB2-BD59-A6C34878D82A}">
                    <a16:rowId xmlns:a16="http://schemas.microsoft.com/office/drawing/2014/main" val="102170815"/>
                  </a:ext>
                </a:extLst>
              </a:tr>
              <a:tr h="369576">
                <a:tc>
                  <a:txBody>
                    <a:bodyPr/>
                    <a:lstStyle/>
                    <a:p>
                      <a:r>
                        <a:rPr lang="en-US" altLang="zh-CN" dirty="0"/>
                        <a:t>E7.25</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小鼠胚胎受精</a:t>
                      </a:r>
                      <a:r>
                        <a:rPr lang="en-US" altLang="zh-CN" dirty="0"/>
                        <a:t>7.25</a:t>
                      </a:r>
                      <a:r>
                        <a:rPr lang="zh-CN" altLang="en-US" dirty="0"/>
                        <a:t>天后得到的单细胞</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6762</a:t>
                      </a:r>
                      <a:endParaRPr lang="zh-CN" altLang="en-US" dirty="0"/>
                    </a:p>
                  </a:txBody>
                  <a:tcPr anchor="ctr"/>
                </a:tc>
                <a:extLst>
                  <a:ext uri="{0D108BD9-81ED-4DB2-BD59-A6C34878D82A}">
                    <a16:rowId xmlns:a16="http://schemas.microsoft.com/office/drawing/2014/main" val="425880651"/>
                  </a:ext>
                </a:extLst>
              </a:tr>
              <a:tr h="369576">
                <a:tc>
                  <a:txBody>
                    <a:bodyPr/>
                    <a:lstStyle/>
                    <a:p>
                      <a:r>
                        <a:rPr lang="en-US" altLang="zh-CN" dirty="0"/>
                        <a:t>E7.5</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小鼠胚胎受精</a:t>
                      </a:r>
                      <a:r>
                        <a:rPr lang="en-US" altLang="zh-CN" dirty="0"/>
                        <a:t>7.5</a:t>
                      </a:r>
                      <a:r>
                        <a:rPr lang="zh-CN" altLang="en-US" dirty="0"/>
                        <a:t>天后得到的单细胞</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5325</a:t>
                      </a:r>
                      <a:endParaRPr lang="zh-CN" altLang="en-US" dirty="0"/>
                    </a:p>
                  </a:txBody>
                  <a:tcPr anchor="ctr"/>
                </a:tc>
                <a:extLst>
                  <a:ext uri="{0D108BD9-81ED-4DB2-BD59-A6C34878D82A}">
                    <a16:rowId xmlns:a16="http://schemas.microsoft.com/office/drawing/2014/main" val="1643982760"/>
                  </a:ext>
                </a:extLst>
              </a:tr>
              <a:tr h="322245">
                <a:tc>
                  <a:txBody>
                    <a:bodyPr/>
                    <a:lstStyle/>
                    <a:p>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数据集总细胞数</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21065</a:t>
                      </a:r>
                      <a:endParaRPr lang="zh-CN" altLang="en-US" dirty="0"/>
                    </a:p>
                  </a:txBody>
                  <a:tcPr anchor="ctr"/>
                </a:tc>
                <a:extLst>
                  <a:ext uri="{0D108BD9-81ED-4DB2-BD59-A6C34878D82A}">
                    <a16:rowId xmlns:a16="http://schemas.microsoft.com/office/drawing/2014/main" val="2522449657"/>
                  </a:ext>
                </a:extLst>
              </a:tr>
            </a:tbl>
          </a:graphicData>
        </a:graphic>
      </p:graphicFrame>
      <p:pic>
        <p:nvPicPr>
          <p:cNvPr id="17" name="图片 16">
            <a:extLst>
              <a:ext uri="{FF2B5EF4-FFF2-40B4-BE49-F238E27FC236}">
                <a16:creationId xmlns:a16="http://schemas.microsoft.com/office/drawing/2014/main" id="{612CB0A7-82FA-4F98-87E2-C3AB56904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84" y="1078078"/>
            <a:ext cx="5615233" cy="3822192"/>
          </a:xfrm>
          <a:prstGeom prst="rect">
            <a:avLst/>
          </a:prstGeom>
        </p:spPr>
      </p:pic>
      <p:sp>
        <p:nvSpPr>
          <p:cNvPr id="18" name="文本框 17">
            <a:extLst>
              <a:ext uri="{FF2B5EF4-FFF2-40B4-BE49-F238E27FC236}">
                <a16:creationId xmlns:a16="http://schemas.microsoft.com/office/drawing/2014/main" id="{2AD92468-169E-49E2-A9C7-D592EB95A926}"/>
              </a:ext>
            </a:extLst>
          </p:cNvPr>
          <p:cNvSpPr txBox="1"/>
          <p:nvPr/>
        </p:nvSpPr>
        <p:spPr>
          <a:xfrm>
            <a:off x="249084" y="5028741"/>
            <a:ext cx="5237316" cy="1200329"/>
          </a:xfrm>
          <a:prstGeom prst="rect">
            <a:avLst/>
          </a:prstGeom>
          <a:noFill/>
        </p:spPr>
        <p:txBody>
          <a:bodyPr wrap="square">
            <a:spAutoFit/>
          </a:bodyPr>
          <a:lstStyle/>
          <a:p>
            <a:pPr marL="342900" indent="-342900">
              <a:buFont typeface="Arial" panose="020B0604020202020204" pitchFamily="34" charset="0"/>
              <a:buChar char="•"/>
            </a:pPr>
            <a:r>
              <a:rPr lang="zh-CN" altLang="en-US" sz="1800" dirty="0"/>
              <a:t>批次和胚胎发育时间呈相关关系，需要对数据集进行批次矫正。</a:t>
            </a:r>
            <a:endParaRPr lang="en-US" altLang="zh-CN" sz="1800" dirty="0"/>
          </a:p>
          <a:p>
            <a:pPr marL="342900" indent="-342900">
              <a:buFont typeface="Arial" panose="020B0604020202020204" pitchFamily="34" charset="0"/>
              <a:buChar char="•"/>
            </a:pPr>
            <a:r>
              <a:rPr lang="en-US" altLang="zh-CN" dirty="0"/>
              <a:t>E6.5</a:t>
            </a:r>
            <a:r>
              <a:rPr lang="zh-CN" altLang="en-US" dirty="0"/>
              <a:t>、</a:t>
            </a:r>
            <a:r>
              <a:rPr lang="en-US" altLang="zh-CN" dirty="0"/>
              <a:t>E6.75</a:t>
            </a:r>
            <a:r>
              <a:rPr lang="zh-CN" altLang="en-US" dirty="0"/>
              <a:t>期的细胞数明显比其余三个发育阶段要少。</a:t>
            </a:r>
            <a:endParaRPr lang="en-US" altLang="zh-CN" sz="1800" dirty="0"/>
          </a:p>
        </p:txBody>
      </p:sp>
    </p:spTree>
    <p:extLst>
      <p:ext uri="{BB962C8B-B14F-4D97-AF65-F5344CB8AC3E}">
        <p14:creationId xmlns:p14="http://schemas.microsoft.com/office/powerpoint/2010/main" val="144812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564B0357-927D-474D-B46C-F9AD082167F7}"/>
              </a:ext>
            </a:extLst>
          </p:cNvPr>
          <p:cNvPicPr>
            <a:picLocks noChangeAspect="1"/>
          </p:cNvPicPr>
          <p:nvPr/>
        </p:nvPicPr>
        <p:blipFill rotWithShape="1">
          <a:blip r:embed="rId2">
            <a:extLst>
              <a:ext uri="{28A0092B-C50C-407E-A947-70E740481C1C}">
                <a14:useLocalDpi xmlns:a14="http://schemas.microsoft.com/office/drawing/2010/main" val="0"/>
              </a:ext>
            </a:extLst>
          </a:blip>
          <a:srcRect l="10845" t="3466"/>
          <a:stretch/>
        </p:blipFill>
        <p:spPr>
          <a:xfrm>
            <a:off x="6209233" y="858923"/>
            <a:ext cx="5056631" cy="4380136"/>
          </a:xfrm>
          <a:prstGeom prst="rect">
            <a:avLst/>
          </a:prstGeom>
        </p:spPr>
      </p:pic>
      <p:sp>
        <p:nvSpPr>
          <p:cNvPr id="2" name="文本占位符 1">
            <a:extLst>
              <a:ext uri="{FF2B5EF4-FFF2-40B4-BE49-F238E27FC236}">
                <a16:creationId xmlns:a16="http://schemas.microsoft.com/office/drawing/2014/main" id="{9982906F-E8FE-4D28-AD5B-2FE521683B46}"/>
              </a:ext>
            </a:extLst>
          </p:cNvPr>
          <p:cNvSpPr>
            <a:spLocks noGrp="1"/>
          </p:cNvSpPr>
          <p:nvPr>
            <p:ph type="body" sz="quarter" idx="10"/>
          </p:nvPr>
        </p:nvSpPr>
        <p:spPr/>
        <p:txBody>
          <a:bodyPr/>
          <a:lstStyle/>
          <a:p>
            <a:r>
              <a:rPr lang="zh-CN" altLang="en-US" dirty="0"/>
              <a:t>数据分布情况</a:t>
            </a:r>
          </a:p>
        </p:txBody>
      </p:sp>
      <p:sp>
        <p:nvSpPr>
          <p:cNvPr id="4" name="文本框 3">
            <a:extLst>
              <a:ext uri="{FF2B5EF4-FFF2-40B4-BE49-F238E27FC236}">
                <a16:creationId xmlns:a16="http://schemas.microsoft.com/office/drawing/2014/main" id="{F5A9F4C6-7AB2-4AA5-89E3-7AD90A862F8D}"/>
              </a:ext>
            </a:extLst>
          </p:cNvPr>
          <p:cNvSpPr txBox="1"/>
          <p:nvPr/>
        </p:nvSpPr>
        <p:spPr>
          <a:xfrm>
            <a:off x="6096000" y="5008239"/>
            <a:ext cx="5056631" cy="1323439"/>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t>基因的表达随时间的推移起起落落，</a:t>
            </a:r>
            <a:r>
              <a:rPr lang="en-US" altLang="zh-CN" sz="2000" dirty="0"/>
              <a:t>E6.5</a:t>
            </a:r>
            <a:r>
              <a:rPr lang="zh-CN" altLang="en-US" sz="2000" dirty="0"/>
              <a:t>期和</a:t>
            </a:r>
            <a:r>
              <a:rPr lang="en-US" altLang="zh-CN" sz="2000" dirty="0"/>
              <a:t>E6.75</a:t>
            </a:r>
            <a:r>
              <a:rPr lang="zh-CN" altLang="en-US" sz="2000" dirty="0"/>
              <a:t>期之间的差异相对较小。</a:t>
            </a:r>
            <a:endParaRPr lang="en-US" altLang="zh-CN" sz="2000" dirty="0"/>
          </a:p>
          <a:p>
            <a:pPr marL="342900" indent="-342900">
              <a:buFont typeface="Arial" panose="020B0604020202020204" pitchFamily="34" charset="0"/>
              <a:buChar char="•"/>
            </a:pPr>
            <a:r>
              <a:rPr lang="zh-CN" altLang="en-US" sz="2000" dirty="0"/>
              <a:t>本课题关注的上胚层、原条细胞、新生中胚层细胞在</a:t>
            </a:r>
            <a:r>
              <a:rPr lang="en-US" altLang="zh-CN" sz="2000" dirty="0"/>
              <a:t>E6.5-E7.5</a:t>
            </a:r>
            <a:r>
              <a:rPr lang="zh-CN" altLang="en-US" sz="2000" dirty="0"/>
              <a:t>期均存在</a:t>
            </a:r>
          </a:p>
        </p:txBody>
      </p:sp>
      <p:pic>
        <p:nvPicPr>
          <p:cNvPr id="7" name="图片 6">
            <a:extLst>
              <a:ext uri="{FF2B5EF4-FFF2-40B4-BE49-F238E27FC236}">
                <a16:creationId xmlns:a16="http://schemas.microsoft.com/office/drawing/2014/main" id="{B2C0E221-ECBE-4D57-B9AD-69E6E446AD25}"/>
              </a:ext>
            </a:extLst>
          </p:cNvPr>
          <p:cNvPicPr>
            <a:picLocks noChangeAspect="1"/>
          </p:cNvPicPr>
          <p:nvPr/>
        </p:nvPicPr>
        <p:blipFill rotWithShape="1">
          <a:blip r:embed="rId3">
            <a:extLst>
              <a:ext uri="{28A0092B-C50C-407E-A947-70E740481C1C}">
                <a14:useLocalDpi xmlns:a14="http://schemas.microsoft.com/office/drawing/2010/main" val="0"/>
              </a:ext>
            </a:extLst>
          </a:blip>
          <a:srcRect t="2683" r="14983" b="30667"/>
          <a:stretch/>
        </p:blipFill>
        <p:spPr>
          <a:xfrm>
            <a:off x="576072" y="1078078"/>
            <a:ext cx="5292180" cy="5013492"/>
          </a:xfrm>
          <a:prstGeom prst="rect">
            <a:avLst/>
          </a:prstGeom>
        </p:spPr>
      </p:pic>
      <p:sp>
        <p:nvSpPr>
          <p:cNvPr id="8" name="文本框 7">
            <a:extLst>
              <a:ext uri="{FF2B5EF4-FFF2-40B4-BE49-F238E27FC236}">
                <a16:creationId xmlns:a16="http://schemas.microsoft.com/office/drawing/2014/main" id="{35123582-1F3D-4D9E-B52C-8CAA1EDC168F}"/>
              </a:ext>
            </a:extLst>
          </p:cNvPr>
          <p:cNvSpPr txBox="1"/>
          <p:nvPr/>
        </p:nvSpPr>
        <p:spPr>
          <a:xfrm rot="18790005">
            <a:off x="231243" y="5037993"/>
            <a:ext cx="877163" cy="369332"/>
          </a:xfrm>
          <a:prstGeom prst="rect">
            <a:avLst/>
          </a:prstGeom>
          <a:noFill/>
        </p:spPr>
        <p:txBody>
          <a:bodyPr wrap="none" rtlCol="0">
            <a:spAutoFit/>
          </a:bodyPr>
          <a:lstStyle/>
          <a:p>
            <a:pPr algn="ctr"/>
            <a:r>
              <a:rPr lang="zh-CN" altLang="en-US" b="1" dirty="0">
                <a:solidFill>
                  <a:srgbClr val="7A4900"/>
                </a:solidFill>
              </a:rPr>
              <a:t>上胚层</a:t>
            </a:r>
          </a:p>
        </p:txBody>
      </p:sp>
      <p:sp>
        <p:nvSpPr>
          <p:cNvPr id="9" name="文本框 8">
            <a:extLst>
              <a:ext uri="{FF2B5EF4-FFF2-40B4-BE49-F238E27FC236}">
                <a16:creationId xmlns:a16="http://schemas.microsoft.com/office/drawing/2014/main" id="{D9E2EE5D-F208-4C65-8D47-187A15931E69}"/>
              </a:ext>
            </a:extLst>
          </p:cNvPr>
          <p:cNvSpPr txBox="1"/>
          <p:nvPr/>
        </p:nvSpPr>
        <p:spPr>
          <a:xfrm rot="18790005">
            <a:off x="160165" y="5407460"/>
            <a:ext cx="1152144" cy="369332"/>
          </a:xfrm>
          <a:prstGeom prst="rect">
            <a:avLst/>
          </a:prstGeom>
          <a:noFill/>
        </p:spPr>
        <p:txBody>
          <a:bodyPr wrap="square">
            <a:spAutoFit/>
          </a:bodyPr>
          <a:lstStyle/>
          <a:p>
            <a:pPr algn="ctr"/>
            <a:r>
              <a:rPr lang="zh-CN" altLang="en-US" b="1" dirty="0">
                <a:solidFill>
                  <a:srgbClr val="6B7900"/>
                </a:solidFill>
              </a:rPr>
              <a:t>原条细胞</a:t>
            </a:r>
          </a:p>
        </p:txBody>
      </p:sp>
      <p:sp>
        <p:nvSpPr>
          <p:cNvPr id="10" name="文本框 9">
            <a:extLst>
              <a:ext uri="{FF2B5EF4-FFF2-40B4-BE49-F238E27FC236}">
                <a16:creationId xmlns:a16="http://schemas.microsoft.com/office/drawing/2014/main" id="{0E62213D-71DF-4DCB-B74B-EFACE9DA8179}"/>
              </a:ext>
            </a:extLst>
          </p:cNvPr>
          <p:cNvSpPr txBox="1"/>
          <p:nvPr/>
        </p:nvSpPr>
        <p:spPr>
          <a:xfrm rot="18790005">
            <a:off x="269247" y="5623751"/>
            <a:ext cx="1336434" cy="369332"/>
          </a:xfrm>
          <a:prstGeom prst="rect">
            <a:avLst/>
          </a:prstGeom>
          <a:noFill/>
        </p:spPr>
        <p:txBody>
          <a:bodyPr wrap="square">
            <a:spAutoFit/>
          </a:bodyPr>
          <a:lstStyle/>
          <a:p>
            <a:r>
              <a:rPr lang="zh-CN" altLang="en-US" b="1" dirty="0">
                <a:solidFill>
                  <a:srgbClr val="4FC601"/>
                </a:solidFill>
              </a:rPr>
              <a:t>新生中胚层</a:t>
            </a:r>
            <a:endParaRPr lang="zh-CN" altLang="en-US" dirty="0"/>
          </a:p>
        </p:txBody>
      </p:sp>
      <p:sp>
        <p:nvSpPr>
          <p:cNvPr id="11" name="文本框 10">
            <a:extLst>
              <a:ext uri="{FF2B5EF4-FFF2-40B4-BE49-F238E27FC236}">
                <a16:creationId xmlns:a16="http://schemas.microsoft.com/office/drawing/2014/main" id="{2738F4A8-268C-466A-80EE-2BD466571FC1}"/>
              </a:ext>
            </a:extLst>
          </p:cNvPr>
          <p:cNvSpPr txBox="1"/>
          <p:nvPr/>
        </p:nvSpPr>
        <p:spPr>
          <a:xfrm rot="18790005">
            <a:off x="691244" y="5593862"/>
            <a:ext cx="1373886" cy="372118"/>
          </a:xfrm>
          <a:prstGeom prst="rect">
            <a:avLst/>
          </a:prstGeom>
          <a:noFill/>
        </p:spPr>
        <p:txBody>
          <a:bodyPr wrap="square">
            <a:spAutoFit/>
          </a:bodyPr>
          <a:lstStyle/>
          <a:p>
            <a:r>
              <a:rPr lang="zh-CN" altLang="en-US" b="1" dirty="0">
                <a:solidFill>
                  <a:srgbClr val="1B4400"/>
                </a:solidFill>
              </a:rPr>
              <a:t>混合中胚层</a:t>
            </a:r>
            <a:endParaRPr lang="zh-CN" altLang="en-US" dirty="0"/>
          </a:p>
        </p:txBody>
      </p:sp>
      <p:sp>
        <p:nvSpPr>
          <p:cNvPr id="12" name="文本框 11">
            <a:extLst>
              <a:ext uri="{FF2B5EF4-FFF2-40B4-BE49-F238E27FC236}">
                <a16:creationId xmlns:a16="http://schemas.microsoft.com/office/drawing/2014/main" id="{E2F266ED-5175-4F56-B699-9471807F6CC0}"/>
              </a:ext>
            </a:extLst>
          </p:cNvPr>
          <p:cNvSpPr txBox="1"/>
          <p:nvPr/>
        </p:nvSpPr>
        <p:spPr>
          <a:xfrm rot="18899043">
            <a:off x="1807465" y="5818266"/>
            <a:ext cx="2123694" cy="381262"/>
          </a:xfrm>
          <a:prstGeom prst="rect">
            <a:avLst/>
          </a:prstGeom>
          <a:noFill/>
        </p:spPr>
        <p:txBody>
          <a:bodyPr wrap="square">
            <a:spAutoFit/>
          </a:bodyPr>
          <a:lstStyle/>
          <a:p>
            <a:pPr algn="ctr"/>
            <a:r>
              <a:rPr lang="zh-CN" altLang="en-US" b="1" dirty="0">
                <a:solidFill>
                  <a:srgbClr val="1CE6FF"/>
                </a:solidFill>
              </a:rPr>
              <a:t>前原条细胞</a:t>
            </a:r>
          </a:p>
        </p:txBody>
      </p:sp>
    </p:spTree>
    <p:extLst>
      <p:ext uri="{BB962C8B-B14F-4D97-AF65-F5344CB8AC3E}">
        <p14:creationId xmlns:p14="http://schemas.microsoft.com/office/powerpoint/2010/main" val="2323438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5D67768-0FED-410A-A3D1-7714B716D6D0}"/>
              </a:ext>
            </a:extLst>
          </p:cNvPr>
          <p:cNvSpPr>
            <a:spLocks noGrp="1"/>
          </p:cNvSpPr>
          <p:nvPr>
            <p:ph type="body" sz="quarter" idx="10"/>
          </p:nvPr>
        </p:nvSpPr>
        <p:spPr/>
        <p:txBody>
          <a:bodyPr/>
          <a:lstStyle/>
          <a:p>
            <a:r>
              <a:rPr lang="en-US" altLang="zh-CN" dirty="0"/>
              <a:t>UMAP</a:t>
            </a:r>
            <a:r>
              <a:rPr lang="zh-CN" altLang="en-US"/>
              <a:t>降维图</a:t>
            </a:r>
          </a:p>
        </p:txBody>
      </p:sp>
      <p:pic>
        <p:nvPicPr>
          <p:cNvPr id="5" name="图片 4">
            <a:extLst>
              <a:ext uri="{FF2B5EF4-FFF2-40B4-BE49-F238E27FC236}">
                <a16:creationId xmlns:a16="http://schemas.microsoft.com/office/drawing/2014/main" id="{30C31C20-8136-4763-BA31-9754B974645A}"/>
              </a:ext>
            </a:extLst>
          </p:cNvPr>
          <p:cNvPicPr>
            <a:picLocks noChangeAspect="1"/>
          </p:cNvPicPr>
          <p:nvPr/>
        </p:nvPicPr>
        <p:blipFill rotWithShape="1">
          <a:blip r:embed="rId2">
            <a:extLst>
              <a:ext uri="{28A0092B-C50C-407E-A947-70E740481C1C}">
                <a14:useLocalDpi xmlns:a14="http://schemas.microsoft.com/office/drawing/2010/main" val="0"/>
              </a:ext>
            </a:extLst>
          </a:blip>
          <a:srcRect r="41833" b="47043"/>
          <a:stretch/>
        </p:blipFill>
        <p:spPr>
          <a:xfrm>
            <a:off x="431964" y="1276827"/>
            <a:ext cx="11935454" cy="4747302"/>
          </a:xfrm>
          <a:prstGeom prst="rect">
            <a:avLst/>
          </a:prstGeom>
        </p:spPr>
      </p:pic>
      <p:cxnSp>
        <p:nvCxnSpPr>
          <p:cNvPr id="6" name="直接箭头连接符 5">
            <a:extLst>
              <a:ext uri="{FF2B5EF4-FFF2-40B4-BE49-F238E27FC236}">
                <a16:creationId xmlns:a16="http://schemas.microsoft.com/office/drawing/2014/main" id="{042B32C4-3703-41DC-9B12-B89EE29D18C8}"/>
              </a:ext>
            </a:extLst>
          </p:cNvPr>
          <p:cNvCxnSpPr>
            <a:cxnSpLocks/>
          </p:cNvCxnSpPr>
          <p:nvPr/>
        </p:nvCxnSpPr>
        <p:spPr>
          <a:xfrm>
            <a:off x="4828032" y="2194560"/>
            <a:ext cx="704088" cy="2304288"/>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1" name="文本框 10">
            <a:extLst>
              <a:ext uri="{FF2B5EF4-FFF2-40B4-BE49-F238E27FC236}">
                <a16:creationId xmlns:a16="http://schemas.microsoft.com/office/drawing/2014/main" id="{FB2A8212-D7C8-41CA-95FB-B72E51CE348C}"/>
              </a:ext>
            </a:extLst>
          </p:cNvPr>
          <p:cNvSpPr txBox="1"/>
          <p:nvPr/>
        </p:nvSpPr>
        <p:spPr>
          <a:xfrm rot="4374427">
            <a:off x="4368897" y="2766772"/>
            <a:ext cx="1800493" cy="369332"/>
          </a:xfrm>
          <a:prstGeom prst="rect">
            <a:avLst/>
          </a:prstGeom>
          <a:noFill/>
        </p:spPr>
        <p:txBody>
          <a:bodyPr wrap="none" rtlCol="0">
            <a:spAutoFit/>
          </a:bodyPr>
          <a:lstStyle/>
          <a:p>
            <a:r>
              <a:rPr lang="zh-CN" altLang="en-US" b="1" dirty="0">
                <a:solidFill>
                  <a:srgbClr val="FFD450"/>
                </a:solidFill>
              </a:rPr>
              <a:t>中胚层发育路径</a:t>
            </a:r>
          </a:p>
        </p:txBody>
      </p:sp>
      <p:cxnSp>
        <p:nvCxnSpPr>
          <p:cNvPr id="13" name="直接箭头连接符 12">
            <a:extLst>
              <a:ext uri="{FF2B5EF4-FFF2-40B4-BE49-F238E27FC236}">
                <a16:creationId xmlns:a16="http://schemas.microsoft.com/office/drawing/2014/main" id="{ACE5A315-65BE-4904-908F-490C9EF9EE2C}"/>
              </a:ext>
            </a:extLst>
          </p:cNvPr>
          <p:cNvCxnSpPr>
            <a:cxnSpLocks/>
          </p:cNvCxnSpPr>
          <p:nvPr/>
        </p:nvCxnSpPr>
        <p:spPr>
          <a:xfrm flipV="1">
            <a:off x="4304621" y="1631631"/>
            <a:ext cx="651427" cy="759069"/>
          </a:xfrm>
          <a:prstGeom prst="straightConnector1">
            <a:avLst/>
          </a:prstGeom>
          <a:ln w="38100">
            <a:solidFill>
              <a:srgbClr val="7A49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 name="文本框 14">
            <a:extLst>
              <a:ext uri="{FF2B5EF4-FFF2-40B4-BE49-F238E27FC236}">
                <a16:creationId xmlns:a16="http://schemas.microsoft.com/office/drawing/2014/main" id="{11AB456C-3D38-40B9-8660-2B3838E2B62E}"/>
              </a:ext>
            </a:extLst>
          </p:cNvPr>
          <p:cNvSpPr txBox="1"/>
          <p:nvPr/>
        </p:nvSpPr>
        <p:spPr>
          <a:xfrm>
            <a:off x="4697232" y="985300"/>
            <a:ext cx="1008609" cy="646331"/>
          </a:xfrm>
          <a:prstGeom prst="rect">
            <a:avLst/>
          </a:prstGeom>
          <a:noFill/>
        </p:spPr>
        <p:txBody>
          <a:bodyPr wrap="none" rtlCol="0">
            <a:spAutoFit/>
          </a:bodyPr>
          <a:lstStyle/>
          <a:p>
            <a:pPr algn="ctr"/>
            <a:r>
              <a:rPr lang="en-US" altLang="zh-CN" b="1" dirty="0">
                <a:solidFill>
                  <a:srgbClr val="7A4900"/>
                </a:solidFill>
              </a:rPr>
              <a:t>Epiblast</a:t>
            </a:r>
          </a:p>
          <a:p>
            <a:pPr algn="ctr"/>
            <a:r>
              <a:rPr lang="zh-CN" altLang="en-US" b="1" dirty="0">
                <a:solidFill>
                  <a:srgbClr val="7A4900"/>
                </a:solidFill>
              </a:rPr>
              <a:t>上胚层</a:t>
            </a:r>
          </a:p>
        </p:txBody>
      </p:sp>
      <p:sp>
        <p:nvSpPr>
          <p:cNvPr id="17" name="文本框 16">
            <a:extLst>
              <a:ext uri="{FF2B5EF4-FFF2-40B4-BE49-F238E27FC236}">
                <a16:creationId xmlns:a16="http://schemas.microsoft.com/office/drawing/2014/main" id="{48909067-146F-470A-9A20-AAEE16133C88}"/>
              </a:ext>
            </a:extLst>
          </p:cNvPr>
          <p:cNvSpPr txBox="1"/>
          <p:nvPr/>
        </p:nvSpPr>
        <p:spPr>
          <a:xfrm>
            <a:off x="2693158" y="943599"/>
            <a:ext cx="1838965" cy="646331"/>
          </a:xfrm>
          <a:prstGeom prst="rect">
            <a:avLst/>
          </a:prstGeom>
          <a:noFill/>
        </p:spPr>
        <p:txBody>
          <a:bodyPr wrap="none" rtlCol="0">
            <a:spAutoFit/>
          </a:bodyPr>
          <a:lstStyle/>
          <a:p>
            <a:pPr algn="ctr"/>
            <a:r>
              <a:rPr lang="en-US" altLang="zh-CN" b="1" dirty="0">
                <a:solidFill>
                  <a:srgbClr val="6B7900"/>
                </a:solidFill>
              </a:rPr>
              <a:t>Primitive Streak</a:t>
            </a:r>
          </a:p>
          <a:p>
            <a:pPr algn="ctr"/>
            <a:r>
              <a:rPr lang="zh-CN" altLang="en-US" b="1" dirty="0">
                <a:solidFill>
                  <a:srgbClr val="6B7900"/>
                </a:solidFill>
              </a:rPr>
              <a:t>原条细胞</a:t>
            </a:r>
          </a:p>
        </p:txBody>
      </p:sp>
      <p:cxnSp>
        <p:nvCxnSpPr>
          <p:cNvPr id="18" name="直接箭头连接符 17">
            <a:extLst>
              <a:ext uri="{FF2B5EF4-FFF2-40B4-BE49-F238E27FC236}">
                <a16:creationId xmlns:a16="http://schemas.microsoft.com/office/drawing/2014/main" id="{D50647A7-934B-444D-9BF1-C955B515ED90}"/>
              </a:ext>
            </a:extLst>
          </p:cNvPr>
          <p:cNvCxnSpPr>
            <a:cxnSpLocks/>
          </p:cNvCxnSpPr>
          <p:nvPr/>
        </p:nvCxnSpPr>
        <p:spPr>
          <a:xfrm flipH="1" flipV="1">
            <a:off x="3760049" y="1591270"/>
            <a:ext cx="165267" cy="1427639"/>
          </a:xfrm>
          <a:prstGeom prst="straightConnector1">
            <a:avLst/>
          </a:prstGeom>
          <a:ln w="38100">
            <a:solidFill>
              <a:srgbClr val="6B79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1" name="直接箭头连接符 20">
            <a:extLst>
              <a:ext uri="{FF2B5EF4-FFF2-40B4-BE49-F238E27FC236}">
                <a16:creationId xmlns:a16="http://schemas.microsoft.com/office/drawing/2014/main" id="{9AD24BF5-20E9-4363-B021-207DA1D867C2}"/>
              </a:ext>
            </a:extLst>
          </p:cNvPr>
          <p:cNvCxnSpPr>
            <a:cxnSpLocks/>
            <a:endCxn id="26" idx="2"/>
          </p:cNvCxnSpPr>
          <p:nvPr/>
        </p:nvCxnSpPr>
        <p:spPr>
          <a:xfrm flipH="1" flipV="1">
            <a:off x="1337962" y="1824339"/>
            <a:ext cx="134222" cy="882286"/>
          </a:xfrm>
          <a:prstGeom prst="straightConnector1">
            <a:avLst/>
          </a:prstGeom>
          <a:ln w="38100">
            <a:solidFill>
              <a:srgbClr val="B6955F"/>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26" name="文本框 25">
            <a:extLst>
              <a:ext uri="{FF2B5EF4-FFF2-40B4-BE49-F238E27FC236}">
                <a16:creationId xmlns:a16="http://schemas.microsoft.com/office/drawing/2014/main" id="{7994B061-3168-4F5D-A03D-EE951A143F2B}"/>
              </a:ext>
            </a:extLst>
          </p:cNvPr>
          <p:cNvSpPr txBox="1"/>
          <p:nvPr/>
        </p:nvSpPr>
        <p:spPr>
          <a:xfrm>
            <a:off x="172418" y="901009"/>
            <a:ext cx="2331087" cy="923330"/>
          </a:xfrm>
          <a:prstGeom prst="rect">
            <a:avLst/>
          </a:prstGeom>
          <a:noFill/>
        </p:spPr>
        <p:txBody>
          <a:bodyPr wrap="none" rtlCol="0">
            <a:spAutoFit/>
          </a:bodyPr>
          <a:lstStyle/>
          <a:p>
            <a:pPr algn="ctr"/>
            <a:r>
              <a:rPr lang="en-US" altLang="zh-CN" b="1" dirty="0">
                <a:solidFill>
                  <a:srgbClr val="B6955F"/>
                </a:solidFill>
              </a:rPr>
              <a:t>Extraembryonic(</a:t>
            </a:r>
            <a:r>
              <a:rPr lang="en-US" altLang="zh-CN" b="1" dirty="0" err="1">
                <a:solidFill>
                  <a:srgbClr val="B6955F"/>
                </a:solidFill>
              </a:rPr>
              <a:t>ExE</a:t>
            </a:r>
            <a:r>
              <a:rPr lang="en-US" altLang="zh-CN" b="1" dirty="0">
                <a:solidFill>
                  <a:srgbClr val="B6955F"/>
                </a:solidFill>
              </a:rPr>
              <a:t>)</a:t>
            </a:r>
          </a:p>
          <a:p>
            <a:pPr algn="ctr"/>
            <a:r>
              <a:rPr lang="en-US" altLang="zh-CN" b="1" dirty="0">
                <a:solidFill>
                  <a:srgbClr val="B6955F"/>
                </a:solidFill>
              </a:rPr>
              <a:t>Ectoderm</a:t>
            </a:r>
          </a:p>
          <a:p>
            <a:pPr algn="ctr"/>
            <a:r>
              <a:rPr lang="zh-CN" altLang="en-US" b="1" dirty="0">
                <a:solidFill>
                  <a:srgbClr val="B6955F"/>
                </a:solidFill>
              </a:rPr>
              <a:t>胚外外胚层</a:t>
            </a:r>
          </a:p>
        </p:txBody>
      </p:sp>
      <p:sp>
        <p:nvSpPr>
          <p:cNvPr id="29" name="文本框 28">
            <a:extLst>
              <a:ext uri="{FF2B5EF4-FFF2-40B4-BE49-F238E27FC236}">
                <a16:creationId xmlns:a16="http://schemas.microsoft.com/office/drawing/2014/main" id="{849428F2-D4DF-466A-8BA6-E41BC57AB212}"/>
              </a:ext>
            </a:extLst>
          </p:cNvPr>
          <p:cNvSpPr txBox="1"/>
          <p:nvPr/>
        </p:nvSpPr>
        <p:spPr>
          <a:xfrm>
            <a:off x="274607" y="5552362"/>
            <a:ext cx="2768707" cy="646331"/>
          </a:xfrm>
          <a:prstGeom prst="rect">
            <a:avLst/>
          </a:prstGeom>
          <a:noFill/>
        </p:spPr>
        <p:txBody>
          <a:bodyPr wrap="none" rtlCol="0">
            <a:spAutoFit/>
          </a:bodyPr>
          <a:lstStyle/>
          <a:p>
            <a:pPr algn="ctr"/>
            <a:r>
              <a:rPr lang="en-US" altLang="zh-CN" b="1" dirty="0">
                <a:solidFill>
                  <a:srgbClr val="1CE6FF"/>
                </a:solidFill>
              </a:rPr>
              <a:t>Anterior Primitive Streak</a:t>
            </a:r>
          </a:p>
          <a:p>
            <a:pPr algn="ctr"/>
            <a:r>
              <a:rPr lang="zh-CN" altLang="en-US" b="1" dirty="0">
                <a:solidFill>
                  <a:srgbClr val="1CE6FF"/>
                </a:solidFill>
              </a:rPr>
              <a:t>前原条细胞</a:t>
            </a:r>
          </a:p>
        </p:txBody>
      </p:sp>
      <p:cxnSp>
        <p:nvCxnSpPr>
          <p:cNvPr id="30" name="直接箭头连接符 29">
            <a:extLst>
              <a:ext uri="{FF2B5EF4-FFF2-40B4-BE49-F238E27FC236}">
                <a16:creationId xmlns:a16="http://schemas.microsoft.com/office/drawing/2014/main" id="{1C5A8B46-4592-4FFA-907C-1D1B91F0EFFE}"/>
              </a:ext>
            </a:extLst>
          </p:cNvPr>
          <p:cNvCxnSpPr>
            <a:cxnSpLocks/>
            <a:endCxn id="29" idx="0"/>
          </p:cNvCxnSpPr>
          <p:nvPr/>
        </p:nvCxnSpPr>
        <p:spPr>
          <a:xfrm flipH="1">
            <a:off x="1658961" y="3781633"/>
            <a:ext cx="1637036" cy="1770729"/>
          </a:xfrm>
          <a:prstGeom prst="straightConnector1">
            <a:avLst/>
          </a:prstGeom>
          <a:ln w="38100">
            <a:solidFill>
              <a:srgbClr val="1CE6FF"/>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35" name="文本框 34">
            <a:extLst>
              <a:ext uri="{FF2B5EF4-FFF2-40B4-BE49-F238E27FC236}">
                <a16:creationId xmlns:a16="http://schemas.microsoft.com/office/drawing/2014/main" id="{3F3C2134-4D5B-4BE4-AA9A-17F680D26909}"/>
              </a:ext>
            </a:extLst>
          </p:cNvPr>
          <p:cNvSpPr txBox="1"/>
          <p:nvPr/>
        </p:nvSpPr>
        <p:spPr>
          <a:xfrm>
            <a:off x="3055075" y="5633305"/>
            <a:ext cx="2214068" cy="646331"/>
          </a:xfrm>
          <a:prstGeom prst="rect">
            <a:avLst/>
          </a:prstGeom>
          <a:noFill/>
        </p:spPr>
        <p:txBody>
          <a:bodyPr wrap="none" rtlCol="0">
            <a:spAutoFit/>
          </a:bodyPr>
          <a:lstStyle/>
          <a:p>
            <a:pPr algn="ctr"/>
            <a:r>
              <a:rPr lang="en-US" altLang="zh-CN" b="1" dirty="0">
                <a:solidFill>
                  <a:srgbClr val="4FC601"/>
                </a:solidFill>
              </a:rPr>
              <a:t>Nascent Mesoderm</a:t>
            </a:r>
            <a:br>
              <a:rPr lang="en-US" altLang="zh-CN" b="1" dirty="0">
                <a:solidFill>
                  <a:srgbClr val="4FC601"/>
                </a:solidFill>
              </a:rPr>
            </a:br>
            <a:r>
              <a:rPr lang="zh-CN" altLang="en-US" b="1" dirty="0">
                <a:solidFill>
                  <a:srgbClr val="4FC601"/>
                </a:solidFill>
              </a:rPr>
              <a:t>新生中胚层</a:t>
            </a:r>
          </a:p>
        </p:txBody>
      </p:sp>
      <p:cxnSp>
        <p:nvCxnSpPr>
          <p:cNvPr id="36" name="直接箭头连接符 35">
            <a:extLst>
              <a:ext uri="{FF2B5EF4-FFF2-40B4-BE49-F238E27FC236}">
                <a16:creationId xmlns:a16="http://schemas.microsoft.com/office/drawing/2014/main" id="{B9974DC9-A9D7-40E3-8B3E-23411D85BE5F}"/>
              </a:ext>
            </a:extLst>
          </p:cNvPr>
          <p:cNvCxnSpPr>
            <a:cxnSpLocks/>
          </p:cNvCxnSpPr>
          <p:nvPr/>
        </p:nvCxnSpPr>
        <p:spPr>
          <a:xfrm flipH="1">
            <a:off x="3925316" y="4053141"/>
            <a:ext cx="20714" cy="1637760"/>
          </a:xfrm>
          <a:prstGeom prst="straightConnector1">
            <a:avLst/>
          </a:prstGeom>
          <a:ln w="38100">
            <a:solidFill>
              <a:srgbClr val="4FC601"/>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9" name="直接箭头连接符 18">
            <a:extLst>
              <a:ext uri="{FF2B5EF4-FFF2-40B4-BE49-F238E27FC236}">
                <a16:creationId xmlns:a16="http://schemas.microsoft.com/office/drawing/2014/main" id="{26E2A646-7F9C-4401-BBA8-E396179D7722}"/>
              </a:ext>
            </a:extLst>
          </p:cNvPr>
          <p:cNvCxnSpPr>
            <a:cxnSpLocks/>
          </p:cNvCxnSpPr>
          <p:nvPr/>
        </p:nvCxnSpPr>
        <p:spPr>
          <a:xfrm flipH="1">
            <a:off x="2389799" y="2258568"/>
            <a:ext cx="929473" cy="1442122"/>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0" name="文本框 19">
            <a:extLst>
              <a:ext uri="{FF2B5EF4-FFF2-40B4-BE49-F238E27FC236}">
                <a16:creationId xmlns:a16="http://schemas.microsoft.com/office/drawing/2014/main" id="{8CFA85D6-C553-43BB-8C21-C92A2CD365C6}"/>
              </a:ext>
            </a:extLst>
          </p:cNvPr>
          <p:cNvSpPr txBox="1"/>
          <p:nvPr/>
        </p:nvSpPr>
        <p:spPr>
          <a:xfrm rot="18177696">
            <a:off x="1835753" y="2561250"/>
            <a:ext cx="1800493" cy="369332"/>
          </a:xfrm>
          <a:prstGeom prst="rect">
            <a:avLst/>
          </a:prstGeom>
          <a:noFill/>
        </p:spPr>
        <p:txBody>
          <a:bodyPr wrap="none" rtlCol="0">
            <a:spAutoFit/>
          </a:bodyPr>
          <a:lstStyle/>
          <a:p>
            <a:r>
              <a:rPr lang="zh-CN" altLang="en-US" b="1" dirty="0">
                <a:solidFill>
                  <a:srgbClr val="FFD450"/>
                </a:solidFill>
              </a:rPr>
              <a:t>内胚层发育路径</a:t>
            </a:r>
          </a:p>
        </p:txBody>
      </p:sp>
      <p:cxnSp>
        <p:nvCxnSpPr>
          <p:cNvPr id="22" name="直接箭头连接符 21">
            <a:extLst>
              <a:ext uri="{FF2B5EF4-FFF2-40B4-BE49-F238E27FC236}">
                <a16:creationId xmlns:a16="http://schemas.microsoft.com/office/drawing/2014/main" id="{920D2D3F-ED52-494D-BA8A-EB9E59567E70}"/>
              </a:ext>
            </a:extLst>
          </p:cNvPr>
          <p:cNvCxnSpPr>
            <a:cxnSpLocks/>
          </p:cNvCxnSpPr>
          <p:nvPr/>
        </p:nvCxnSpPr>
        <p:spPr>
          <a:xfrm flipH="1">
            <a:off x="1338659" y="4053141"/>
            <a:ext cx="752595" cy="477004"/>
          </a:xfrm>
          <a:prstGeom prst="straightConnector1">
            <a:avLst/>
          </a:prstGeom>
          <a:ln w="38100">
            <a:solidFill>
              <a:srgbClr val="B903AA"/>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23" name="文本框 22">
            <a:extLst>
              <a:ext uri="{FF2B5EF4-FFF2-40B4-BE49-F238E27FC236}">
                <a16:creationId xmlns:a16="http://schemas.microsoft.com/office/drawing/2014/main" id="{78FDB7CC-361B-43CA-951A-50A25E2EBD21}"/>
              </a:ext>
            </a:extLst>
          </p:cNvPr>
          <p:cNvSpPr txBox="1"/>
          <p:nvPr/>
        </p:nvSpPr>
        <p:spPr>
          <a:xfrm>
            <a:off x="-25622" y="4074851"/>
            <a:ext cx="1531269" cy="923330"/>
          </a:xfrm>
          <a:prstGeom prst="rect">
            <a:avLst/>
          </a:prstGeom>
          <a:noFill/>
        </p:spPr>
        <p:txBody>
          <a:bodyPr wrap="square">
            <a:spAutoFit/>
          </a:bodyPr>
          <a:lstStyle/>
          <a:p>
            <a:pPr algn="ctr"/>
            <a:r>
              <a:rPr lang="en-US" altLang="zh-CN" b="1" i="0" dirty="0">
                <a:solidFill>
                  <a:srgbClr val="B903AA"/>
                </a:solidFill>
                <a:effectLst/>
                <a:latin typeface="+mn-ea"/>
              </a:rPr>
              <a:t>Visceral Endoderm</a:t>
            </a:r>
          </a:p>
          <a:p>
            <a:pPr algn="ctr"/>
            <a:r>
              <a:rPr lang="zh-CN" altLang="en-US" b="1" dirty="0">
                <a:solidFill>
                  <a:srgbClr val="B903AA"/>
                </a:solidFill>
                <a:latin typeface="+mn-ea"/>
              </a:rPr>
              <a:t>内脏内胚层</a:t>
            </a:r>
          </a:p>
        </p:txBody>
      </p:sp>
    </p:spTree>
    <p:extLst>
      <p:ext uri="{BB962C8B-B14F-4D97-AF65-F5344CB8AC3E}">
        <p14:creationId xmlns:p14="http://schemas.microsoft.com/office/powerpoint/2010/main" val="228523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BC5405F-9F3F-47DF-B86F-E4335B93B354}"/>
              </a:ext>
            </a:extLst>
          </p:cNvPr>
          <p:cNvPicPr>
            <a:picLocks noChangeAspect="1"/>
          </p:cNvPicPr>
          <p:nvPr/>
        </p:nvPicPr>
        <p:blipFill rotWithShape="1">
          <a:blip r:embed="rId2">
            <a:extLst>
              <a:ext uri="{28A0092B-C50C-407E-A947-70E740481C1C}">
                <a14:useLocalDpi xmlns:a14="http://schemas.microsoft.com/office/drawing/2010/main" val="0"/>
              </a:ext>
            </a:extLst>
          </a:blip>
          <a:srcRect l="66294" b="50000"/>
          <a:stretch/>
        </p:blipFill>
        <p:spPr>
          <a:xfrm>
            <a:off x="404531" y="1207180"/>
            <a:ext cx="6856655" cy="4443640"/>
          </a:xfrm>
          <a:prstGeom prst="rect">
            <a:avLst/>
          </a:prstGeom>
        </p:spPr>
      </p:pic>
      <p:sp>
        <p:nvSpPr>
          <p:cNvPr id="2" name="文本占位符 1">
            <a:extLst>
              <a:ext uri="{FF2B5EF4-FFF2-40B4-BE49-F238E27FC236}">
                <a16:creationId xmlns:a16="http://schemas.microsoft.com/office/drawing/2014/main" id="{55D67768-0FED-410A-A3D1-7714B716D6D0}"/>
              </a:ext>
            </a:extLst>
          </p:cNvPr>
          <p:cNvSpPr>
            <a:spLocks noGrp="1"/>
          </p:cNvSpPr>
          <p:nvPr>
            <p:ph type="body" sz="quarter" idx="10"/>
          </p:nvPr>
        </p:nvSpPr>
        <p:spPr/>
        <p:txBody>
          <a:bodyPr/>
          <a:lstStyle/>
          <a:p>
            <a:r>
              <a:rPr lang="en-US" altLang="zh-CN" dirty="0"/>
              <a:t>UMAP</a:t>
            </a:r>
            <a:r>
              <a:rPr lang="zh-CN" altLang="en-US"/>
              <a:t>降维图</a:t>
            </a:r>
          </a:p>
        </p:txBody>
      </p:sp>
      <p:cxnSp>
        <p:nvCxnSpPr>
          <p:cNvPr id="4" name="直接箭头连接符 3">
            <a:extLst>
              <a:ext uri="{FF2B5EF4-FFF2-40B4-BE49-F238E27FC236}">
                <a16:creationId xmlns:a16="http://schemas.microsoft.com/office/drawing/2014/main" id="{86D689D7-9BF1-4A91-B7FD-F5D0931F47DF}"/>
              </a:ext>
            </a:extLst>
          </p:cNvPr>
          <p:cNvCxnSpPr>
            <a:cxnSpLocks/>
          </p:cNvCxnSpPr>
          <p:nvPr/>
        </p:nvCxnSpPr>
        <p:spPr>
          <a:xfrm flipH="1">
            <a:off x="2362367" y="2177121"/>
            <a:ext cx="929473" cy="1442122"/>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6" name="直接箭头连接符 5">
            <a:extLst>
              <a:ext uri="{FF2B5EF4-FFF2-40B4-BE49-F238E27FC236}">
                <a16:creationId xmlns:a16="http://schemas.microsoft.com/office/drawing/2014/main" id="{042B32C4-3703-41DC-9B12-B89EE29D18C8}"/>
              </a:ext>
            </a:extLst>
          </p:cNvPr>
          <p:cNvCxnSpPr>
            <a:cxnSpLocks/>
          </p:cNvCxnSpPr>
          <p:nvPr/>
        </p:nvCxnSpPr>
        <p:spPr>
          <a:xfrm>
            <a:off x="4800600" y="2113113"/>
            <a:ext cx="704088" cy="2304288"/>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0" name="文本框 9">
            <a:extLst>
              <a:ext uri="{FF2B5EF4-FFF2-40B4-BE49-F238E27FC236}">
                <a16:creationId xmlns:a16="http://schemas.microsoft.com/office/drawing/2014/main" id="{3985B41C-4C20-409F-9F93-68CE8639AE80}"/>
              </a:ext>
            </a:extLst>
          </p:cNvPr>
          <p:cNvSpPr txBox="1"/>
          <p:nvPr/>
        </p:nvSpPr>
        <p:spPr>
          <a:xfrm rot="18177696">
            <a:off x="1808321" y="2479803"/>
            <a:ext cx="1800493" cy="369332"/>
          </a:xfrm>
          <a:prstGeom prst="rect">
            <a:avLst/>
          </a:prstGeom>
          <a:noFill/>
        </p:spPr>
        <p:txBody>
          <a:bodyPr wrap="none" rtlCol="0">
            <a:spAutoFit/>
          </a:bodyPr>
          <a:lstStyle/>
          <a:p>
            <a:r>
              <a:rPr lang="zh-CN" altLang="en-US" b="1" dirty="0">
                <a:solidFill>
                  <a:srgbClr val="FFD450"/>
                </a:solidFill>
              </a:rPr>
              <a:t>内胚层发育路径</a:t>
            </a:r>
          </a:p>
        </p:txBody>
      </p:sp>
      <p:sp>
        <p:nvSpPr>
          <p:cNvPr id="11" name="文本框 10">
            <a:extLst>
              <a:ext uri="{FF2B5EF4-FFF2-40B4-BE49-F238E27FC236}">
                <a16:creationId xmlns:a16="http://schemas.microsoft.com/office/drawing/2014/main" id="{FB2A8212-D7C8-41CA-95FB-B72E51CE348C}"/>
              </a:ext>
            </a:extLst>
          </p:cNvPr>
          <p:cNvSpPr txBox="1"/>
          <p:nvPr/>
        </p:nvSpPr>
        <p:spPr>
          <a:xfrm rot="4374427">
            <a:off x="4341465" y="2685325"/>
            <a:ext cx="1800493" cy="369332"/>
          </a:xfrm>
          <a:prstGeom prst="rect">
            <a:avLst/>
          </a:prstGeom>
          <a:noFill/>
        </p:spPr>
        <p:txBody>
          <a:bodyPr wrap="none" rtlCol="0">
            <a:spAutoFit/>
          </a:bodyPr>
          <a:lstStyle/>
          <a:p>
            <a:r>
              <a:rPr lang="zh-CN" altLang="en-US" b="1" dirty="0">
                <a:solidFill>
                  <a:srgbClr val="FFD450"/>
                </a:solidFill>
              </a:rPr>
              <a:t>中胚层发育路径</a:t>
            </a:r>
          </a:p>
        </p:txBody>
      </p:sp>
      <p:cxnSp>
        <p:nvCxnSpPr>
          <p:cNvPr id="13" name="直接箭头连接符 12">
            <a:extLst>
              <a:ext uri="{FF2B5EF4-FFF2-40B4-BE49-F238E27FC236}">
                <a16:creationId xmlns:a16="http://schemas.microsoft.com/office/drawing/2014/main" id="{ACE5A315-65BE-4904-908F-490C9EF9EE2C}"/>
              </a:ext>
            </a:extLst>
          </p:cNvPr>
          <p:cNvCxnSpPr>
            <a:cxnSpLocks/>
          </p:cNvCxnSpPr>
          <p:nvPr/>
        </p:nvCxnSpPr>
        <p:spPr>
          <a:xfrm flipV="1">
            <a:off x="4277189" y="1550184"/>
            <a:ext cx="651427" cy="759069"/>
          </a:xfrm>
          <a:prstGeom prst="straightConnector1">
            <a:avLst/>
          </a:prstGeom>
          <a:ln w="38100">
            <a:solidFill>
              <a:srgbClr val="7A49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 name="文本框 14">
            <a:extLst>
              <a:ext uri="{FF2B5EF4-FFF2-40B4-BE49-F238E27FC236}">
                <a16:creationId xmlns:a16="http://schemas.microsoft.com/office/drawing/2014/main" id="{11AB456C-3D38-40B9-8660-2B3838E2B62E}"/>
              </a:ext>
            </a:extLst>
          </p:cNvPr>
          <p:cNvSpPr txBox="1"/>
          <p:nvPr/>
        </p:nvSpPr>
        <p:spPr>
          <a:xfrm>
            <a:off x="4669800" y="903853"/>
            <a:ext cx="1008609" cy="646331"/>
          </a:xfrm>
          <a:prstGeom prst="rect">
            <a:avLst/>
          </a:prstGeom>
          <a:noFill/>
        </p:spPr>
        <p:txBody>
          <a:bodyPr wrap="none" rtlCol="0">
            <a:spAutoFit/>
          </a:bodyPr>
          <a:lstStyle/>
          <a:p>
            <a:pPr algn="ctr"/>
            <a:r>
              <a:rPr lang="en-US" altLang="zh-CN" b="1" dirty="0">
                <a:solidFill>
                  <a:srgbClr val="7A4900"/>
                </a:solidFill>
              </a:rPr>
              <a:t>Epiblast</a:t>
            </a:r>
          </a:p>
          <a:p>
            <a:pPr algn="ctr"/>
            <a:r>
              <a:rPr lang="zh-CN" altLang="en-US" b="1" dirty="0">
                <a:solidFill>
                  <a:srgbClr val="7A4900"/>
                </a:solidFill>
              </a:rPr>
              <a:t>上胚层</a:t>
            </a:r>
          </a:p>
        </p:txBody>
      </p:sp>
      <p:sp>
        <p:nvSpPr>
          <p:cNvPr id="17" name="文本框 16">
            <a:extLst>
              <a:ext uri="{FF2B5EF4-FFF2-40B4-BE49-F238E27FC236}">
                <a16:creationId xmlns:a16="http://schemas.microsoft.com/office/drawing/2014/main" id="{48909067-146F-470A-9A20-AAEE16133C88}"/>
              </a:ext>
            </a:extLst>
          </p:cNvPr>
          <p:cNvSpPr txBox="1"/>
          <p:nvPr/>
        </p:nvSpPr>
        <p:spPr>
          <a:xfrm>
            <a:off x="2665726" y="862152"/>
            <a:ext cx="1838965" cy="646331"/>
          </a:xfrm>
          <a:prstGeom prst="rect">
            <a:avLst/>
          </a:prstGeom>
          <a:noFill/>
        </p:spPr>
        <p:txBody>
          <a:bodyPr wrap="none" rtlCol="0">
            <a:spAutoFit/>
          </a:bodyPr>
          <a:lstStyle/>
          <a:p>
            <a:pPr algn="ctr"/>
            <a:r>
              <a:rPr lang="en-US" altLang="zh-CN" b="1" dirty="0">
                <a:solidFill>
                  <a:srgbClr val="6B7900"/>
                </a:solidFill>
              </a:rPr>
              <a:t>Primitive Streak</a:t>
            </a:r>
          </a:p>
          <a:p>
            <a:pPr algn="ctr"/>
            <a:r>
              <a:rPr lang="zh-CN" altLang="en-US" b="1" dirty="0">
                <a:solidFill>
                  <a:srgbClr val="6B7900"/>
                </a:solidFill>
              </a:rPr>
              <a:t>原条细胞</a:t>
            </a:r>
          </a:p>
        </p:txBody>
      </p:sp>
      <p:cxnSp>
        <p:nvCxnSpPr>
          <p:cNvPr id="18" name="直接箭头连接符 17">
            <a:extLst>
              <a:ext uri="{FF2B5EF4-FFF2-40B4-BE49-F238E27FC236}">
                <a16:creationId xmlns:a16="http://schemas.microsoft.com/office/drawing/2014/main" id="{D50647A7-934B-444D-9BF1-C955B515ED90}"/>
              </a:ext>
            </a:extLst>
          </p:cNvPr>
          <p:cNvCxnSpPr>
            <a:cxnSpLocks/>
          </p:cNvCxnSpPr>
          <p:nvPr/>
        </p:nvCxnSpPr>
        <p:spPr>
          <a:xfrm flipH="1" flipV="1">
            <a:off x="3732617" y="1509823"/>
            <a:ext cx="165267" cy="1427639"/>
          </a:xfrm>
          <a:prstGeom prst="straightConnector1">
            <a:avLst/>
          </a:prstGeom>
          <a:ln w="38100">
            <a:solidFill>
              <a:srgbClr val="6B79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1" name="直接箭头连接符 20">
            <a:extLst>
              <a:ext uri="{FF2B5EF4-FFF2-40B4-BE49-F238E27FC236}">
                <a16:creationId xmlns:a16="http://schemas.microsoft.com/office/drawing/2014/main" id="{9AD24BF5-20E9-4363-B021-207DA1D867C2}"/>
              </a:ext>
            </a:extLst>
          </p:cNvPr>
          <p:cNvCxnSpPr>
            <a:cxnSpLocks/>
            <a:endCxn id="26" idx="2"/>
          </p:cNvCxnSpPr>
          <p:nvPr/>
        </p:nvCxnSpPr>
        <p:spPr>
          <a:xfrm flipH="1" flipV="1">
            <a:off x="1310530" y="1742892"/>
            <a:ext cx="134222" cy="882286"/>
          </a:xfrm>
          <a:prstGeom prst="straightConnector1">
            <a:avLst/>
          </a:prstGeom>
          <a:ln w="38100">
            <a:solidFill>
              <a:srgbClr val="B6955F"/>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26" name="文本框 25">
            <a:extLst>
              <a:ext uri="{FF2B5EF4-FFF2-40B4-BE49-F238E27FC236}">
                <a16:creationId xmlns:a16="http://schemas.microsoft.com/office/drawing/2014/main" id="{7994B061-3168-4F5D-A03D-EE951A143F2B}"/>
              </a:ext>
            </a:extLst>
          </p:cNvPr>
          <p:cNvSpPr txBox="1"/>
          <p:nvPr/>
        </p:nvSpPr>
        <p:spPr>
          <a:xfrm>
            <a:off x="144986" y="819562"/>
            <a:ext cx="2331087" cy="923330"/>
          </a:xfrm>
          <a:prstGeom prst="rect">
            <a:avLst/>
          </a:prstGeom>
          <a:noFill/>
        </p:spPr>
        <p:txBody>
          <a:bodyPr wrap="none" rtlCol="0">
            <a:spAutoFit/>
          </a:bodyPr>
          <a:lstStyle/>
          <a:p>
            <a:pPr algn="ctr"/>
            <a:r>
              <a:rPr lang="en-US" altLang="zh-CN" b="1" dirty="0">
                <a:solidFill>
                  <a:srgbClr val="B6955F"/>
                </a:solidFill>
              </a:rPr>
              <a:t>Extraembryonic(</a:t>
            </a:r>
            <a:r>
              <a:rPr lang="en-US" altLang="zh-CN" b="1" dirty="0" err="1">
                <a:solidFill>
                  <a:srgbClr val="B6955F"/>
                </a:solidFill>
              </a:rPr>
              <a:t>ExE</a:t>
            </a:r>
            <a:r>
              <a:rPr lang="en-US" altLang="zh-CN" b="1" dirty="0">
                <a:solidFill>
                  <a:srgbClr val="B6955F"/>
                </a:solidFill>
              </a:rPr>
              <a:t>)</a:t>
            </a:r>
          </a:p>
          <a:p>
            <a:pPr algn="ctr"/>
            <a:r>
              <a:rPr lang="en-US" altLang="zh-CN" b="1" dirty="0">
                <a:solidFill>
                  <a:srgbClr val="B6955F"/>
                </a:solidFill>
              </a:rPr>
              <a:t>Ectoderm</a:t>
            </a:r>
          </a:p>
          <a:p>
            <a:pPr algn="ctr"/>
            <a:r>
              <a:rPr lang="zh-CN" altLang="en-US" b="1" dirty="0">
                <a:solidFill>
                  <a:srgbClr val="B6955F"/>
                </a:solidFill>
              </a:rPr>
              <a:t>胚外外胚层</a:t>
            </a:r>
          </a:p>
        </p:txBody>
      </p:sp>
      <p:sp>
        <p:nvSpPr>
          <p:cNvPr id="29" name="文本框 28">
            <a:extLst>
              <a:ext uri="{FF2B5EF4-FFF2-40B4-BE49-F238E27FC236}">
                <a16:creationId xmlns:a16="http://schemas.microsoft.com/office/drawing/2014/main" id="{849428F2-D4DF-466A-8BA6-E41BC57AB212}"/>
              </a:ext>
            </a:extLst>
          </p:cNvPr>
          <p:cNvSpPr txBox="1"/>
          <p:nvPr/>
        </p:nvSpPr>
        <p:spPr>
          <a:xfrm>
            <a:off x="247175" y="5470915"/>
            <a:ext cx="2768707" cy="646331"/>
          </a:xfrm>
          <a:prstGeom prst="rect">
            <a:avLst/>
          </a:prstGeom>
          <a:noFill/>
        </p:spPr>
        <p:txBody>
          <a:bodyPr wrap="none" rtlCol="0">
            <a:spAutoFit/>
          </a:bodyPr>
          <a:lstStyle/>
          <a:p>
            <a:pPr algn="ctr"/>
            <a:r>
              <a:rPr lang="en-US" altLang="zh-CN" b="1" dirty="0">
                <a:solidFill>
                  <a:srgbClr val="1CE6FF"/>
                </a:solidFill>
              </a:rPr>
              <a:t>Anterior Primitive Streak</a:t>
            </a:r>
          </a:p>
          <a:p>
            <a:pPr algn="ctr"/>
            <a:r>
              <a:rPr lang="zh-CN" altLang="en-US" b="1" dirty="0">
                <a:solidFill>
                  <a:srgbClr val="1CE6FF"/>
                </a:solidFill>
              </a:rPr>
              <a:t>前原条细胞</a:t>
            </a:r>
          </a:p>
        </p:txBody>
      </p:sp>
      <p:cxnSp>
        <p:nvCxnSpPr>
          <p:cNvPr id="30" name="直接箭头连接符 29">
            <a:extLst>
              <a:ext uri="{FF2B5EF4-FFF2-40B4-BE49-F238E27FC236}">
                <a16:creationId xmlns:a16="http://schemas.microsoft.com/office/drawing/2014/main" id="{1C5A8B46-4592-4FFA-907C-1D1B91F0EFFE}"/>
              </a:ext>
            </a:extLst>
          </p:cNvPr>
          <p:cNvCxnSpPr>
            <a:cxnSpLocks/>
            <a:endCxn id="29" idx="0"/>
          </p:cNvCxnSpPr>
          <p:nvPr/>
        </p:nvCxnSpPr>
        <p:spPr>
          <a:xfrm flipH="1">
            <a:off x="1631529" y="3700186"/>
            <a:ext cx="1637036" cy="1770729"/>
          </a:xfrm>
          <a:prstGeom prst="straightConnector1">
            <a:avLst/>
          </a:prstGeom>
          <a:ln w="38100">
            <a:solidFill>
              <a:srgbClr val="1CE6FF"/>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35" name="文本框 34">
            <a:extLst>
              <a:ext uri="{FF2B5EF4-FFF2-40B4-BE49-F238E27FC236}">
                <a16:creationId xmlns:a16="http://schemas.microsoft.com/office/drawing/2014/main" id="{3F3C2134-4D5B-4BE4-AA9A-17F680D26909}"/>
              </a:ext>
            </a:extLst>
          </p:cNvPr>
          <p:cNvSpPr txBox="1"/>
          <p:nvPr/>
        </p:nvSpPr>
        <p:spPr>
          <a:xfrm>
            <a:off x="3027643" y="5551858"/>
            <a:ext cx="2214068" cy="646331"/>
          </a:xfrm>
          <a:prstGeom prst="rect">
            <a:avLst/>
          </a:prstGeom>
          <a:noFill/>
        </p:spPr>
        <p:txBody>
          <a:bodyPr wrap="none" rtlCol="0">
            <a:spAutoFit/>
          </a:bodyPr>
          <a:lstStyle/>
          <a:p>
            <a:pPr algn="ctr"/>
            <a:r>
              <a:rPr lang="en-US" altLang="zh-CN" b="1" dirty="0">
                <a:solidFill>
                  <a:srgbClr val="4FC601"/>
                </a:solidFill>
              </a:rPr>
              <a:t>Nascent Mesoderm</a:t>
            </a:r>
            <a:br>
              <a:rPr lang="en-US" altLang="zh-CN" b="1" dirty="0">
                <a:solidFill>
                  <a:srgbClr val="4FC601"/>
                </a:solidFill>
              </a:rPr>
            </a:br>
            <a:r>
              <a:rPr lang="zh-CN" altLang="en-US" b="1" dirty="0">
                <a:solidFill>
                  <a:srgbClr val="4FC601"/>
                </a:solidFill>
              </a:rPr>
              <a:t>新生中胚层</a:t>
            </a:r>
          </a:p>
        </p:txBody>
      </p:sp>
      <p:cxnSp>
        <p:nvCxnSpPr>
          <p:cNvPr id="36" name="直接箭头连接符 35">
            <a:extLst>
              <a:ext uri="{FF2B5EF4-FFF2-40B4-BE49-F238E27FC236}">
                <a16:creationId xmlns:a16="http://schemas.microsoft.com/office/drawing/2014/main" id="{B9974DC9-A9D7-40E3-8B3E-23411D85BE5F}"/>
              </a:ext>
            </a:extLst>
          </p:cNvPr>
          <p:cNvCxnSpPr>
            <a:cxnSpLocks/>
          </p:cNvCxnSpPr>
          <p:nvPr/>
        </p:nvCxnSpPr>
        <p:spPr>
          <a:xfrm flipH="1">
            <a:off x="3897884" y="3971694"/>
            <a:ext cx="20714" cy="1637760"/>
          </a:xfrm>
          <a:prstGeom prst="straightConnector1">
            <a:avLst/>
          </a:prstGeom>
          <a:ln w="38100">
            <a:solidFill>
              <a:srgbClr val="4FC601"/>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8" name="文本框 7">
            <a:extLst>
              <a:ext uri="{FF2B5EF4-FFF2-40B4-BE49-F238E27FC236}">
                <a16:creationId xmlns:a16="http://schemas.microsoft.com/office/drawing/2014/main" id="{0F6BE40A-CEF6-4716-8C8D-A2901172D466}"/>
              </a:ext>
            </a:extLst>
          </p:cNvPr>
          <p:cNvSpPr txBox="1"/>
          <p:nvPr/>
        </p:nvSpPr>
        <p:spPr>
          <a:xfrm>
            <a:off x="6820075" y="1814077"/>
            <a:ext cx="4884245" cy="4154984"/>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a:solidFill>
                  <a:srgbClr val="1F77B4"/>
                </a:solidFill>
              </a:rPr>
              <a:t>E6.5</a:t>
            </a:r>
            <a:r>
              <a:rPr lang="zh-CN" altLang="en-US" sz="2400" dirty="0"/>
              <a:t>、</a:t>
            </a:r>
            <a:r>
              <a:rPr lang="en-US" altLang="zh-CN" sz="2400" b="1" dirty="0">
                <a:solidFill>
                  <a:srgbClr val="FF7F0E"/>
                </a:solidFill>
              </a:rPr>
              <a:t>E6.75</a:t>
            </a:r>
            <a:r>
              <a:rPr lang="zh-CN" altLang="en-US" sz="2400" dirty="0"/>
              <a:t>期的细胞绝大部分位于</a:t>
            </a:r>
            <a:r>
              <a:rPr lang="zh-CN" altLang="en-US" sz="2400" b="1" dirty="0"/>
              <a:t>上胚层</a:t>
            </a:r>
            <a:r>
              <a:rPr lang="zh-CN" altLang="en-US" sz="2400" dirty="0"/>
              <a:t>。</a:t>
            </a:r>
            <a:endParaRPr lang="en-US" altLang="zh-CN"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b="1" dirty="0">
                <a:solidFill>
                  <a:srgbClr val="1F77B4"/>
                </a:solidFill>
              </a:rPr>
              <a:t>E6.5</a:t>
            </a:r>
            <a:r>
              <a:rPr lang="en-US" altLang="zh-CN" sz="2400" dirty="0"/>
              <a:t>-</a:t>
            </a:r>
            <a:r>
              <a:rPr lang="en-US" altLang="zh-CN" sz="2400" b="1" dirty="0">
                <a:solidFill>
                  <a:srgbClr val="D62728"/>
                </a:solidFill>
              </a:rPr>
              <a:t>E7.5</a:t>
            </a:r>
            <a:r>
              <a:rPr lang="zh-CN" altLang="en-US" sz="2400" dirty="0"/>
              <a:t>期胚胎中均存在</a:t>
            </a:r>
            <a:r>
              <a:rPr lang="zh-CN" altLang="en-US" sz="2400" b="1" dirty="0"/>
              <a:t>上胚层和原条细胞</a:t>
            </a:r>
            <a:r>
              <a:rPr lang="zh-CN" altLang="en-US" sz="2400" dirty="0"/>
              <a:t>。</a:t>
            </a:r>
            <a:endParaRPr lang="en-US" altLang="zh-CN"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zh-CN" altLang="en-US" sz="2400" b="1" dirty="0"/>
              <a:t>新生中胚层细胞、前原条细胞</a:t>
            </a:r>
            <a:r>
              <a:rPr lang="zh-CN" altLang="en-US" sz="2400" dirty="0"/>
              <a:t>主要出现在</a:t>
            </a:r>
            <a:r>
              <a:rPr lang="en-US" altLang="zh-CN" sz="2400" b="1" dirty="0">
                <a:solidFill>
                  <a:srgbClr val="AA40FC"/>
                </a:solidFill>
              </a:rPr>
              <a:t>E7.25</a:t>
            </a:r>
            <a:r>
              <a:rPr lang="zh-CN" altLang="en-US" sz="2400" dirty="0"/>
              <a:t>期的胚胎。</a:t>
            </a:r>
            <a:endParaRPr lang="en-US" altLang="zh-CN"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zh-CN" altLang="en-US" sz="2400" b="1" dirty="0"/>
              <a:t>定型内胚层细胞</a:t>
            </a:r>
            <a:r>
              <a:rPr lang="zh-CN" altLang="en-US" sz="2400" dirty="0"/>
              <a:t>主要出现在</a:t>
            </a:r>
            <a:r>
              <a:rPr lang="en-US" altLang="zh-CN" sz="2400" b="1" dirty="0">
                <a:solidFill>
                  <a:srgbClr val="D62728"/>
                </a:solidFill>
              </a:rPr>
              <a:t>E7.5</a:t>
            </a:r>
            <a:r>
              <a:rPr lang="zh-CN" altLang="en-US" sz="2400" dirty="0"/>
              <a:t>期</a:t>
            </a:r>
          </a:p>
        </p:txBody>
      </p:sp>
      <p:cxnSp>
        <p:nvCxnSpPr>
          <p:cNvPr id="27" name="直接箭头连接符 26">
            <a:extLst>
              <a:ext uri="{FF2B5EF4-FFF2-40B4-BE49-F238E27FC236}">
                <a16:creationId xmlns:a16="http://schemas.microsoft.com/office/drawing/2014/main" id="{156D5336-23E9-4056-805F-A66C69EA6568}"/>
              </a:ext>
            </a:extLst>
          </p:cNvPr>
          <p:cNvCxnSpPr>
            <a:cxnSpLocks/>
          </p:cNvCxnSpPr>
          <p:nvPr/>
        </p:nvCxnSpPr>
        <p:spPr>
          <a:xfrm flipH="1">
            <a:off x="1320485" y="4050792"/>
            <a:ext cx="743337" cy="382805"/>
          </a:xfrm>
          <a:prstGeom prst="straightConnector1">
            <a:avLst/>
          </a:prstGeom>
          <a:ln w="38100">
            <a:solidFill>
              <a:srgbClr val="B903AA"/>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28" name="文本框 27">
            <a:extLst>
              <a:ext uri="{FF2B5EF4-FFF2-40B4-BE49-F238E27FC236}">
                <a16:creationId xmlns:a16="http://schemas.microsoft.com/office/drawing/2014/main" id="{E01CFDAB-E8CF-49DE-AF11-3DB2C7A38D2E}"/>
              </a:ext>
            </a:extLst>
          </p:cNvPr>
          <p:cNvSpPr txBox="1"/>
          <p:nvPr/>
        </p:nvSpPr>
        <p:spPr>
          <a:xfrm>
            <a:off x="-43796" y="3978303"/>
            <a:ext cx="1531269" cy="923330"/>
          </a:xfrm>
          <a:prstGeom prst="rect">
            <a:avLst/>
          </a:prstGeom>
          <a:noFill/>
        </p:spPr>
        <p:txBody>
          <a:bodyPr wrap="square">
            <a:spAutoFit/>
          </a:bodyPr>
          <a:lstStyle/>
          <a:p>
            <a:pPr algn="ctr"/>
            <a:r>
              <a:rPr lang="en-US" altLang="zh-CN" b="1" i="0" dirty="0">
                <a:solidFill>
                  <a:srgbClr val="B903AA"/>
                </a:solidFill>
                <a:effectLst/>
                <a:latin typeface="+mn-ea"/>
              </a:rPr>
              <a:t>Visceral Endoderm</a:t>
            </a:r>
          </a:p>
          <a:p>
            <a:pPr algn="ctr"/>
            <a:r>
              <a:rPr lang="zh-CN" altLang="en-US" b="1" dirty="0">
                <a:solidFill>
                  <a:srgbClr val="B903AA"/>
                </a:solidFill>
                <a:latin typeface="+mn-ea"/>
              </a:rPr>
              <a:t>内脏内胚层</a:t>
            </a:r>
          </a:p>
        </p:txBody>
      </p:sp>
    </p:spTree>
    <p:extLst>
      <p:ext uri="{BB962C8B-B14F-4D97-AF65-F5344CB8AC3E}">
        <p14:creationId xmlns:p14="http://schemas.microsoft.com/office/powerpoint/2010/main" val="1756442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1FD4513-E24A-45D1-987C-5265BC22B7C8}"/>
              </a:ext>
            </a:extLst>
          </p:cNvPr>
          <p:cNvSpPr>
            <a:spLocks noGrp="1"/>
          </p:cNvSpPr>
          <p:nvPr>
            <p:ph type="body" sz="quarter" idx="10"/>
          </p:nvPr>
        </p:nvSpPr>
        <p:spPr>
          <a:xfrm>
            <a:off x="249084" y="0"/>
            <a:ext cx="8761566" cy="740580"/>
          </a:xfrm>
        </p:spPr>
        <p:txBody>
          <a:bodyPr/>
          <a:lstStyle/>
          <a:p>
            <a:r>
              <a:rPr lang="zh-CN" altLang="en-US" dirty="0"/>
              <a:t>上胚层</a:t>
            </a:r>
            <a:r>
              <a:rPr lang="en-US" altLang="zh-CN" dirty="0"/>
              <a:t>—</a:t>
            </a:r>
            <a:r>
              <a:rPr lang="zh-CN" altLang="en-US" dirty="0"/>
              <a:t>血液发育路径 流形发育图</a:t>
            </a:r>
          </a:p>
        </p:txBody>
      </p:sp>
      <p:pic>
        <p:nvPicPr>
          <p:cNvPr id="4" name="图片 3">
            <a:extLst>
              <a:ext uri="{FF2B5EF4-FFF2-40B4-BE49-F238E27FC236}">
                <a16:creationId xmlns:a16="http://schemas.microsoft.com/office/drawing/2014/main" id="{8CC895CA-91FB-45DE-9938-D227B7576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9569"/>
            <a:ext cx="7785019" cy="4438862"/>
          </a:xfrm>
          <a:prstGeom prst="rect">
            <a:avLst/>
          </a:prstGeom>
        </p:spPr>
      </p:pic>
      <p:pic>
        <p:nvPicPr>
          <p:cNvPr id="5" name="图片 4">
            <a:extLst>
              <a:ext uri="{FF2B5EF4-FFF2-40B4-BE49-F238E27FC236}">
                <a16:creationId xmlns:a16="http://schemas.microsoft.com/office/drawing/2014/main" id="{095EF1E9-76D5-4FDF-B842-4346C171C6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7181" y="1209569"/>
            <a:ext cx="4351904" cy="4438862"/>
          </a:xfrm>
          <a:prstGeom prst="rect">
            <a:avLst/>
          </a:prstGeom>
        </p:spPr>
      </p:pic>
      <p:cxnSp>
        <p:nvCxnSpPr>
          <p:cNvPr id="6" name="直接箭头连接符 5">
            <a:extLst>
              <a:ext uri="{FF2B5EF4-FFF2-40B4-BE49-F238E27FC236}">
                <a16:creationId xmlns:a16="http://schemas.microsoft.com/office/drawing/2014/main" id="{837831B4-15D7-4EBA-A4EB-44EE3A65B10A}"/>
              </a:ext>
            </a:extLst>
          </p:cNvPr>
          <p:cNvCxnSpPr>
            <a:cxnSpLocks/>
            <a:endCxn id="7" idx="0"/>
          </p:cNvCxnSpPr>
          <p:nvPr/>
        </p:nvCxnSpPr>
        <p:spPr>
          <a:xfrm>
            <a:off x="764117" y="5138928"/>
            <a:ext cx="0" cy="400084"/>
          </a:xfrm>
          <a:prstGeom prst="straightConnector1">
            <a:avLst/>
          </a:prstGeom>
          <a:ln w="28575">
            <a:solidFill>
              <a:srgbClr val="7A4900"/>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7" name="文本框 6">
            <a:extLst>
              <a:ext uri="{FF2B5EF4-FFF2-40B4-BE49-F238E27FC236}">
                <a16:creationId xmlns:a16="http://schemas.microsoft.com/office/drawing/2014/main" id="{93420CFB-C3A4-43FA-A7A5-A5DEC8512424}"/>
              </a:ext>
            </a:extLst>
          </p:cNvPr>
          <p:cNvSpPr txBox="1"/>
          <p:nvPr/>
        </p:nvSpPr>
        <p:spPr>
          <a:xfrm>
            <a:off x="259812" y="5539012"/>
            <a:ext cx="1008609" cy="646331"/>
          </a:xfrm>
          <a:prstGeom prst="rect">
            <a:avLst/>
          </a:prstGeom>
          <a:noFill/>
        </p:spPr>
        <p:txBody>
          <a:bodyPr wrap="square" rtlCol="0">
            <a:spAutoFit/>
          </a:bodyPr>
          <a:lstStyle/>
          <a:p>
            <a:pPr algn="ctr"/>
            <a:r>
              <a:rPr lang="en-US" altLang="zh-CN" b="1" dirty="0">
                <a:solidFill>
                  <a:srgbClr val="7A4900"/>
                </a:solidFill>
              </a:rPr>
              <a:t>Epiblast</a:t>
            </a:r>
          </a:p>
          <a:p>
            <a:pPr algn="ctr"/>
            <a:r>
              <a:rPr lang="zh-CN" altLang="en-US" b="1" dirty="0">
                <a:solidFill>
                  <a:srgbClr val="7A4900"/>
                </a:solidFill>
              </a:rPr>
              <a:t>上胚层</a:t>
            </a:r>
          </a:p>
        </p:txBody>
      </p:sp>
      <p:sp>
        <p:nvSpPr>
          <p:cNvPr id="11" name="文本框 10">
            <a:extLst>
              <a:ext uri="{FF2B5EF4-FFF2-40B4-BE49-F238E27FC236}">
                <a16:creationId xmlns:a16="http://schemas.microsoft.com/office/drawing/2014/main" id="{A8A77827-1C84-4D5F-A066-3939AFBA4647}"/>
              </a:ext>
            </a:extLst>
          </p:cNvPr>
          <p:cNvSpPr txBox="1"/>
          <p:nvPr/>
        </p:nvSpPr>
        <p:spPr>
          <a:xfrm>
            <a:off x="1300945" y="5536760"/>
            <a:ext cx="1838965" cy="646331"/>
          </a:xfrm>
          <a:prstGeom prst="rect">
            <a:avLst/>
          </a:prstGeom>
          <a:noFill/>
        </p:spPr>
        <p:txBody>
          <a:bodyPr wrap="none" rtlCol="0">
            <a:spAutoFit/>
          </a:bodyPr>
          <a:lstStyle/>
          <a:p>
            <a:pPr algn="ctr"/>
            <a:r>
              <a:rPr lang="en-US" altLang="zh-CN" b="1" dirty="0">
                <a:solidFill>
                  <a:srgbClr val="6B7900"/>
                </a:solidFill>
              </a:rPr>
              <a:t>Primitive Streak</a:t>
            </a:r>
          </a:p>
          <a:p>
            <a:pPr algn="ctr"/>
            <a:r>
              <a:rPr lang="zh-CN" altLang="en-US" b="1" dirty="0">
                <a:solidFill>
                  <a:srgbClr val="6B7900"/>
                </a:solidFill>
              </a:rPr>
              <a:t>原条细胞</a:t>
            </a:r>
          </a:p>
        </p:txBody>
      </p:sp>
      <p:cxnSp>
        <p:nvCxnSpPr>
          <p:cNvPr id="12" name="直接箭头连接符 11">
            <a:extLst>
              <a:ext uri="{FF2B5EF4-FFF2-40B4-BE49-F238E27FC236}">
                <a16:creationId xmlns:a16="http://schemas.microsoft.com/office/drawing/2014/main" id="{BAEBBF0D-E6F4-4D2C-923E-BEF8365A502D}"/>
              </a:ext>
            </a:extLst>
          </p:cNvPr>
          <p:cNvCxnSpPr>
            <a:cxnSpLocks/>
          </p:cNvCxnSpPr>
          <p:nvPr/>
        </p:nvCxnSpPr>
        <p:spPr>
          <a:xfrm>
            <a:off x="1219047" y="4536528"/>
            <a:ext cx="728625" cy="1000232"/>
          </a:xfrm>
          <a:prstGeom prst="straightConnector1">
            <a:avLst/>
          </a:prstGeom>
          <a:ln w="28575">
            <a:solidFill>
              <a:srgbClr val="6B7900"/>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8" name="文本框 17">
            <a:extLst>
              <a:ext uri="{FF2B5EF4-FFF2-40B4-BE49-F238E27FC236}">
                <a16:creationId xmlns:a16="http://schemas.microsoft.com/office/drawing/2014/main" id="{002EFA5C-FA2D-46C5-9E1B-24489D0CE2EF}"/>
              </a:ext>
            </a:extLst>
          </p:cNvPr>
          <p:cNvSpPr txBox="1"/>
          <p:nvPr/>
        </p:nvSpPr>
        <p:spPr>
          <a:xfrm>
            <a:off x="1498901" y="2308934"/>
            <a:ext cx="2214068" cy="646331"/>
          </a:xfrm>
          <a:prstGeom prst="rect">
            <a:avLst/>
          </a:prstGeom>
          <a:noFill/>
        </p:spPr>
        <p:txBody>
          <a:bodyPr wrap="square" rtlCol="0">
            <a:spAutoFit/>
          </a:bodyPr>
          <a:lstStyle/>
          <a:p>
            <a:pPr algn="ctr"/>
            <a:r>
              <a:rPr lang="en-US" altLang="zh-CN" b="1" dirty="0">
                <a:solidFill>
                  <a:srgbClr val="4FC601"/>
                </a:solidFill>
              </a:rPr>
              <a:t>Nascent Mesoderm</a:t>
            </a:r>
            <a:br>
              <a:rPr lang="en-US" altLang="zh-CN" b="1" dirty="0">
                <a:solidFill>
                  <a:srgbClr val="4FC601"/>
                </a:solidFill>
              </a:rPr>
            </a:br>
            <a:r>
              <a:rPr lang="zh-CN" altLang="en-US" b="1" dirty="0">
                <a:solidFill>
                  <a:srgbClr val="4FC601"/>
                </a:solidFill>
              </a:rPr>
              <a:t>新生中胚层</a:t>
            </a:r>
          </a:p>
        </p:txBody>
      </p:sp>
      <p:cxnSp>
        <p:nvCxnSpPr>
          <p:cNvPr id="19" name="直接箭头连接符 18">
            <a:extLst>
              <a:ext uri="{FF2B5EF4-FFF2-40B4-BE49-F238E27FC236}">
                <a16:creationId xmlns:a16="http://schemas.microsoft.com/office/drawing/2014/main" id="{C49F24D8-4624-48C7-AA0F-96E2A79E5FC7}"/>
              </a:ext>
            </a:extLst>
          </p:cNvPr>
          <p:cNvCxnSpPr>
            <a:cxnSpLocks/>
          </p:cNvCxnSpPr>
          <p:nvPr/>
        </p:nvCxnSpPr>
        <p:spPr>
          <a:xfrm flipV="1">
            <a:off x="1086572" y="2711633"/>
            <a:ext cx="750255" cy="618133"/>
          </a:xfrm>
          <a:prstGeom prst="straightConnector1">
            <a:avLst/>
          </a:prstGeom>
          <a:ln w="28575">
            <a:solidFill>
              <a:srgbClr val="4FC60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3" name="文本框 22">
            <a:extLst>
              <a:ext uri="{FF2B5EF4-FFF2-40B4-BE49-F238E27FC236}">
                <a16:creationId xmlns:a16="http://schemas.microsoft.com/office/drawing/2014/main" id="{13C5CC15-E996-4FE1-A6C0-03D773370A23}"/>
              </a:ext>
            </a:extLst>
          </p:cNvPr>
          <p:cNvSpPr txBox="1"/>
          <p:nvPr/>
        </p:nvSpPr>
        <p:spPr>
          <a:xfrm>
            <a:off x="1461699" y="2955265"/>
            <a:ext cx="2768707" cy="646331"/>
          </a:xfrm>
          <a:prstGeom prst="rect">
            <a:avLst/>
          </a:prstGeom>
          <a:noFill/>
        </p:spPr>
        <p:txBody>
          <a:bodyPr wrap="square" rtlCol="0">
            <a:spAutoFit/>
          </a:bodyPr>
          <a:lstStyle/>
          <a:p>
            <a:pPr algn="ctr"/>
            <a:r>
              <a:rPr lang="en-US" altLang="zh-CN" b="1" dirty="0">
                <a:solidFill>
                  <a:srgbClr val="1CE6FF"/>
                </a:solidFill>
              </a:rPr>
              <a:t>Anterior Primitive Streak</a:t>
            </a:r>
          </a:p>
          <a:p>
            <a:pPr algn="ctr"/>
            <a:r>
              <a:rPr lang="zh-CN" altLang="en-US" b="1" dirty="0">
                <a:solidFill>
                  <a:srgbClr val="1CE6FF"/>
                </a:solidFill>
              </a:rPr>
              <a:t>前原条细胞</a:t>
            </a:r>
          </a:p>
        </p:txBody>
      </p:sp>
      <p:cxnSp>
        <p:nvCxnSpPr>
          <p:cNvPr id="24" name="直接箭头连接符 23">
            <a:extLst>
              <a:ext uri="{FF2B5EF4-FFF2-40B4-BE49-F238E27FC236}">
                <a16:creationId xmlns:a16="http://schemas.microsoft.com/office/drawing/2014/main" id="{B4D409A6-2E05-4BDA-B2A4-634CB6EC5E8F}"/>
              </a:ext>
            </a:extLst>
          </p:cNvPr>
          <p:cNvCxnSpPr>
            <a:cxnSpLocks/>
          </p:cNvCxnSpPr>
          <p:nvPr/>
        </p:nvCxnSpPr>
        <p:spPr>
          <a:xfrm flipV="1">
            <a:off x="1498901" y="3355499"/>
            <a:ext cx="567643" cy="534698"/>
          </a:xfrm>
          <a:prstGeom prst="straightConnector1">
            <a:avLst/>
          </a:prstGeom>
          <a:ln w="28575">
            <a:solidFill>
              <a:srgbClr val="1CE6FF"/>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1" name="文本框 30">
            <a:extLst>
              <a:ext uri="{FF2B5EF4-FFF2-40B4-BE49-F238E27FC236}">
                <a16:creationId xmlns:a16="http://schemas.microsoft.com/office/drawing/2014/main" id="{3934771D-82A5-4492-B166-F82BCBC05C9A}"/>
              </a:ext>
            </a:extLst>
          </p:cNvPr>
          <p:cNvSpPr txBox="1"/>
          <p:nvPr/>
        </p:nvSpPr>
        <p:spPr>
          <a:xfrm>
            <a:off x="3078517" y="5536759"/>
            <a:ext cx="1952376" cy="646331"/>
          </a:xfrm>
          <a:prstGeom prst="rect">
            <a:avLst/>
          </a:prstGeom>
          <a:noFill/>
          <a:ln>
            <a:noFill/>
          </a:ln>
        </p:spPr>
        <p:txBody>
          <a:bodyPr wrap="square" rtlCol="0">
            <a:spAutoFit/>
          </a:bodyPr>
          <a:lstStyle/>
          <a:p>
            <a:pPr algn="ctr"/>
            <a:r>
              <a:rPr lang="en-US" altLang="zh-CN" b="1" dirty="0">
                <a:solidFill>
                  <a:srgbClr val="FFDBE5"/>
                </a:solidFill>
              </a:rPr>
              <a:t>Def. endoderm</a:t>
            </a:r>
          </a:p>
          <a:p>
            <a:pPr algn="ctr"/>
            <a:r>
              <a:rPr lang="zh-CN" altLang="en-US" b="1" dirty="0">
                <a:solidFill>
                  <a:srgbClr val="FFDBE5"/>
                </a:solidFill>
              </a:rPr>
              <a:t>定型内胚层</a:t>
            </a:r>
          </a:p>
        </p:txBody>
      </p:sp>
      <p:cxnSp>
        <p:nvCxnSpPr>
          <p:cNvPr id="32" name="直接箭头连接符 31">
            <a:extLst>
              <a:ext uri="{FF2B5EF4-FFF2-40B4-BE49-F238E27FC236}">
                <a16:creationId xmlns:a16="http://schemas.microsoft.com/office/drawing/2014/main" id="{97139C00-6B59-46F2-B5F4-3448AD93CBC6}"/>
              </a:ext>
            </a:extLst>
          </p:cNvPr>
          <p:cNvCxnSpPr>
            <a:cxnSpLocks/>
          </p:cNvCxnSpPr>
          <p:nvPr/>
        </p:nvCxnSpPr>
        <p:spPr>
          <a:xfrm>
            <a:off x="1805248" y="4137546"/>
            <a:ext cx="1965993" cy="1436631"/>
          </a:xfrm>
          <a:prstGeom prst="straightConnector1">
            <a:avLst/>
          </a:prstGeom>
          <a:ln w="28575">
            <a:solidFill>
              <a:srgbClr val="FFDBE5"/>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7" name="文本框 36">
            <a:extLst>
              <a:ext uri="{FF2B5EF4-FFF2-40B4-BE49-F238E27FC236}">
                <a16:creationId xmlns:a16="http://schemas.microsoft.com/office/drawing/2014/main" id="{23616ED9-5717-4723-8D29-CA2D718B30B1}"/>
              </a:ext>
            </a:extLst>
          </p:cNvPr>
          <p:cNvSpPr txBox="1"/>
          <p:nvPr/>
        </p:nvSpPr>
        <p:spPr>
          <a:xfrm>
            <a:off x="1383701" y="1729048"/>
            <a:ext cx="2214068" cy="646331"/>
          </a:xfrm>
          <a:prstGeom prst="rect">
            <a:avLst/>
          </a:prstGeom>
          <a:noFill/>
        </p:spPr>
        <p:txBody>
          <a:bodyPr wrap="square" rtlCol="0">
            <a:spAutoFit/>
          </a:bodyPr>
          <a:lstStyle/>
          <a:p>
            <a:pPr algn="ctr"/>
            <a:r>
              <a:rPr lang="en-US" altLang="zh-CN" b="1" dirty="0">
                <a:solidFill>
                  <a:srgbClr val="1B4400"/>
                </a:solidFill>
              </a:rPr>
              <a:t>Mixed Mesoderm</a:t>
            </a:r>
            <a:br>
              <a:rPr lang="en-US" altLang="zh-CN" b="1" dirty="0">
                <a:solidFill>
                  <a:srgbClr val="1B4400"/>
                </a:solidFill>
              </a:rPr>
            </a:br>
            <a:r>
              <a:rPr lang="zh-CN" altLang="en-US" b="1" dirty="0">
                <a:solidFill>
                  <a:srgbClr val="1B4400"/>
                </a:solidFill>
              </a:rPr>
              <a:t>混合中胚层</a:t>
            </a:r>
          </a:p>
        </p:txBody>
      </p:sp>
      <p:cxnSp>
        <p:nvCxnSpPr>
          <p:cNvPr id="38" name="直接箭头连接符 37">
            <a:extLst>
              <a:ext uri="{FF2B5EF4-FFF2-40B4-BE49-F238E27FC236}">
                <a16:creationId xmlns:a16="http://schemas.microsoft.com/office/drawing/2014/main" id="{7EC9A882-9D1D-4CEF-925D-69D46FF4869F}"/>
              </a:ext>
            </a:extLst>
          </p:cNvPr>
          <p:cNvCxnSpPr>
            <a:cxnSpLocks/>
          </p:cNvCxnSpPr>
          <p:nvPr/>
        </p:nvCxnSpPr>
        <p:spPr>
          <a:xfrm flipV="1">
            <a:off x="971372" y="2131747"/>
            <a:ext cx="750255" cy="618133"/>
          </a:xfrm>
          <a:prstGeom prst="straightConnector1">
            <a:avLst/>
          </a:prstGeom>
          <a:ln w="28575">
            <a:solidFill>
              <a:srgbClr val="1B4400"/>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0" name="文本框 39">
            <a:extLst>
              <a:ext uri="{FF2B5EF4-FFF2-40B4-BE49-F238E27FC236}">
                <a16:creationId xmlns:a16="http://schemas.microsoft.com/office/drawing/2014/main" id="{36BFA12D-0BD2-48F1-9058-8FB3A47D1C32}"/>
              </a:ext>
            </a:extLst>
          </p:cNvPr>
          <p:cNvSpPr txBox="1"/>
          <p:nvPr/>
        </p:nvSpPr>
        <p:spPr>
          <a:xfrm>
            <a:off x="-156719" y="853116"/>
            <a:ext cx="1740078" cy="646331"/>
          </a:xfrm>
          <a:prstGeom prst="rect">
            <a:avLst/>
          </a:prstGeom>
          <a:noFill/>
        </p:spPr>
        <p:txBody>
          <a:bodyPr wrap="square" rtlCol="0">
            <a:spAutoFit/>
          </a:bodyPr>
          <a:lstStyle/>
          <a:p>
            <a:pPr algn="ctr"/>
            <a:r>
              <a:rPr lang="en-US" altLang="zh-CN" b="1" dirty="0">
                <a:solidFill>
                  <a:srgbClr val="6A3A4C"/>
                </a:solidFill>
              </a:rPr>
              <a:t>Mesenchyme</a:t>
            </a:r>
            <a:br>
              <a:rPr lang="en-US" altLang="zh-CN" b="1" dirty="0">
                <a:solidFill>
                  <a:srgbClr val="6A3A4C"/>
                </a:solidFill>
              </a:rPr>
            </a:br>
            <a:r>
              <a:rPr lang="zh-CN" altLang="en-US" b="1" dirty="0">
                <a:solidFill>
                  <a:srgbClr val="6A3A4C"/>
                </a:solidFill>
              </a:rPr>
              <a:t>间充质细胞</a:t>
            </a:r>
          </a:p>
        </p:txBody>
      </p:sp>
      <p:cxnSp>
        <p:nvCxnSpPr>
          <p:cNvPr id="41" name="直接箭头连接符 40">
            <a:extLst>
              <a:ext uri="{FF2B5EF4-FFF2-40B4-BE49-F238E27FC236}">
                <a16:creationId xmlns:a16="http://schemas.microsoft.com/office/drawing/2014/main" id="{A43178CC-EFEB-4F38-AA4E-05DF6484FE63}"/>
              </a:ext>
            </a:extLst>
          </p:cNvPr>
          <p:cNvCxnSpPr>
            <a:cxnSpLocks/>
          </p:cNvCxnSpPr>
          <p:nvPr/>
        </p:nvCxnSpPr>
        <p:spPr>
          <a:xfrm flipH="1" flipV="1">
            <a:off x="587678" y="1411980"/>
            <a:ext cx="176439" cy="896955"/>
          </a:xfrm>
          <a:prstGeom prst="straightConnector1">
            <a:avLst/>
          </a:prstGeom>
          <a:ln w="28575">
            <a:solidFill>
              <a:srgbClr val="6A3A4C"/>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0" name="直接箭头连接符 19">
            <a:extLst>
              <a:ext uri="{FF2B5EF4-FFF2-40B4-BE49-F238E27FC236}">
                <a16:creationId xmlns:a16="http://schemas.microsoft.com/office/drawing/2014/main" id="{3F7EB6A0-E68E-4730-A1EE-6206EE9038BA}"/>
              </a:ext>
            </a:extLst>
          </p:cNvPr>
          <p:cNvCxnSpPr>
            <a:cxnSpLocks/>
          </p:cNvCxnSpPr>
          <p:nvPr/>
        </p:nvCxnSpPr>
        <p:spPr>
          <a:xfrm flipV="1">
            <a:off x="1191536" y="4412630"/>
            <a:ext cx="1886981" cy="477801"/>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1" name="文本框 20">
            <a:extLst>
              <a:ext uri="{FF2B5EF4-FFF2-40B4-BE49-F238E27FC236}">
                <a16:creationId xmlns:a16="http://schemas.microsoft.com/office/drawing/2014/main" id="{2B31BDEF-3140-4000-A77E-7DB5A159FCB7}"/>
              </a:ext>
            </a:extLst>
          </p:cNvPr>
          <p:cNvSpPr txBox="1"/>
          <p:nvPr/>
        </p:nvSpPr>
        <p:spPr>
          <a:xfrm rot="20696848">
            <a:off x="1234559" y="4653613"/>
            <a:ext cx="1800493" cy="369332"/>
          </a:xfrm>
          <a:prstGeom prst="rect">
            <a:avLst/>
          </a:prstGeom>
          <a:noFill/>
        </p:spPr>
        <p:txBody>
          <a:bodyPr wrap="square" rtlCol="0">
            <a:spAutoFit/>
          </a:bodyPr>
          <a:lstStyle/>
          <a:p>
            <a:r>
              <a:rPr lang="zh-CN" altLang="en-US" b="1" dirty="0">
                <a:solidFill>
                  <a:srgbClr val="FFD450"/>
                </a:solidFill>
              </a:rPr>
              <a:t>内胚层发育路径</a:t>
            </a:r>
          </a:p>
        </p:txBody>
      </p:sp>
      <p:cxnSp>
        <p:nvCxnSpPr>
          <p:cNvPr id="25" name="直接箭头连接符 24">
            <a:extLst>
              <a:ext uri="{FF2B5EF4-FFF2-40B4-BE49-F238E27FC236}">
                <a16:creationId xmlns:a16="http://schemas.microsoft.com/office/drawing/2014/main" id="{85F8A6E2-8265-4251-91A9-7D5460DB7D3F}"/>
              </a:ext>
            </a:extLst>
          </p:cNvPr>
          <p:cNvCxnSpPr>
            <a:cxnSpLocks/>
          </p:cNvCxnSpPr>
          <p:nvPr/>
        </p:nvCxnSpPr>
        <p:spPr>
          <a:xfrm flipH="1" flipV="1">
            <a:off x="588009" y="2131747"/>
            <a:ext cx="148598" cy="2128807"/>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6" name="文本框 25">
            <a:extLst>
              <a:ext uri="{FF2B5EF4-FFF2-40B4-BE49-F238E27FC236}">
                <a16:creationId xmlns:a16="http://schemas.microsoft.com/office/drawing/2014/main" id="{C64FB841-8028-4700-AA89-B7D47BD89FAA}"/>
              </a:ext>
            </a:extLst>
          </p:cNvPr>
          <p:cNvSpPr txBox="1"/>
          <p:nvPr/>
        </p:nvSpPr>
        <p:spPr>
          <a:xfrm rot="15974400">
            <a:off x="-430727" y="3113696"/>
            <a:ext cx="1800493" cy="369332"/>
          </a:xfrm>
          <a:prstGeom prst="rect">
            <a:avLst/>
          </a:prstGeom>
          <a:noFill/>
        </p:spPr>
        <p:txBody>
          <a:bodyPr wrap="none" rtlCol="0">
            <a:spAutoFit/>
          </a:bodyPr>
          <a:lstStyle/>
          <a:p>
            <a:r>
              <a:rPr lang="zh-CN" altLang="en-US" b="1" dirty="0">
                <a:solidFill>
                  <a:srgbClr val="FFD450"/>
                </a:solidFill>
              </a:rPr>
              <a:t>中胚层发育路径</a:t>
            </a:r>
          </a:p>
        </p:txBody>
      </p:sp>
      <p:cxnSp>
        <p:nvCxnSpPr>
          <p:cNvPr id="29" name="直接箭头连接符 28">
            <a:extLst>
              <a:ext uri="{FF2B5EF4-FFF2-40B4-BE49-F238E27FC236}">
                <a16:creationId xmlns:a16="http://schemas.microsoft.com/office/drawing/2014/main" id="{C005AAA6-A261-408A-9BCB-7F81BA842109}"/>
              </a:ext>
            </a:extLst>
          </p:cNvPr>
          <p:cNvCxnSpPr>
            <a:cxnSpLocks/>
          </p:cNvCxnSpPr>
          <p:nvPr/>
        </p:nvCxnSpPr>
        <p:spPr>
          <a:xfrm flipH="1" flipV="1">
            <a:off x="10023384" y="1583265"/>
            <a:ext cx="148598" cy="2128807"/>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30" name="文本框 29">
            <a:extLst>
              <a:ext uri="{FF2B5EF4-FFF2-40B4-BE49-F238E27FC236}">
                <a16:creationId xmlns:a16="http://schemas.microsoft.com/office/drawing/2014/main" id="{CED883EC-1C07-40B0-BD94-B617F9610DC2}"/>
              </a:ext>
            </a:extLst>
          </p:cNvPr>
          <p:cNvSpPr txBox="1"/>
          <p:nvPr/>
        </p:nvSpPr>
        <p:spPr>
          <a:xfrm rot="5097033">
            <a:off x="9386323" y="2463001"/>
            <a:ext cx="1800493" cy="369332"/>
          </a:xfrm>
          <a:prstGeom prst="rect">
            <a:avLst/>
          </a:prstGeom>
          <a:noFill/>
        </p:spPr>
        <p:txBody>
          <a:bodyPr wrap="none" rtlCol="0">
            <a:spAutoFit/>
          </a:bodyPr>
          <a:lstStyle/>
          <a:p>
            <a:r>
              <a:rPr lang="zh-CN" altLang="en-US" b="1" dirty="0">
                <a:solidFill>
                  <a:srgbClr val="FFD450"/>
                </a:solidFill>
              </a:rPr>
              <a:t>中胚层发育路径</a:t>
            </a:r>
          </a:p>
        </p:txBody>
      </p:sp>
      <p:cxnSp>
        <p:nvCxnSpPr>
          <p:cNvPr id="33" name="直接箭头连接符 32">
            <a:extLst>
              <a:ext uri="{FF2B5EF4-FFF2-40B4-BE49-F238E27FC236}">
                <a16:creationId xmlns:a16="http://schemas.microsoft.com/office/drawing/2014/main" id="{384DF07C-3EBF-4257-BFFA-F4070597C994}"/>
              </a:ext>
            </a:extLst>
          </p:cNvPr>
          <p:cNvCxnSpPr>
            <a:cxnSpLocks/>
          </p:cNvCxnSpPr>
          <p:nvPr/>
        </p:nvCxnSpPr>
        <p:spPr>
          <a:xfrm flipV="1">
            <a:off x="9167795" y="4260553"/>
            <a:ext cx="1443735" cy="889100"/>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34" name="文本框 33">
            <a:extLst>
              <a:ext uri="{FF2B5EF4-FFF2-40B4-BE49-F238E27FC236}">
                <a16:creationId xmlns:a16="http://schemas.microsoft.com/office/drawing/2014/main" id="{20BFED58-2FF7-4C97-B620-87887C6E6E6D}"/>
              </a:ext>
            </a:extLst>
          </p:cNvPr>
          <p:cNvSpPr txBox="1"/>
          <p:nvPr/>
        </p:nvSpPr>
        <p:spPr>
          <a:xfrm rot="19676225">
            <a:off x="9122728" y="4736613"/>
            <a:ext cx="1800493" cy="369332"/>
          </a:xfrm>
          <a:prstGeom prst="rect">
            <a:avLst/>
          </a:prstGeom>
          <a:noFill/>
        </p:spPr>
        <p:txBody>
          <a:bodyPr wrap="square" rtlCol="0">
            <a:spAutoFit/>
          </a:bodyPr>
          <a:lstStyle/>
          <a:p>
            <a:r>
              <a:rPr lang="zh-CN" altLang="en-US" b="1" dirty="0">
                <a:solidFill>
                  <a:srgbClr val="FFD450"/>
                </a:solidFill>
              </a:rPr>
              <a:t>内胚层发育路径</a:t>
            </a:r>
          </a:p>
        </p:txBody>
      </p:sp>
    </p:spTree>
    <p:extLst>
      <p:ext uri="{BB962C8B-B14F-4D97-AF65-F5344CB8AC3E}">
        <p14:creationId xmlns:p14="http://schemas.microsoft.com/office/powerpoint/2010/main" val="307317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86675B3-5B10-460B-A740-818AC0906C7E}"/>
              </a:ext>
            </a:extLst>
          </p:cNvPr>
          <p:cNvSpPr>
            <a:spLocks noGrp="1"/>
          </p:cNvSpPr>
          <p:nvPr>
            <p:ph type="body" sz="quarter" idx="10"/>
          </p:nvPr>
        </p:nvSpPr>
        <p:spPr>
          <a:xfrm>
            <a:off x="249084" y="61906"/>
            <a:ext cx="8492580" cy="564535"/>
          </a:xfrm>
        </p:spPr>
        <p:txBody>
          <a:bodyPr/>
          <a:lstStyle/>
          <a:p>
            <a:r>
              <a:rPr lang="en-US" altLang="zh-CN" dirty="0"/>
              <a:t>DPT</a:t>
            </a:r>
            <a:r>
              <a:rPr lang="zh-CN" altLang="en-US" dirty="0"/>
              <a:t>拟时序算法结果着色的</a:t>
            </a:r>
            <a:r>
              <a:rPr lang="en-US" altLang="zh-CN" dirty="0"/>
              <a:t>UMAP</a:t>
            </a:r>
            <a:r>
              <a:rPr lang="zh-CN" altLang="en-US" dirty="0"/>
              <a:t>和发育图</a:t>
            </a:r>
          </a:p>
        </p:txBody>
      </p:sp>
      <p:pic>
        <p:nvPicPr>
          <p:cNvPr id="5" name="图片 4">
            <a:extLst>
              <a:ext uri="{FF2B5EF4-FFF2-40B4-BE49-F238E27FC236}">
                <a16:creationId xmlns:a16="http://schemas.microsoft.com/office/drawing/2014/main" id="{0F7A9DDB-40D2-41B9-AB97-297BFAD4B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46" y="922368"/>
            <a:ext cx="3582534" cy="3512909"/>
          </a:xfrm>
          <a:prstGeom prst="rect">
            <a:avLst/>
          </a:prstGeom>
        </p:spPr>
      </p:pic>
      <p:pic>
        <p:nvPicPr>
          <p:cNvPr id="4" name="图片 3">
            <a:extLst>
              <a:ext uri="{FF2B5EF4-FFF2-40B4-BE49-F238E27FC236}">
                <a16:creationId xmlns:a16="http://schemas.microsoft.com/office/drawing/2014/main" id="{01DFD737-298B-4F59-97B3-CD821C075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8142" y="922368"/>
            <a:ext cx="3582534" cy="3512909"/>
          </a:xfrm>
          <a:prstGeom prst="rect">
            <a:avLst/>
          </a:prstGeom>
        </p:spPr>
      </p:pic>
      <p:sp>
        <p:nvSpPr>
          <p:cNvPr id="3" name="文本框 2">
            <a:extLst>
              <a:ext uri="{FF2B5EF4-FFF2-40B4-BE49-F238E27FC236}">
                <a16:creationId xmlns:a16="http://schemas.microsoft.com/office/drawing/2014/main" id="{C38743B4-7A48-4FD2-A138-834EF243BE40}"/>
              </a:ext>
            </a:extLst>
          </p:cNvPr>
          <p:cNvSpPr txBox="1"/>
          <p:nvPr/>
        </p:nvSpPr>
        <p:spPr>
          <a:xfrm>
            <a:off x="249084" y="4433020"/>
            <a:ext cx="6830375" cy="1631216"/>
          </a:xfrm>
          <a:prstGeom prst="rect">
            <a:avLst/>
          </a:prstGeom>
          <a:noFill/>
        </p:spPr>
        <p:txBody>
          <a:bodyPr wrap="square" rtlCol="0">
            <a:spAutoFit/>
          </a:bodyPr>
          <a:lstStyle/>
          <a:p>
            <a:r>
              <a:rPr lang="zh-CN" altLang="en-US" sz="2000" dirty="0"/>
              <a:t>值越大，代表逆时轴上的发育越靠后，值为</a:t>
            </a:r>
            <a:r>
              <a:rPr lang="en-US" altLang="zh-CN" sz="2000" dirty="0"/>
              <a:t>1</a:t>
            </a:r>
            <a:r>
              <a:rPr lang="zh-CN" altLang="en-US" sz="2000" dirty="0"/>
              <a:t>代表最晚发育，值为</a:t>
            </a:r>
            <a:r>
              <a:rPr lang="en-US" altLang="zh-CN" sz="2000" dirty="0"/>
              <a:t>0</a:t>
            </a:r>
            <a:r>
              <a:rPr lang="zh-CN" altLang="en-US" sz="2000" dirty="0"/>
              <a:t>代表最早发育。</a:t>
            </a:r>
            <a:endParaRPr lang="en-US" altLang="zh-CN" sz="2000" dirty="0"/>
          </a:p>
          <a:p>
            <a:endParaRPr lang="en-US" altLang="zh-CN" sz="2000" dirty="0"/>
          </a:p>
          <a:p>
            <a:r>
              <a:rPr lang="zh-CN" altLang="en-US" sz="2000" dirty="0"/>
              <a:t>理想状态为，在</a:t>
            </a:r>
            <a:r>
              <a:rPr lang="en-US" altLang="zh-CN" sz="2000" dirty="0"/>
              <a:t>UMAP</a:t>
            </a:r>
            <a:r>
              <a:rPr lang="zh-CN" altLang="en-US" sz="2000" dirty="0"/>
              <a:t>图中，颜色的亮度从上到下粗略呈一个逐渐抬高的大致趋势。</a:t>
            </a:r>
          </a:p>
        </p:txBody>
      </p:sp>
      <p:cxnSp>
        <p:nvCxnSpPr>
          <p:cNvPr id="6" name="直接箭头连接符 5">
            <a:extLst>
              <a:ext uri="{FF2B5EF4-FFF2-40B4-BE49-F238E27FC236}">
                <a16:creationId xmlns:a16="http://schemas.microsoft.com/office/drawing/2014/main" id="{4D78557D-6101-4A7A-BE2E-5BD31A04D6D7}"/>
              </a:ext>
            </a:extLst>
          </p:cNvPr>
          <p:cNvCxnSpPr>
            <a:cxnSpLocks/>
          </p:cNvCxnSpPr>
          <p:nvPr/>
        </p:nvCxnSpPr>
        <p:spPr>
          <a:xfrm flipV="1">
            <a:off x="4698877" y="3478783"/>
            <a:ext cx="1670823" cy="560899"/>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8" name="直接箭头连接符 7">
            <a:extLst>
              <a:ext uri="{FF2B5EF4-FFF2-40B4-BE49-F238E27FC236}">
                <a16:creationId xmlns:a16="http://schemas.microsoft.com/office/drawing/2014/main" id="{4CFA96E7-407C-4D5E-92F4-2765F3F16446}"/>
              </a:ext>
            </a:extLst>
          </p:cNvPr>
          <p:cNvCxnSpPr>
            <a:cxnSpLocks/>
          </p:cNvCxnSpPr>
          <p:nvPr/>
        </p:nvCxnSpPr>
        <p:spPr>
          <a:xfrm flipH="1" flipV="1">
            <a:off x="4162489" y="1600960"/>
            <a:ext cx="95782" cy="1807712"/>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3" name="直接箭头连接符 12">
            <a:extLst>
              <a:ext uri="{FF2B5EF4-FFF2-40B4-BE49-F238E27FC236}">
                <a16:creationId xmlns:a16="http://schemas.microsoft.com/office/drawing/2014/main" id="{18CBA87E-D99B-4243-9C06-8D9549B06527}"/>
              </a:ext>
            </a:extLst>
          </p:cNvPr>
          <p:cNvCxnSpPr>
            <a:cxnSpLocks/>
          </p:cNvCxnSpPr>
          <p:nvPr/>
        </p:nvCxnSpPr>
        <p:spPr>
          <a:xfrm>
            <a:off x="2892912" y="1513189"/>
            <a:ext cx="223354" cy="1778522"/>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2" name="直接箭头连接符 21">
            <a:extLst>
              <a:ext uri="{FF2B5EF4-FFF2-40B4-BE49-F238E27FC236}">
                <a16:creationId xmlns:a16="http://schemas.microsoft.com/office/drawing/2014/main" id="{F1B059E6-2C7B-46AF-BAC0-E91EBCD91453}"/>
              </a:ext>
            </a:extLst>
          </p:cNvPr>
          <p:cNvCxnSpPr>
            <a:cxnSpLocks/>
          </p:cNvCxnSpPr>
          <p:nvPr/>
        </p:nvCxnSpPr>
        <p:spPr>
          <a:xfrm flipH="1">
            <a:off x="675737" y="1456046"/>
            <a:ext cx="1170952" cy="1892808"/>
          </a:xfrm>
          <a:prstGeom prst="straightConnector1">
            <a:avLst/>
          </a:pr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6" name="文本框 15">
            <a:extLst>
              <a:ext uri="{FF2B5EF4-FFF2-40B4-BE49-F238E27FC236}">
                <a16:creationId xmlns:a16="http://schemas.microsoft.com/office/drawing/2014/main" id="{0D2FA26D-7758-4649-983C-B7870219E8F8}"/>
              </a:ext>
            </a:extLst>
          </p:cNvPr>
          <p:cNvSpPr txBox="1"/>
          <p:nvPr/>
        </p:nvSpPr>
        <p:spPr>
          <a:xfrm>
            <a:off x="7619707" y="1456046"/>
            <a:ext cx="4034227" cy="2862322"/>
          </a:xfrm>
          <a:prstGeom prst="rect">
            <a:avLst/>
          </a:prstGeom>
          <a:noFill/>
        </p:spPr>
        <p:txBody>
          <a:bodyPr wrap="square" rtlCol="0">
            <a:spAutoFit/>
          </a:bodyPr>
          <a:lstStyle/>
          <a:p>
            <a:r>
              <a:rPr lang="zh-CN" altLang="en-US" sz="2000" dirty="0"/>
              <a:t>可能由</a:t>
            </a:r>
            <a:r>
              <a:rPr lang="zh-CN" altLang="en-US" sz="2000" b="1" dirty="0"/>
              <a:t>胚胎发育的渐变性和交叠性</a:t>
            </a:r>
            <a:r>
              <a:rPr lang="zh-CN" altLang="en-US" sz="2000" dirty="0"/>
              <a:t>导致，即在特定的发育时期，发育路径上下游的多种细胞同时同地存在。（如</a:t>
            </a:r>
            <a:r>
              <a:rPr lang="en-US" altLang="zh-CN" sz="2000" dirty="0"/>
              <a:t>E7.25</a:t>
            </a:r>
            <a:r>
              <a:rPr lang="zh-CN" altLang="en-US" sz="2000" dirty="0"/>
              <a:t>期，上胚层细胞、原条细胞、新生中胚层细胞、前原条细胞等同时存在）</a:t>
            </a:r>
            <a:endParaRPr lang="en-US" altLang="zh-CN" sz="2000" dirty="0"/>
          </a:p>
          <a:p>
            <a:endParaRPr lang="en-US" altLang="zh-CN" sz="2000" dirty="0"/>
          </a:p>
          <a:p>
            <a:r>
              <a:rPr lang="zh-CN" altLang="en-US" sz="2000" dirty="0"/>
              <a:t>需要进一步探究建立逆时轴是否适合该数据集。</a:t>
            </a:r>
          </a:p>
        </p:txBody>
      </p:sp>
    </p:spTree>
    <p:extLst>
      <p:ext uri="{BB962C8B-B14F-4D97-AF65-F5344CB8AC3E}">
        <p14:creationId xmlns:p14="http://schemas.microsoft.com/office/powerpoint/2010/main" val="1743618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4FA3CE4-1042-4DED-9890-D88543C35F45}"/>
              </a:ext>
            </a:extLst>
          </p:cNvPr>
          <p:cNvSpPr>
            <a:spLocks noGrp="1"/>
          </p:cNvSpPr>
          <p:nvPr>
            <p:ph type="body" sz="quarter" idx="10"/>
          </p:nvPr>
        </p:nvSpPr>
        <p:spPr>
          <a:xfrm>
            <a:off x="249083" y="0"/>
            <a:ext cx="7148413" cy="740580"/>
          </a:xfrm>
        </p:spPr>
        <p:txBody>
          <a:bodyPr/>
          <a:lstStyle/>
          <a:p>
            <a:r>
              <a:rPr lang="zh-CN" altLang="en-US" dirty="0"/>
              <a:t>原条细胞与下游细胞间的表达差异</a:t>
            </a:r>
          </a:p>
        </p:txBody>
      </p:sp>
      <p:pic>
        <p:nvPicPr>
          <p:cNvPr id="4" name="图片 3">
            <a:extLst>
              <a:ext uri="{FF2B5EF4-FFF2-40B4-BE49-F238E27FC236}">
                <a16:creationId xmlns:a16="http://schemas.microsoft.com/office/drawing/2014/main" id="{D1764675-FDF9-40AC-830A-CD0383777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7183"/>
            <a:ext cx="5998143" cy="4643633"/>
          </a:xfrm>
          <a:prstGeom prst="rect">
            <a:avLst/>
          </a:prstGeom>
        </p:spPr>
      </p:pic>
      <p:pic>
        <p:nvPicPr>
          <p:cNvPr id="7" name="图片 6">
            <a:extLst>
              <a:ext uri="{FF2B5EF4-FFF2-40B4-BE49-F238E27FC236}">
                <a16:creationId xmlns:a16="http://schemas.microsoft.com/office/drawing/2014/main" id="{F15DE3CC-1E9E-42CC-83C1-A3916675D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8143" y="1107183"/>
            <a:ext cx="6021763" cy="4661919"/>
          </a:xfrm>
          <a:prstGeom prst="rect">
            <a:avLst/>
          </a:prstGeom>
        </p:spPr>
      </p:pic>
      <p:sp>
        <p:nvSpPr>
          <p:cNvPr id="8" name="文本框 7">
            <a:extLst>
              <a:ext uri="{FF2B5EF4-FFF2-40B4-BE49-F238E27FC236}">
                <a16:creationId xmlns:a16="http://schemas.microsoft.com/office/drawing/2014/main" id="{C69E8AD6-D1CE-4EBD-A157-FAB07F4D1E6F}"/>
              </a:ext>
            </a:extLst>
          </p:cNvPr>
          <p:cNvSpPr txBox="1"/>
          <p:nvPr/>
        </p:nvSpPr>
        <p:spPr>
          <a:xfrm>
            <a:off x="484632" y="5852160"/>
            <a:ext cx="7635424" cy="400110"/>
          </a:xfrm>
          <a:prstGeom prst="rect">
            <a:avLst/>
          </a:prstGeom>
          <a:noFill/>
        </p:spPr>
        <p:txBody>
          <a:bodyPr wrap="none" rtlCol="0">
            <a:spAutoFit/>
          </a:bodyPr>
          <a:lstStyle/>
          <a:p>
            <a:r>
              <a:rPr lang="en-US" altLang="zh-CN" sz="2000" dirty="0"/>
              <a:t>Log2 Fold Change</a:t>
            </a:r>
            <a:r>
              <a:rPr lang="zh-CN" altLang="en-US" sz="2000" dirty="0"/>
              <a:t>的绝对值阈值为</a:t>
            </a:r>
            <a:r>
              <a:rPr lang="en-US" altLang="zh-CN" sz="2000" dirty="0"/>
              <a:t>2</a:t>
            </a:r>
            <a:r>
              <a:rPr lang="zh-CN" altLang="en-US" sz="2000" dirty="0"/>
              <a:t>。</a:t>
            </a:r>
            <a:r>
              <a:rPr lang="en-US" altLang="zh-CN" sz="2000" dirty="0"/>
              <a:t>-Log10(Adjusted p-value)</a:t>
            </a:r>
            <a:r>
              <a:rPr lang="zh-CN" altLang="en-US" sz="2000" dirty="0"/>
              <a:t>为</a:t>
            </a:r>
            <a:r>
              <a:rPr lang="en-US" altLang="zh-CN" sz="2000" dirty="0"/>
              <a:t>3</a:t>
            </a:r>
            <a:endParaRPr lang="zh-CN" altLang="en-US" sz="2000" dirty="0"/>
          </a:p>
        </p:txBody>
      </p:sp>
    </p:spTree>
    <p:extLst>
      <p:ext uri="{BB962C8B-B14F-4D97-AF65-F5344CB8AC3E}">
        <p14:creationId xmlns:p14="http://schemas.microsoft.com/office/powerpoint/2010/main" val="3548509007"/>
      </p:ext>
    </p:extLst>
  </p:cSld>
  <p:clrMapOvr>
    <a:masterClrMapping/>
  </p:clrMapOvr>
  <mc:AlternateContent xmlns:mc="http://schemas.openxmlformats.org/markup-compatibility/2006" xmlns:p14="http://schemas.microsoft.com/office/powerpoint/2010/main">
    <mc:Choice Requires="p14">
      <p:transition spd="slow" p14:dur="2000" advTm="45515"/>
    </mc:Choice>
    <mc:Fallback xmlns="">
      <p:transition spd="slow" advTm="4551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F77D680-DC1D-4362-AB7A-F7738F615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082" y="934207"/>
            <a:ext cx="11942917" cy="5107169"/>
          </a:xfrm>
          <a:prstGeom prst="rect">
            <a:avLst/>
          </a:prstGeom>
        </p:spPr>
      </p:pic>
      <p:sp>
        <p:nvSpPr>
          <p:cNvPr id="2" name="文本占位符 1">
            <a:extLst>
              <a:ext uri="{FF2B5EF4-FFF2-40B4-BE49-F238E27FC236}">
                <a16:creationId xmlns:a16="http://schemas.microsoft.com/office/drawing/2014/main" id="{64FA3CE4-1042-4DED-9890-D88543C35F45}"/>
              </a:ext>
            </a:extLst>
          </p:cNvPr>
          <p:cNvSpPr>
            <a:spLocks noGrp="1"/>
          </p:cNvSpPr>
          <p:nvPr>
            <p:ph type="body" sz="quarter" idx="10"/>
          </p:nvPr>
        </p:nvSpPr>
        <p:spPr>
          <a:xfrm>
            <a:off x="249083" y="0"/>
            <a:ext cx="9142567" cy="740580"/>
          </a:xfrm>
        </p:spPr>
        <p:txBody>
          <a:bodyPr/>
          <a:lstStyle/>
          <a:p>
            <a:r>
              <a:rPr lang="zh-CN" altLang="en-US" dirty="0"/>
              <a:t>前原条细胞相较于原条细胞的表达差异</a:t>
            </a:r>
          </a:p>
        </p:txBody>
      </p:sp>
      <p:sp>
        <p:nvSpPr>
          <p:cNvPr id="3" name="文本框 2">
            <a:extLst>
              <a:ext uri="{FF2B5EF4-FFF2-40B4-BE49-F238E27FC236}">
                <a16:creationId xmlns:a16="http://schemas.microsoft.com/office/drawing/2014/main" id="{8DBD9E6A-3E71-4FEC-9E1E-43E6F783C5C6}"/>
              </a:ext>
            </a:extLst>
          </p:cNvPr>
          <p:cNvSpPr txBox="1"/>
          <p:nvPr/>
        </p:nvSpPr>
        <p:spPr>
          <a:xfrm>
            <a:off x="8915789" y="2582433"/>
            <a:ext cx="3276210" cy="2862322"/>
          </a:xfrm>
          <a:prstGeom prst="rect">
            <a:avLst/>
          </a:prstGeom>
          <a:noFill/>
        </p:spPr>
        <p:txBody>
          <a:bodyPr wrap="square" rtlCol="0">
            <a:spAutoFit/>
          </a:bodyPr>
          <a:lstStyle/>
          <a:p>
            <a:pPr marL="285750" indent="-285750">
              <a:buSzPct val="60000"/>
              <a:buFont typeface="Wingdings" panose="05000000000000000000" pitchFamily="2" charset="2"/>
              <a:buChar char="l"/>
            </a:pPr>
            <a:r>
              <a:rPr lang="en-US" altLang="zh-CN" sz="2000" b="1" dirty="0"/>
              <a:t>Mesp1 Snai1 </a:t>
            </a:r>
            <a:r>
              <a:rPr lang="zh-CN" altLang="en-US" sz="2000" b="1" dirty="0">
                <a:solidFill>
                  <a:srgbClr val="00B050"/>
                </a:solidFill>
              </a:rPr>
              <a:t>表达细胞比例增多，表达量均值不变</a:t>
            </a:r>
            <a:endParaRPr lang="en-US" altLang="zh-CN" sz="2000" b="1" dirty="0">
              <a:solidFill>
                <a:srgbClr val="00B050"/>
              </a:solidFill>
            </a:endParaRPr>
          </a:p>
          <a:p>
            <a:pPr marL="285750" indent="-285750">
              <a:buSzPct val="60000"/>
              <a:buFont typeface="Wingdings" panose="05000000000000000000" pitchFamily="2" charset="2"/>
              <a:buChar char="l"/>
            </a:pPr>
            <a:r>
              <a:rPr lang="en-US" altLang="zh-CN" sz="2000" b="1" dirty="0"/>
              <a:t>Foxa2</a:t>
            </a:r>
            <a:r>
              <a:rPr lang="zh-CN" altLang="en-US" sz="2000" b="1" dirty="0">
                <a:solidFill>
                  <a:srgbClr val="00B050"/>
                </a:solidFill>
              </a:rPr>
              <a:t> </a:t>
            </a:r>
            <a:r>
              <a:rPr lang="en-US" altLang="zh-CN" sz="2000" b="1" dirty="0"/>
              <a:t>T Mixll1 Lhx1 </a:t>
            </a:r>
            <a:r>
              <a:rPr lang="en-US" altLang="zh-CN" sz="2000" b="1" dirty="0" err="1"/>
              <a:t>Gsc</a:t>
            </a:r>
            <a:r>
              <a:rPr lang="en-US" altLang="zh-CN" sz="2000" b="1" dirty="0"/>
              <a:t> </a:t>
            </a:r>
            <a:r>
              <a:rPr lang="en-US" altLang="zh-CN" sz="2000" b="1" dirty="0" err="1"/>
              <a:t>Hhex</a:t>
            </a:r>
            <a:r>
              <a:rPr lang="en-US" altLang="zh-CN" sz="2000" b="1" dirty="0"/>
              <a:t> Mixll1 </a:t>
            </a:r>
            <a:r>
              <a:rPr lang="zh-CN" altLang="en-US" sz="2000" b="1" dirty="0">
                <a:solidFill>
                  <a:srgbClr val="00B050"/>
                </a:solidFill>
              </a:rPr>
              <a:t>部分细胞高表达</a:t>
            </a:r>
            <a:endParaRPr lang="en-US" altLang="zh-CN" sz="2000" b="1" dirty="0">
              <a:solidFill>
                <a:srgbClr val="00B050"/>
              </a:solidFill>
            </a:endParaRPr>
          </a:p>
          <a:p>
            <a:pPr marL="285750" indent="-285750">
              <a:buSzPct val="60000"/>
              <a:buFont typeface="Wingdings" panose="05000000000000000000" pitchFamily="2" charset="2"/>
              <a:buChar char="l"/>
            </a:pPr>
            <a:r>
              <a:rPr lang="en-US" altLang="zh-CN" sz="2000" b="1" dirty="0"/>
              <a:t>Cer1</a:t>
            </a:r>
            <a:r>
              <a:rPr lang="en-US" altLang="zh-CN" sz="2000" b="1" dirty="0">
                <a:solidFill>
                  <a:srgbClr val="00B050"/>
                </a:solidFill>
              </a:rPr>
              <a:t> </a:t>
            </a:r>
            <a:r>
              <a:rPr lang="zh-CN" altLang="en-US" sz="2000" b="1" dirty="0">
                <a:solidFill>
                  <a:srgbClr val="FF0000"/>
                </a:solidFill>
              </a:rPr>
              <a:t>下调</a:t>
            </a:r>
            <a:endParaRPr lang="en-US" altLang="zh-CN" sz="2000" dirty="0"/>
          </a:p>
          <a:p>
            <a:pPr marL="285750" indent="-285750">
              <a:buSzPct val="60000"/>
              <a:buFont typeface="Wingdings" panose="05000000000000000000" pitchFamily="2" charset="2"/>
              <a:buChar char="l"/>
            </a:pPr>
            <a:r>
              <a:rPr lang="en-US" altLang="zh-CN" sz="2000" b="1" dirty="0"/>
              <a:t>Phlda2</a:t>
            </a:r>
            <a:r>
              <a:rPr lang="en-US" altLang="zh-CN" sz="2000" dirty="0"/>
              <a:t> </a:t>
            </a:r>
            <a:r>
              <a:rPr lang="zh-CN" altLang="en-US" sz="2000" dirty="0"/>
              <a:t>基因在两种细胞间表达模式</a:t>
            </a:r>
            <a:r>
              <a:rPr lang="zh-CN" altLang="en-US" sz="2000" b="1" dirty="0">
                <a:solidFill>
                  <a:srgbClr val="FFC000"/>
                </a:solidFill>
              </a:rPr>
              <a:t>没有显著差异</a:t>
            </a:r>
            <a:endParaRPr lang="en-US" altLang="zh-CN" sz="2000" b="1" dirty="0">
              <a:solidFill>
                <a:srgbClr val="FFC000"/>
              </a:solidFill>
            </a:endParaRPr>
          </a:p>
        </p:txBody>
      </p:sp>
      <p:sp>
        <p:nvSpPr>
          <p:cNvPr id="5" name="文本框 4">
            <a:extLst>
              <a:ext uri="{FF2B5EF4-FFF2-40B4-BE49-F238E27FC236}">
                <a16:creationId xmlns:a16="http://schemas.microsoft.com/office/drawing/2014/main" id="{62E570A2-18F7-48A5-BB39-47D729349E34}"/>
              </a:ext>
            </a:extLst>
          </p:cNvPr>
          <p:cNvSpPr txBox="1"/>
          <p:nvPr/>
        </p:nvSpPr>
        <p:spPr>
          <a:xfrm>
            <a:off x="249083" y="5990502"/>
            <a:ext cx="4934364" cy="369332"/>
          </a:xfrm>
          <a:prstGeom prst="rect">
            <a:avLst/>
          </a:prstGeom>
          <a:noFill/>
        </p:spPr>
        <p:txBody>
          <a:bodyPr wrap="none" rtlCol="0">
            <a:spAutoFit/>
          </a:bodyPr>
          <a:lstStyle/>
          <a:p>
            <a:r>
              <a:rPr lang="en-US" altLang="zh-CN" dirty="0"/>
              <a:t>**** </a:t>
            </a:r>
            <a:r>
              <a:rPr lang="zh-CN" altLang="en-US" dirty="0"/>
              <a:t>代表</a:t>
            </a:r>
            <a:r>
              <a:rPr lang="en-US" altLang="zh-CN" dirty="0"/>
              <a:t>p</a:t>
            </a:r>
            <a:r>
              <a:rPr lang="zh-CN" altLang="en-US" dirty="0"/>
              <a:t>值小于</a:t>
            </a:r>
            <a:r>
              <a:rPr lang="en-US" altLang="zh-CN" dirty="0"/>
              <a:t>0.0001  ns</a:t>
            </a:r>
            <a:r>
              <a:rPr lang="zh-CN" altLang="en-US" dirty="0"/>
              <a:t>代表没有显著差异</a:t>
            </a:r>
          </a:p>
        </p:txBody>
      </p:sp>
    </p:spTree>
    <p:extLst>
      <p:ext uri="{BB962C8B-B14F-4D97-AF65-F5344CB8AC3E}">
        <p14:creationId xmlns:p14="http://schemas.microsoft.com/office/powerpoint/2010/main" val="2050542551"/>
      </p:ext>
    </p:extLst>
  </p:cSld>
  <p:clrMapOvr>
    <a:masterClrMapping/>
  </p:clrMapOvr>
  <mc:AlternateContent xmlns:mc="http://schemas.openxmlformats.org/markup-compatibility/2006" xmlns:p14="http://schemas.microsoft.com/office/powerpoint/2010/main">
    <mc:Choice Requires="p14">
      <p:transition spd="slow" p14:dur="2000" advTm="45515"/>
    </mc:Choice>
    <mc:Fallback xmlns="">
      <p:transition spd="slow" advTm="4551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4FA3CE4-1042-4DED-9890-D88543C35F45}"/>
              </a:ext>
            </a:extLst>
          </p:cNvPr>
          <p:cNvSpPr>
            <a:spLocks noGrp="1"/>
          </p:cNvSpPr>
          <p:nvPr>
            <p:ph type="body" sz="quarter" idx="10"/>
          </p:nvPr>
        </p:nvSpPr>
        <p:spPr>
          <a:xfrm>
            <a:off x="249083" y="32329"/>
            <a:ext cx="9142567" cy="740580"/>
          </a:xfrm>
        </p:spPr>
        <p:txBody>
          <a:bodyPr/>
          <a:lstStyle/>
          <a:p>
            <a:r>
              <a:rPr lang="zh-CN" altLang="en-US" dirty="0"/>
              <a:t>新生中胚层细胞相较于原条细胞的表达差异</a:t>
            </a:r>
          </a:p>
        </p:txBody>
      </p:sp>
      <p:pic>
        <p:nvPicPr>
          <p:cNvPr id="4" name="图片 3">
            <a:extLst>
              <a:ext uri="{FF2B5EF4-FFF2-40B4-BE49-F238E27FC236}">
                <a16:creationId xmlns:a16="http://schemas.microsoft.com/office/drawing/2014/main" id="{93EB4697-0495-4336-AE45-95477BFC9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083" y="977896"/>
            <a:ext cx="11472036" cy="5168904"/>
          </a:xfrm>
          <a:prstGeom prst="rect">
            <a:avLst/>
          </a:prstGeom>
        </p:spPr>
      </p:pic>
      <p:sp>
        <p:nvSpPr>
          <p:cNvPr id="5" name="文本框 4">
            <a:extLst>
              <a:ext uri="{FF2B5EF4-FFF2-40B4-BE49-F238E27FC236}">
                <a16:creationId xmlns:a16="http://schemas.microsoft.com/office/drawing/2014/main" id="{CB66B866-E41A-4D2D-9EBC-2E37BC3E00D8}"/>
              </a:ext>
            </a:extLst>
          </p:cNvPr>
          <p:cNvSpPr txBox="1"/>
          <p:nvPr/>
        </p:nvSpPr>
        <p:spPr>
          <a:xfrm>
            <a:off x="249083" y="5990502"/>
            <a:ext cx="4766048" cy="369332"/>
          </a:xfrm>
          <a:prstGeom prst="rect">
            <a:avLst/>
          </a:prstGeom>
          <a:noFill/>
        </p:spPr>
        <p:txBody>
          <a:bodyPr wrap="none" rtlCol="0">
            <a:spAutoFit/>
          </a:bodyPr>
          <a:lstStyle/>
          <a:p>
            <a:r>
              <a:rPr lang="en-US" altLang="zh-CN" dirty="0"/>
              <a:t>**** </a:t>
            </a:r>
            <a:r>
              <a:rPr lang="zh-CN" altLang="en-US" dirty="0"/>
              <a:t>代表</a:t>
            </a:r>
            <a:r>
              <a:rPr lang="en-US" altLang="zh-CN" dirty="0"/>
              <a:t>p</a:t>
            </a:r>
            <a:r>
              <a:rPr lang="zh-CN" altLang="en-US" dirty="0"/>
              <a:t>值小于</a:t>
            </a:r>
            <a:r>
              <a:rPr lang="en-US" altLang="zh-CN" dirty="0"/>
              <a:t>0.0001  ns</a:t>
            </a:r>
            <a:r>
              <a:rPr lang="zh-CN" altLang="en-US" dirty="0"/>
              <a:t>代表没有显著差异</a:t>
            </a:r>
          </a:p>
        </p:txBody>
      </p:sp>
      <p:sp>
        <p:nvSpPr>
          <p:cNvPr id="6" name="文本框 5">
            <a:extLst>
              <a:ext uri="{FF2B5EF4-FFF2-40B4-BE49-F238E27FC236}">
                <a16:creationId xmlns:a16="http://schemas.microsoft.com/office/drawing/2014/main" id="{A59DCB11-9C47-4C46-9772-65AAC5C73693}"/>
              </a:ext>
            </a:extLst>
          </p:cNvPr>
          <p:cNvSpPr txBox="1"/>
          <p:nvPr/>
        </p:nvSpPr>
        <p:spPr>
          <a:xfrm>
            <a:off x="8677469" y="2673873"/>
            <a:ext cx="3514531" cy="2554545"/>
          </a:xfrm>
          <a:prstGeom prst="rect">
            <a:avLst/>
          </a:prstGeom>
          <a:noFill/>
        </p:spPr>
        <p:txBody>
          <a:bodyPr wrap="square" rtlCol="0">
            <a:spAutoFit/>
          </a:bodyPr>
          <a:lstStyle/>
          <a:p>
            <a:pPr marL="285750" indent="-285750">
              <a:buSzPct val="60000"/>
              <a:buFont typeface="Wingdings" panose="05000000000000000000" pitchFamily="2" charset="2"/>
              <a:buChar char="l"/>
            </a:pPr>
            <a:r>
              <a:rPr lang="en-US" altLang="zh-CN" sz="2000" b="1" dirty="0"/>
              <a:t>Lhx1 Phlda2 Snai1 </a:t>
            </a:r>
            <a:r>
              <a:rPr lang="zh-CN" altLang="en-US" sz="2000" dirty="0"/>
              <a:t>基因发育到前原条细胞后</a:t>
            </a:r>
            <a:r>
              <a:rPr lang="zh-CN" altLang="en-US" sz="2000" b="1" dirty="0">
                <a:solidFill>
                  <a:srgbClr val="FF0000"/>
                </a:solidFill>
              </a:rPr>
              <a:t>下调</a:t>
            </a:r>
            <a:endParaRPr lang="en-US" altLang="zh-CN" sz="2000" b="1" dirty="0">
              <a:solidFill>
                <a:srgbClr val="00B050"/>
              </a:solidFill>
            </a:endParaRPr>
          </a:p>
          <a:p>
            <a:pPr marL="285750" indent="-285750">
              <a:buSzPct val="60000"/>
              <a:buFont typeface="Wingdings" panose="05000000000000000000" pitchFamily="2" charset="2"/>
              <a:buChar char="l"/>
            </a:pPr>
            <a:r>
              <a:rPr lang="en-US" altLang="zh-CN" sz="2000" b="1" dirty="0"/>
              <a:t>Foxa2 </a:t>
            </a:r>
            <a:r>
              <a:rPr lang="en-US" altLang="zh-CN" sz="2000" b="1" dirty="0" err="1"/>
              <a:t>Gsc</a:t>
            </a:r>
            <a:r>
              <a:rPr lang="en-US" altLang="zh-CN" sz="2000" b="1" dirty="0"/>
              <a:t> </a:t>
            </a:r>
            <a:r>
              <a:rPr lang="zh-CN" altLang="en-US" sz="2000" b="1" dirty="0">
                <a:solidFill>
                  <a:srgbClr val="00B050"/>
                </a:solidFill>
              </a:rPr>
              <a:t>表达细胞比例增多，表达量均值不变</a:t>
            </a:r>
            <a:endParaRPr lang="en-US" altLang="zh-CN" sz="2000" b="1" dirty="0">
              <a:solidFill>
                <a:srgbClr val="00B050"/>
              </a:solidFill>
            </a:endParaRPr>
          </a:p>
          <a:p>
            <a:pPr marL="285750" indent="-285750">
              <a:buSzPct val="60000"/>
              <a:buFont typeface="Wingdings" panose="05000000000000000000" pitchFamily="2" charset="2"/>
              <a:buChar char="l"/>
            </a:pPr>
            <a:r>
              <a:rPr lang="en-US" altLang="zh-CN" sz="2000" b="1" dirty="0"/>
              <a:t>T Mesp1 Mixl1</a:t>
            </a:r>
            <a:r>
              <a:rPr lang="zh-CN" altLang="en-US" sz="2000" b="1" dirty="0">
                <a:solidFill>
                  <a:srgbClr val="00B050"/>
                </a:solidFill>
              </a:rPr>
              <a:t>部分细胞高表达</a:t>
            </a:r>
            <a:endParaRPr lang="en-US" altLang="zh-CN" sz="2000" dirty="0"/>
          </a:p>
          <a:p>
            <a:pPr marL="285750" indent="-285750">
              <a:buSzPct val="60000"/>
              <a:buFont typeface="Wingdings" panose="05000000000000000000" pitchFamily="2" charset="2"/>
              <a:buChar char="l"/>
            </a:pPr>
            <a:r>
              <a:rPr lang="en-US" altLang="zh-CN" sz="2000" b="1" dirty="0" err="1"/>
              <a:t>Hhex</a:t>
            </a:r>
            <a:r>
              <a:rPr lang="en-US" altLang="zh-CN" sz="2000" b="1" dirty="0"/>
              <a:t> Cer1</a:t>
            </a:r>
            <a:r>
              <a:rPr lang="en-US" altLang="zh-CN" sz="2000" dirty="0"/>
              <a:t> </a:t>
            </a:r>
            <a:r>
              <a:rPr lang="zh-CN" altLang="en-US" sz="2000" dirty="0"/>
              <a:t>基因在两种细胞间表达模式</a:t>
            </a:r>
            <a:r>
              <a:rPr lang="zh-CN" altLang="en-US" sz="2000" b="1" dirty="0">
                <a:solidFill>
                  <a:srgbClr val="FFC000"/>
                </a:solidFill>
              </a:rPr>
              <a:t>没有显著差异</a:t>
            </a:r>
            <a:endParaRPr lang="en-US" altLang="zh-CN" sz="2000" b="1" dirty="0">
              <a:solidFill>
                <a:srgbClr val="FFC000"/>
              </a:solidFill>
            </a:endParaRPr>
          </a:p>
        </p:txBody>
      </p:sp>
    </p:spTree>
    <p:extLst>
      <p:ext uri="{BB962C8B-B14F-4D97-AF65-F5344CB8AC3E}">
        <p14:creationId xmlns:p14="http://schemas.microsoft.com/office/powerpoint/2010/main" val="3077772155"/>
      </p:ext>
    </p:extLst>
  </p:cSld>
  <p:clrMapOvr>
    <a:masterClrMapping/>
  </p:clrMapOvr>
  <mc:AlternateContent xmlns:mc="http://schemas.openxmlformats.org/markup-compatibility/2006" xmlns:p14="http://schemas.microsoft.com/office/powerpoint/2010/main">
    <mc:Choice Requires="p14">
      <p:transition spd="slow" p14:dur="2000" advTm="45515"/>
    </mc:Choice>
    <mc:Fallback xmlns="">
      <p:transition spd="slow" advTm="4551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34CAC4C-47EB-45BA-A84D-812DF8F27D7B}"/>
              </a:ext>
            </a:extLst>
          </p:cNvPr>
          <p:cNvSpPr>
            <a:spLocks noGrp="1"/>
          </p:cNvSpPr>
          <p:nvPr>
            <p:ph type="body" sz="quarter" idx="10"/>
          </p:nvPr>
        </p:nvSpPr>
        <p:spPr/>
        <p:txBody>
          <a:bodyPr/>
          <a:lstStyle/>
          <a:p>
            <a:r>
              <a:rPr lang="zh-CN" altLang="en-US" dirty="0"/>
              <a:t>基因表达强度着色发育图</a:t>
            </a:r>
          </a:p>
        </p:txBody>
      </p:sp>
      <p:grpSp>
        <p:nvGrpSpPr>
          <p:cNvPr id="4" name="组合 3">
            <a:extLst>
              <a:ext uri="{FF2B5EF4-FFF2-40B4-BE49-F238E27FC236}">
                <a16:creationId xmlns:a16="http://schemas.microsoft.com/office/drawing/2014/main" id="{50CF403E-9440-4687-99BC-ED228E4C3633}"/>
              </a:ext>
            </a:extLst>
          </p:cNvPr>
          <p:cNvGrpSpPr/>
          <p:nvPr/>
        </p:nvGrpSpPr>
        <p:grpSpPr>
          <a:xfrm>
            <a:off x="249084" y="944272"/>
            <a:ext cx="9614664" cy="5493104"/>
            <a:chOff x="249084" y="1313079"/>
            <a:chExt cx="7267284" cy="4151985"/>
          </a:xfrm>
        </p:grpSpPr>
        <p:pic>
          <p:nvPicPr>
            <p:cNvPr id="11" name="图片 10">
              <a:extLst>
                <a:ext uri="{FF2B5EF4-FFF2-40B4-BE49-F238E27FC236}">
                  <a16:creationId xmlns:a16="http://schemas.microsoft.com/office/drawing/2014/main" id="{49AD1E85-9CF5-40DA-9169-5468D5C6BF4D}"/>
                </a:ext>
              </a:extLst>
            </p:cNvPr>
            <p:cNvPicPr>
              <a:picLocks noChangeAspect="1"/>
            </p:cNvPicPr>
            <p:nvPr/>
          </p:nvPicPr>
          <p:blipFill rotWithShape="1">
            <a:blip r:embed="rId2">
              <a:extLst>
                <a:ext uri="{28A0092B-C50C-407E-A947-70E740481C1C}">
                  <a14:useLocalDpi xmlns:a14="http://schemas.microsoft.com/office/drawing/2010/main" val="0"/>
                </a:ext>
              </a:extLst>
            </a:blip>
            <a:srcRect b="75109"/>
            <a:stretch/>
          </p:blipFill>
          <p:spPr>
            <a:xfrm>
              <a:off x="249084" y="1313079"/>
              <a:ext cx="7267284" cy="2115921"/>
            </a:xfrm>
            <a:prstGeom prst="rect">
              <a:avLst/>
            </a:prstGeom>
          </p:spPr>
        </p:pic>
        <p:pic>
          <p:nvPicPr>
            <p:cNvPr id="5" name="图片 4">
              <a:extLst>
                <a:ext uri="{FF2B5EF4-FFF2-40B4-BE49-F238E27FC236}">
                  <a16:creationId xmlns:a16="http://schemas.microsoft.com/office/drawing/2014/main" id="{32624450-8ECD-4BCD-BE95-4E82CAD052A6}"/>
                </a:ext>
              </a:extLst>
            </p:cNvPr>
            <p:cNvPicPr>
              <a:picLocks noChangeAspect="1"/>
            </p:cNvPicPr>
            <p:nvPr/>
          </p:nvPicPr>
          <p:blipFill rotWithShape="1">
            <a:blip r:embed="rId2">
              <a:extLst>
                <a:ext uri="{28A0092B-C50C-407E-A947-70E740481C1C}">
                  <a14:useLocalDpi xmlns:a14="http://schemas.microsoft.com/office/drawing/2010/main" val="0"/>
                </a:ext>
              </a:extLst>
            </a:blip>
            <a:srcRect t="25109" r="67148" b="50000"/>
            <a:stretch/>
          </p:blipFill>
          <p:spPr>
            <a:xfrm>
              <a:off x="249084" y="3349143"/>
              <a:ext cx="2387436" cy="2115921"/>
            </a:xfrm>
            <a:prstGeom prst="rect">
              <a:avLst/>
            </a:prstGeom>
          </p:spPr>
        </p:pic>
        <p:pic>
          <p:nvPicPr>
            <p:cNvPr id="6" name="图片 5">
              <a:extLst>
                <a:ext uri="{FF2B5EF4-FFF2-40B4-BE49-F238E27FC236}">
                  <a16:creationId xmlns:a16="http://schemas.microsoft.com/office/drawing/2014/main" id="{FA4B4AC4-0196-4077-A092-C8C175D76097}"/>
                </a:ext>
              </a:extLst>
            </p:cNvPr>
            <p:cNvPicPr>
              <a:picLocks noChangeAspect="1"/>
            </p:cNvPicPr>
            <p:nvPr/>
          </p:nvPicPr>
          <p:blipFill rotWithShape="1">
            <a:blip r:embed="rId2">
              <a:extLst>
                <a:ext uri="{28A0092B-C50C-407E-A947-70E740481C1C}">
                  <a14:useLocalDpi xmlns:a14="http://schemas.microsoft.com/office/drawing/2010/main" val="0"/>
                </a:ext>
              </a:extLst>
            </a:blip>
            <a:srcRect l="67316" t="25109" r="-168" b="50000"/>
            <a:stretch/>
          </p:blipFill>
          <p:spPr>
            <a:xfrm>
              <a:off x="2689008" y="3349142"/>
              <a:ext cx="2387436" cy="2115921"/>
            </a:xfrm>
            <a:prstGeom prst="rect">
              <a:avLst/>
            </a:prstGeom>
          </p:spPr>
        </p:pic>
      </p:grpSp>
      <p:sp>
        <p:nvSpPr>
          <p:cNvPr id="7" name="文本框 6">
            <a:extLst>
              <a:ext uri="{FF2B5EF4-FFF2-40B4-BE49-F238E27FC236}">
                <a16:creationId xmlns:a16="http://schemas.microsoft.com/office/drawing/2014/main" id="{B260DC40-4021-4A16-BDD8-B38E657989F4}"/>
              </a:ext>
            </a:extLst>
          </p:cNvPr>
          <p:cNvSpPr txBox="1"/>
          <p:nvPr/>
        </p:nvSpPr>
        <p:spPr>
          <a:xfrm>
            <a:off x="6807200" y="4061481"/>
            <a:ext cx="5317744" cy="1569660"/>
          </a:xfrm>
          <a:prstGeom prst="rect">
            <a:avLst/>
          </a:prstGeom>
          <a:noFill/>
        </p:spPr>
        <p:txBody>
          <a:bodyPr wrap="square" rtlCol="0">
            <a:spAutoFit/>
          </a:bodyPr>
          <a:lstStyle/>
          <a:p>
            <a:r>
              <a:rPr lang="zh-CN" altLang="en-US" sz="2400" dirty="0"/>
              <a:t>将在原条细胞发育分叉点找到的特征基因，映射到整条发育路径上。</a:t>
            </a:r>
            <a:br>
              <a:rPr lang="en-US" altLang="zh-CN" sz="2400" dirty="0"/>
            </a:br>
            <a:r>
              <a:rPr lang="zh-CN" altLang="en-US" sz="2400" dirty="0"/>
              <a:t>发现选取的特征基因的表达具有发育阶段特异性</a:t>
            </a:r>
          </a:p>
        </p:txBody>
      </p:sp>
    </p:spTree>
    <p:extLst>
      <p:ext uri="{BB962C8B-B14F-4D97-AF65-F5344CB8AC3E}">
        <p14:creationId xmlns:p14="http://schemas.microsoft.com/office/powerpoint/2010/main" val="3264784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34CAC4C-47EB-45BA-A84D-812DF8F27D7B}"/>
              </a:ext>
            </a:extLst>
          </p:cNvPr>
          <p:cNvSpPr>
            <a:spLocks noGrp="1"/>
          </p:cNvSpPr>
          <p:nvPr>
            <p:ph type="body" sz="quarter" idx="10"/>
          </p:nvPr>
        </p:nvSpPr>
        <p:spPr/>
        <p:txBody>
          <a:bodyPr/>
          <a:lstStyle/>
          <a:p>
            <a:r>
              <a:rPr lang="zh-CN" altLang="en-US" dirty="0"/>
              <a:t>基因表达强度着色发育图</a:t>
            </a:r>
          </a:p>
        </p:txBody>
      </p:sp>
      <p:pic>
        <p:nvPicPr>
          <p:cNvPr id="6" name="图片 5">
            <a:extLst>
              <a:ext uri="{FF2B5EF4-FFF2-40B4-BE49-F238E27FC236}">
                <a16:creationId xmlns:a16="http://schemas.microsoft.com/office/drawing/2014/main" id="{3FAD34C0-84C0-43EE-BEFB-AF1FAD776166}"/>
              </a:ext>
            </a:extLst>
          </p:cNvPr>
          <p:cNvPicPr>
            <a:picLocks noChangeAspect="1"/>
          </p:cNvPicPr>
          <p:nvPr/>
        </p:nvPicPr>
        <p:blipFill rotWithShape="1">
          <a:blip r:embed="rId2">
            <a:extLst>
              <a:ext uri="{28A0092B-C50C-407E-A947-70E740481C1C}">
                <a14:useLocalDpi xmlns:a14="http://schemas.microsoft.com/office/drawing/2010/main" val="0"/>
              </a:ext>
            </a:extLst>
          </a:blip>
          <a:srcRect t="50000"/>
          <a:stretch/>
        </p:blipFill>
        <p:spPr>
          <a:xfrm>
            <a:off x="249084" y="856486"/>
            <a:ext cx="9406980" cy="5501635"/>
          </a:xfrm>
          <a:prstGeom prst="rect">
            <a:avLst/>
          </a:prstGeom>
        </p:spPr>
      </p:pic>
      <p:sp>
        <p:nvSpPr>
          <p:cNvPr id="5" name="文本框 4">
            <a:extLst>
              <a:ext uri="{FF2B5EF4-FFF2-40B4-BE49-F238E27FC236}">
                <a16:creationId xmlns:a16="http://schemas.microsoft.com/office/drawing/2014/main" id="{5CEB861C-CE7E-4D65-AA06-93EAE00F7867}"/>
              </a:ext>
            </a:extLst>
          </p:cNvPr>
          <p:cNvSpPr txBox="1"/>
          <p:nvPr/>
        </p:nvSpPr>
        <p:spPr>
          <a:xfrm>
            <a:off x="6807200" y="4061481"/>
            <a:ext cx="5317744" cy="1569660"/>
          </a:xfrm>
          <a:prstGeom prst="rect">
            <a:avLst/>
          </a:prstGeom>
          <a:noFill/>
        </p:spPr>
        <p:txBody>
          <a:bodyPr wrap="square" rtlCol="0">
            <a:spAutoFit/>
          </a:bodyPr>
          <a:lstStyle/>
          <a:p>
            <a:r>
              <a:rPr lang="zh-CN" altLang="en-US" sz="2400" dirty="0"/>
              <a:t>将在原条细胞发育分叉点找到的特征基因，映射到整条发育路径上。</a:t>
            </a:r>
            <a:br>
              <a:rPr lang="en-US" altLang="zh-CN" sz="2400" dirty="0"/>
            </a:br>
            <a:r>
              <a:rPr lang="zh-CN" altLang="en-US" sz="2400" dirty="0"/>
              <a:t>发现选取的特征基因的表达具有发育阶段特异性</a:t>
            </a:r>
          </a:p>
        </p:txBody>
      </p:sp>
    </p:spTree>
    <p:extLst>
      <p:ext uri="{BB962C8B-B14F-4D97-AF65-F5344CB8AC3E}">
        <p14:creationId xmlns:p14="http://schemas.microsoft.com/office/powerpoint/2010/main" val="700033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4FA3CE4-1042-4DED-9890-D88543C35F45}"/>
              </a:ext>
            </a:extLst>
          </p:cNvPr>
          <p:cNvSpPr>
            <a:spLocks noGrp="1"/>
          </p:cNvSpPr>
          <p:nvPr>
            <p:ph type="body" sz="quarter" idx="10"/>
          </p:nvPr>
        </p:nvSpPr>
        <p:spPr>
          <a:xfrm>
            <a:off x="249083" y="71120"/>
            <a:ext cx="10833445" cy="740580"/>
          </a:xfrm>
        </p:spPr>
        <p:txBody>
          <a:bodyPr/>
          <a:lstStyle/>
          <a:p>
            <a:r>
              <a:rPr lang="zh-CN" altLang="en-US" dirty="0"/>
              <a:t>原条细胞</a:t>
            </a:r>
            <a:r>
              <a:rPr lang="en-US" altLang="zh-CN" dirty="0"/>
              <a:t>-&gt;</a:t>
            </a:r>
            <a:r>
              <a:rPr lang="zh-CN" altLang="en-US" dirty="0"/>
              <a:t>新生中胚层细胞 上调差异基因注释聚类</a:t>
            </a:r>
          </a:p>
        </p:txBody>
      </p:sp>
      <p:sp>
        <p:nvSpPr>
          <p:cNvPr id="4" name="文本框 3">
            <a:extLst>
              <a:ext uri="{FF2B5EF4-FFF2-40B4-BE49-F238E27FC236}">
                <a16:creationId xmlns:a16="http://schemas.microsoft.com/office/drawing/2014/main" id="{1C0F0F0B-5B57-456B-A524-496305177DDD}"/>
              </a:ext>
            </a:extLst>
          </p:cNvPr>
          <p:cNvSpPr txBox="1"/>
          <p:nvPr/>
        </p:nvSpPr>
        <p:spPr>
          <a:xfrm>
            <a:off x="249083" y="4361688"/>
            <a:ext cx="11180917" cy="1631216"/>
          </a:xfrm>
          <a:prstGeom prst="rect">
            <a:avLst/>
          </a:prstGeom>
          <a:noFill/>
        </p:spPr>
        <p:txBody>
          <a:bodyPr wrap="square" rtlCol="0">
            <a:spAutoFit/>
          </a:bodyPr>
          <a:lstStyle/>
          <a:p>
            <a:pPr algn="l"/>
            <a:r>
              <a:rPr lang="zh-CN" altLang="en-US" sz="2000" b="0" i="0" dirty="0">
                <a:solidFill>
                  <a:srgbClr val="0C0D0E"/>
                </a:solidFill>
                <a:effectLst/>
                <a:latin typeface="-apple-system"/>
              </a:rPr>
              <a:t>上调基因富集词条在</a:t>
            </a:r>
            <a:r>
              <a:rPr lang="en-US" altLang="zh-CN" sz="2000" b="1" i="0" dirty="0">
                <a:solidFill>
                  <a:srgbClr val="0C0D0E"/>
                </a:solidFill>
                <a:effectLst/>
                <a:latin typeface="-apple-system"/>
              </a:rPr>
              <a:t>RNA</a:t>
            </a:r>
            <a:r>
              <a:rPr lang="zh-CN" altLang="en-US" sz="2000" b="1" i="0" dirty="0">
                <a:solidFill>
                  <a:srgbClr val="0C0D0E"/>
                </a:solidFill>
                <a:effectLst/>
                <a:latin typeface="-apple-system"/>
              </a:rPr>
              <a:t>聚合酶</a:t>
            </a:r>
            <a:r>
              <a:rPr lang="en-US" altLang="zh-CN" sz="2000" b="1" i="0" dirty="0">
                <a:solidFill>
                  <a:srgbClr val="0C0D0E"/>
                </a:solidFill>
                <a:effectLst/>
                <a:latin typeface="-apple-system"/>
              </a:rPr>
              <a:t>II</a:t>
            </a:r>
            <a:r>
              <a:rPr lang="zh-CN" altLang="en-US" sz="2000" b="1" i="0" dirty="0">
                <a:solidFill>
                  <a:srgbClr val="0C0D0E"/>
                </a:solidFill>
                <a:effectLst/>
                <a:latin typeface="-apple-system"/>
              </a:rPr>
              <a:t>介导的转录调控、</a:t>
            </a:r>
            <a:r>
              <a:rPr lang="en-US" altLang="zh-CN" sz="2000" b="1" i="0" dirty="0">
                <a:solidFill>
                  <a:srgbClr val="0C0D0E"/>
                </a:solidFill>
                <a:effectLst/>
                <a:latin typeface="-apple-system"/>
              </a:rPr>
              <a:t>DNA</a:t>
            </a:r>
            <a:r>
              <a:rPr lang="zh-CN" altLang="en-US" sz="2000" b="1" i="0" dirty="0">
                <a:solidFill>
                  <a:srgbClr val="0C0D0E"/>
                </a:solidFill>
                <a:effectLst/>
                <a:latin typeface="-apple-system"/>
              </a:rPr>
              <a:t>修复、昼夜节律调控、自噬、甲基化、细胞分裂、蛋白质去泛素化、</a:t>
            </a:r>
            <a:r>
              <a:rPr lang="en-US" altLang="zh-CN" sz="2000" b="1" i="0" dirty="0">
                <a:solidFill>
                  <a:srgbClr val="0C0D0E"/>
                </a:solidFill>
                <a:effectLst/>
                <a:latin typeface="-apple-system"/>
              </a:rPr>
              <a:t>mRNA</a:t>
            </a:r>
            <a:r>
              <a:rPr lang="zh-CN" altLang="en-US" sz="2000" b="1" i="0" dirty="0">
                <a:solidFill>
                  <a:srgbClr val="0C0D0E"/>
                </a:solidFill>
                <a:effectLst/>
                <a:latin typeface="-apple-system"/>
              </a:rPr>
              <a:t>降解、</a:t>
            </a:r>
            <a:r>
              <a:rPr lang="en-US" altLang="zh-CN" sz="2000" b="1" i="0" dirty="0" err="1">
                <a:solidFill>
                  <a:srgbClr val="0C0D0E"/>
                </a:solidFill>
                <a:effectLst/>
                <a:latin typeface="-apple-system"/>
              </a:rPr>
              <a:t>Wnt</a:t>
            </a:r>
            <a:r>
              <a:rPr lang="zh-CN" altLang="en-US" sz="2000" b="1" i="0" dirty="0">
                <a:solidFill>
                  <a:srgbClr val="0C0D0E"/>
                </a:solidFill>
                <a:effectLst/>
                <a:latin typeface="-apple-system"/>
              </a:rPr>
              <a:t>信号通路、高尔基体内囊泡运输</a:t>
            </a:r>
            <a:r>
              <a:rPr lang="zh-CN" altLang="en-US" sz="2000" b="0" i="0" dirty="0">
                <a:solidFill>
                  <a:srgbClr val="0C0D0E"/>
                </a:solidFill>
                <a:effectLst/>
                <a:latin typeface="-apple-system"/>
              </a:rPr>
              <a:t>等。</a:t>
            </a:r>
            <a:endParaRPr lang="en-US" altLang="zh-CN" sz="2000" b="0" i="0" dirty="0">
              <a:solidFill>
                <a:srgbClr val="0C0D0E"/>
              </a:solidFill>
              <a:effectLst/>
              <a:latin typeface="-apple-system"/>
            </a:endParaRPr>
          </a:p>
          <a:p>
            <a:pPr algn="l"/>
            <a:endParaRPr lang="zh-CN" altLang="en-US" sz="2000" b="0" i="0" dirty="0">
              <a:solidFill>
                <a:srgbClr val="0C0D0E"/>
              </a:solidFill>
              <a:effectLst/>
              <a:latin typeface="-apple-system"/>
            </a:endParaRPr>
          </a:p>
          <a:p>
            <a:pPr algn="l"/>
            <a:r>
              <a:rPr lang="zh-CN" altLang="en-US" sz="2000" b="0" i="0" dirty="0">
                <a:solidFill>
                  <a:srgbClr val="0C0D0E"/>
                </a:solidFill>
                <a:effectLst/>
                <a:latin typeface="-apple-system"/>
              </a:rPr>
              <a:t>可能说明从原条细胞发育至新生中胚层过程中，转录调控、</a:t>
            </a:r>
            <a:r>
              <a:rPr lang="en-US" altLang="zh-CN" sz="2000" b="0" i="0" dirty="0">
                <a:solidFill>
                  <a:srgbClr val="0C0D0E"/>
                </a:solidFill>
                <a:effectLst/>
                <a:latin typeface="-apple-system"/>
              </a:rPr>
              <a:t>DNA</a:t>
            </a:r>
            <a:r>
              <a:rPr lang="zh-CN" altLang="en-US" sz="2000" b="0" i="0" dirty="0">
                <a:solidFill>
                  <a:srgbClr val="0C0D0E"/>
                </a:solidFill>
                <a:effectLst/>
                <a:latin typeface="-apple-system"/>
              </a:rPr>
              <a:t>修复、昼夜节律调控、细胞自噬、蛋白质修饰及降解等生物学过程被显著激活，细胞为后续的增殖、分化和功能特化做好了充分准备。</a:t>
            </a:r>
          </a:p>
        </p:txBody>
      </p:sp>
      <p:pic>
        <p:nvPicPr>
          <p:cNvPr id="8" name="图片 7">
            <a:extLst>
              <a:ext uri="{FF2B5EF4-FFF2-40B4-BE49-F238E27FC236}">
                <a16:creationId xmlns:a16="http://schemas.microsoft.com/office/drawing/2014/main" id="{524A6147-52C9-47F8-9DCA-C9B21D09D1B9}"/>
              </a:ext>
            </a:extLst>
          </p:cNvPr>
          <p:cNvPicPr>
            <a:picLocks noChangeAspect="1"/>
          </p:cNvPicPr>
          <p:nvPr/>
        </p:nvPicPr>
        <p:blipFill rotWithShape="1">
          <a:blip r:embed="rId2">
            <a:extLst>
              <a:ext uri="{28A0092B-C50C-407E-A947-70E740481C1C}">
                <a14:useLocalDpi xmlns:a14="http://schemas.microsoft.com/office/drawing/2010/main" val="0"/>
              </a:ext>
            </a:extLst>
          </a:blip>
          <a:srcRect b="66800"/>
          <a:stretch/>
        </p:blipFill>
        <p:spPr>
          <a:xfrm>
            <a:off x="249083" y="978846"/>
            <a:ext cx="11737552" cy="3382842"/>
          </a:xfrm>
          <a:prstGeom prst="rect">
            <a:avLst/>
          </a:prstGeom>
        </p:spPr>
      </p:pic>
    </p:spTree>
    <p:extLst>
      <p:ext uri="{BB962C8B-B14F-4D97-AF65-F5344CB8AC3E}">
        <p14:creationId xmlns:p14="http://schemas.microsoft.com/office/powerpoint/2010/main" val="2186720681"/>
      </p:ext>
    </p:extLst>
  </p:cSld>
  <p:clrMapOvr>
    <a:masterClrMapping/>
  </p:clrMapOvr>
  <mc:AlternateContent xmlns:mc="http://schemas.openxmlformats.org/markup-compatibility/2006" xmlns:p14="http://schemas.microsoft.com/office/powerpoint/2010/main">
    <mc:Choice Requires="p14">
      <p:transition spd="slow" p14:dur="2000" advTm="45515"/>
    </mc:Choice>
    <mc:Fallback xmlns="">
      <p:transition spd="slow" advTm="4551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F669D69-A2A0-4803-BB17-851E1C87196E}"/>
              </a:ext>
            </a:extLst>
          </p:cNvPr>
          <p:cNvSpPr>
            <a:spLocks noGrp="1"/>
          </p:cNvSpPr>
          <p:nvPr>
            <p:ph type="body" sz="quarter" idx="10"/>
          </p:nvPr>
        </p:nvSpPr>
        <p:spPr>
          <a:xfrm>
            <a:off x="249084" y="122647"/>
            <a:ext cx="6558116" cy="564535"/>
          </a:xfrm>
        </p:spPr>
        <p:txBody>
          <a:bodyPr/>
          <a:lstStyle/>
          <a:p>
            <a:r>
              <a:rPr lang="zh-CN" altLang="en-US" dirty="0"/>
              <a:t>后续工作</a:t>
            </a:r>
          </a:p>
        </p:txBody>
      </p:sp>
      <p:sp>
        <p:nvSpPr>
          <p:cNvPr id="3" name="文本占位符 2">
            <a:extLst>
              <a:ext uri="{FF2B5EF4-FFF2-40B4-BE49-F238E27FC236}">
                <a16:creationId xmlns:a16="http://schemas.microsoft.com/office/drawing/2014/main" id="{AFA78FAA-D985-4E13-808B-F3FF1F8CE39B}"/>
              </a:ext>
            </a:extLst>
          </p:cNvPr>
          <p:cNvSpPr>
            <a:spLocks noGrp="1"/>
          </p:cNvSpPr>
          <p:nvPr>
            <p:ph type="body" sz="quarter" idx="11"/>
          </p:nvPr>
        </p:nvSpPr>
        <p:spPr>
          <a:xfrm>
            <a:off x="249084" y="1444751"/>
            <a:ext cx="10847294" cy="4215385"/>
          </a:xfrm>
        </p:spPr>
        <p:txBody>
          <a:bodyPr/>
          <a:lstStyle/>
          <a:p>
            <a:r>
              <a:rPr lang="zh-CN" altLang="en-US" dirty="0"/>
              <a:t>进一步深度挖掘差异基因的生物学意义，着重关注胚胎发育过程中控制全能性的基因，从基因角度更好的阐释细胞是如何从多能状态向特定谱系分化。除了在原条细胞和新生中胚层细胞之间开展分析外，也对其他细胞类型之间也进行这一套差异基因表征工作流。</a:t>
            </a:r>
            <a:endParaRPr lang="en-US" altLang="zh-CN" dirty="0"/>
          </a:p>
          <a:p>
            <a:endParaRPr lang="en-US" altLang="zh-CN" dirty="0"/>
          </a:p>
          <a:p>
            <a:r>
              <a:rPr lang="zh-CN" altLang="en-US" dirty="0"/>
              <a:t>研究建立逆时轴是否适合该数据集，如果可行，完善拟时间分析，找到更合适的拟时间算法。</a:t>
            </a:r>
            <a:endParaRPr lang="en-US" altLang="zh-CN" dirty="0"/>
          </a:p>
          <a:p>
            <a:endParaRPr lang="en-US" altLang="zh-CN" dirty="0"/>
          </a:p>
          <a:p>
            <a:r>
              <a:rPr lang="zh-CN" altLang="en-US" dirty="0"/>
              <a:t>整理归纳研究成果，撰写毕业论文，准备结题答辩。</a:t>
            </a:r>
            <a:endParaRPr lang="en-US" altLang="zh-CN" dirty="0"/>
          </a:p>
        </p:txBody>
      </p:sp>
    </p:spTree>
    <p:extLst>
      <p:ext uri="{BB962C8B-B14F-4D97-AF65-F5344CB8AC3E}">
        <p14:creationId xmlns:p14="http://schemas.microsoft.com/office/powerpoint/2010/main" val="1485148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9AAFED3-22FE-498B-B438-B0FCFBFD519C}"/>
              </a:ext>
            </a:extLst>
          </p:cNvPr>
          <p:cNvSpPr>
            <a:spLocks noGrp="1"/>
          </p:cNvSpPr>
          <p:nvPr>
            <p:ph type="body" sz="quarter" idx="10"/>
          </p:nvPr>
        </p:nvSpPr>
        <p:spPr>
          <a:xfrm>
            <a:off x="310044" y="114285"/>
            <a:ext cx="6558116" cy="602011"/>
          </a:xfrm>
        </p:spPr>
        <p:txBody>
          <a:bodyPr/>
          <a:lstStyle/>
          <a:p>
            <a:r>
              <a:rPr lang="zh-CN" altLang="en-US" dirty="0"/>
              <a:t>参考文献</a:t>
            </a:r>
          </a:p>
        </p:txBody>
      </p:sp>
      <p:sp>
        <p:nvSpPr>
          <p:cNvPr id="3" name="文本占位符 2">
            <a:extLst>
              <a:ext uri="{FF2B5EF4-FFF2-40B4-BE49-F238E27FC236}">
                <a16:creationId xmlns:a16="http://schemas.microsoft.com/office/drawing/2014/main" id="{EC8F6C01-C1DB-45AA-8F8C-7C7F9AEC9168}"/>
              </a:ext>
            </a:extLst>
          </p:cNvPr>
          <p:cNvSpPr>
            <a:spLocks noGrp="1"/>
          </p:cNvSpPr>
          <p:nvPr>
            <p:ph type="body" sz="quarter" idx="11"/>
          </p:nvPr>
        </p:nvSpPr>
        <p:spPr>
          <a:xfrm>
            <a:off x="1" y="990086"/>
            <a:ext cx="11969496" cy="5374138"/>
          </a:xfrm>
        </p:spPr>
        <p:txBody>
          <a:bodyPr/>
          <a:lstStyle/>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1.	Wang, R., et al., </a:t>
            </a:r>
            <a:r>
              <a:rPr lang="en-US" altLang="zh-CN" sz="1500" i="1" kern="100" dirty="0">
                <a:effectLst/>
                <a:latin typeface="Calibri" panose="020F0502020204030204" pitchFamily="34" charset="0"/>
                <a:ea typeface="等线" panose="02010600030101010101" pitchFamily="2" charset="-122"/>
              </a:rPr>
              <a:t>Integration of Computational Analysis and Spatial Transcriptomics in Single-cell Studies.</a:t>
            </a:r>
            <a:r>
              <a:rPr lang="en-US" altLang="zh-CN" sz="1500" kern="100" dirty="0">
                <a:effectLst/>
                <a:latin typeface="Calibri" panose="020F0502020204030204" pitchFamily="34" charset="0"/>
                <a:ea typeface="等线" panose="02010600030101010101" pitchFamily="2" charset="-122"/>
              </a:rPr>
              <a:t> Genomics, Proteomics &amp; Bioinformatics, 2023. 21(1): p. 13-23.</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2.	</a:t>
            </a:r>
            <a:r>
              <a:rPr lang="en-US" altLang="zh-CN" sz="1500" kern="100" dirty="0" err="1">
                <a:effectLst/>
                <a:latin typeface="Calibri" panose="020F0502020204030204" pitchFamily="34" charset="0"/>
                <a:ea typeface="等线" panose="02010600030101010101" pitchFamily="2" charset="-122"/>
              </a:rPr>
              <a:t>Ringnér</a:t>
            </a:r>
            <a:r>
              <a:rPr lang="en-US" altLang="zh-CN" sz="1500" kern="100" dirty="0">
                <a:effectLst/>
                <a:latin typeface="Calibri" panose="020F0502020204030204" pitchFamily="34" charset="0"/>
                <a:ea typeface="等线" panose="02010600030101010101" pitchFamily="2" charset="-122"/>
              </a:rPr>
              <a:t>, M., </a:t>
            </a:r>
            <a:r>
              <a:rPr lang="en-US" altLang="zh-CN" sz="1500" i="1" kern="100" dirty="0">
                <a:effectLst/>
                <a:latin typeface="Calibri" panose="020F0502020204030204" pitchFamily="34" charset="0"/>
                <a:ea typeface="等线" panose="02010600030101010101" pitchFamily="2" charset="-122"/>
              </a:rPr>
              <a:t>What is principal component analysis?</a:t>
            </a:r>
            <a:r>
              <a:rPr lang="en-US" altLang="zh-CN" sz="1500" kern="100" dirty="0">
                <a:effectLst/>
                <a:latin typeface="Calibri" panose="020F0502020204030204" pitchFamily="34" charset="0"/>
                <a:ea typeface="等线" panose="02010600030101010101" pitchFamily="2" charset="-122"/>
              </a:rPr>
              <a:t> Nat </a:t>
            </a:r>
            <a:r>
              <a:rPr lang="en-US" altLang="zh-CN" sz="1500" kern="100" dirty="0" err="1">
                <a:effectLst/>
                <a:latin typeface="Calibri" panose="020F0502020204030204" pitchFamily="34" charset="0"/>
                <a:ea typeface="等线" panose="02010600030101010101" pitchFamily="2" charset="-122"/>
              </a:rPr>
              <a:t>Biotechnol</a:t>
            </a:r>
            <a:r>
              <a:rPr lang="en-US" altLang="zh-CN" sz="1500" kern="100" dirty="0">
                <a:effectLst/>
                <a:latin typeface="Calibri" panose="020F0502020204030204" pitchFamily="34" charset="0"/>
                <a:ea typeface="等线" panose="02010600030101010101" pitchFamily="2" charset="-122"/>
              </a:rPr>
              <a:t>, 2008. 26(3): p. 303-4.</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3.	Kobak, D. and P. Berens, </a:t>
            </a:r>
            <a:r>
              <a:rPr lang="en-US" altLang="zh-CN" sz="1500" i="1" kern="100" dirty="0">
                <a:effectLst/>
                <a:latin typeface="Calibri" panose="020F0502020204030204" pitchFamily="34" charset="0"/>
                <a:ea typeface="等线" panose="02010600030101010101" pitchFamily="2" charset="-122"/>
              </a:rPr>
              <a:t>The art of using t-SNE for single-cell transcriptomics.</a:t>
            </a:r>
            <a:r>
              <a:rPr lang="en-US" altLang="zh-CN" sz="1500" kern="100" dirty="0">
                <a:effectLst/>
                <a:latin typeface="Calibri" panose="020F0502020204030204" pitchFamily="34" charset="0"/>
                <a:ea typeface="等线" panose="02010600030101010101" pitchFamily="2" charset="-122"/>
              </a:rPr>
              <a:t> Nat </a:t>
            </a:r>
            <a:r>
              <a:rPr lang="en-US" altLang="zh-CN" sz="1500" kern="100" dirty="0" err="1">
                <a:effectLst/>
                <a:latin typeface="Calibri" panose="020F0502020204030204" pitchFamily="34" charset="0"/>
                <a:ea typeface="等线" panose="02010600030101010101" pitchFamily="2" charset="-122"/>
              </a:rPr>
              <a:t>Commun</a:t>
            </a:r>
            <a:r>
              <a:rPr lang="en-US" altLang="zh-CN" sz="1500" kern="100" dirty="0">
                <a:effectLst/>
                <a:latin typeface="Calibri" panose="020F0502020204030204" pitchFamily="34" charset="0"/>
                <a:ea typeface="等线" panose="02010600030101010101" pitchFamily="2" charset="-122"/>
              </a:rPr>
              <a:t>, 2019. 10(1): p. 5416.</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4.	Becht, E., et al., </a:t>
            </a:r>
            <a:r>
              <a:rPr lang="en-US" altLang="zh-CN" sz="1500" i="1" kern="100" dirty="0">
                <a:effectLst/>
                <a:latin typeface="Calibri" panose="020F0502020204030204" pitchFamily="34" charset="0"/>
                <a:ea typeface="等线" panose="02010600030101010101" pitchFamily="2" charset="-122"/>
              </a:rPr>
              <a:t>Dimensionality reduction for visualizing single-cell data using UMAP.</a:t>
            </a:r>
            <a:r>
              <a:rPr lang="en-US" altLang="zh-CN" sz="1500" kern="100" dirty="0">
                <a:effectLst/>
                <a:latin typeface="Calibri" panose="020F0502020204030204" pitchFamily="34" charset="0"/>
                <a:ea typeface="等线" panose="02010600030101010101" pitchFamily="2" charset="-122"/>
              </a:rPr>
              <a:t> Nat </a:t>
            </a:r>
            <a:r>
              <a:rPr lang="en-US" altLang="zh-CN" sz="1500" kern="100" dirty="0" err="1">
                <a:effectLst/>
                <a:latin typeface="Calibri" panose="020F0502020204030204" pitchFamily="34" charset="0"/>
                <a:ea typeface="等线" panose="02010600030101010101" pitchFamily="2" charset="-122"/>
              </a:rPr>
              <a:t>Biotechnol</a:t>
            </a:r>
            <a:r>
              <a:rPr lang="en-US" altLang="zh-CN" sz="1500" kern="100" dirty="0">
                <a:effectLst/>
                <a:latin typeface="Calibri" panose="020F0502020204030204" pitchFamily="34" charset="0"/>
                <a:ea typeface="等线" panose="02010600030101010101" pitchFamily="2" charset="-122"/>
              </a:rPr>
              <a:t>, 2018.</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5.	Langfelder, P. and S. Horvath, </a:t>
            </a:r>
            <a:r>
              <a:rPr lang="en-US" altLang="zh-CN" sz="1500" i="1" kern="100" dirty="0">
                <a:effectLst/>
                <a:latin typeface="Calibri" panose="020F0502020204030204" pitchFamily="34" charset="0"/>
                <a:ea typeface="等线" panose="02010600030101010101" pitchFamily="2" charset="-122"/>
              </a:rPr>
              <a:t>WGCNA: an R package for weighted correlation network analysis.</a:t>
            </a:r>
            <a:r>
              <a:rPr lang="en-US" altLang="zh-CN" sz="1500" kern="100" dirty="0">
                <a:effectLst/>
                <a:latin typeface="Calibri" panose="020F0502020204030204" pitchFamily="34" charset="0"/>
                <a:ea typeface="等线" panose="02010600030101010101" pitchFamily="2" charset="-122"/>
              </a:rPr>
              <a:t> BMC Bioinformatics, 2008. 9: p. 559.</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6.	</a:t>
            </a:r>
            <a:r>
              <a:rPr lang="en-US" altLang="zh-CN" sz="1500" kern="100" dirty="0" err="1">
                <a:effectLst/>
                <a:latin typeface="Calibri" panose="020F0502020204030204" pitchFamily="34" charset="0"/>
                <a:ea typeface="等线" panose="02010600030101010101" pitchFamily="2" charset="-122"/>
              </a:rPr>
              <a:t>Haghverdi</a:t>
            </a:r>
            <a:r>
              <a:rPr lang="en-US" altLang="zh-CN" sz="1500" kern="100" dirty="0">
                <a:effectLst/>
                <a:latin typeface="Calibri" panose="020F0502020204030204" pitchFamily="34" charset="0"/>
                <a:ea typeface="等线" panose="02010600030101010101" pitchFamily="2" charset="-122"/>
              </a:rPr>
              <a:t>, L., et al., </a:t>
            </a:r>
            <a:r>
              <a:rPr lang="en-US" altLang="zh-CN" sz="1500" i="1" kern="100" dirty="0">
                <a:effectLst/>
                <a:latin typeface="Calibri" panose="020F0502020204030204" pitchFamily="34" charset="0"/>
                <a:ea typeface="等线" panose="02010600030101010101" pitchFamily="2" charset="-122"/>
              </a:rPr>
              <a:t>Diffusion </a:t>
            </a:r>
            <a:r>
              <a:rPr lang="en-US" altLang="zh-CN" sz="1500" i="1" kern="100" dirty="0" err="1">
                <a:effectLst/>
                <a:latin typeface="Calibri" panose="020F0502020204030204" pitchFamily="34" charset="0"/>
                <a:ea typeface="等线" panose="02010600030101010101" pitchFamily="2" charset="-122"/>
              </a:rPr>
              <a:t>pseudotime</a:t>
            </a:r>
            <a:r>
              <a:rPr lang="en-US" altLang="zh-CN" sz="1500" i="1" kern="100" dirty="0">
                <a:effectLst/>
                <a:latin typeface="Calibri" panose="020F0502020204030204" pitchFamily="34" charset="0"/>
                <a:ea typeface="等线" panose="02010600030101010101" pitchFamily="2" charset="-122"/>
              </a:rPr>
              <a:t> robustly reconstructs lineage branching.</a:t>
            </a:r>
            <a:r>
              <a:rPr lang="en-US" altLang="zh-CN" sz="1500" kern="100" dirty="0">
                <a:effectLst/>
                <a:latin typeface="Calibri" panose="020F0502020204030204" pitchFamily="34" charset="0"/>
                <a:ea typeface="等线" panose="02010600030101010101" pitchFamily="2" charset="-122"/>
              </a:rPr>
              <a:t> Nat Methods, 2016. 13(10): p. 845-8.</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7.	</a:t>
            </a:r>
            <a:r>
              <a:rPr lang="en-US" altLang="zh-CN" sz="1500" kern="100" dirty="0" err="1">
                <a:effectLst/>
                <a:latin typeface="Calibri" panose="020F0502020204030204" pitchFamily="34" charset="0"/>
                <a:ea typeface="等线" panose="02010600030101010101" pitchFamily="2" charset="-122"/>
              </a:rPr>
              <a:t>Jin</a:t>
            </a:r>
            <a:r>
              <a:rPr lang="en-US" altLang="zh-CN" sz="1500" kern="100" dirty="0">
                <a:effectLst/>
                <a:latin typeface="Calibri" panose="020F0502020204030204" pitchFamily="34" charset="0"/>
                <a:ea typeface="等线" panose="02010600030101010101" pitchFamily="2" charset="-122"/>
              </a:rPr>
              <a:t>, S., et al., </a:t>
            </a:r>
            <a:r>
              <a:rPr lang="en-US" altLang="zh-CN" sz="1500" i="1" kern="100" dirty="0" err="1">
                <a:effectLst/>
                <a:latin typeface="Calibri" panose="020F0502020204030204" pitchFamily="34" charset="0"/>
                <a:ea typeface="等线" panose="02010600030101010101" pitchFamily="2" charset="-122"/>
              </a:rPr>
              <a:t>scEpath</a:t>
            </a:r>
            <a:r>
              <a:rPr lang="en-US" altLang="zh-CN" sz="1500" i="1" kern="100" dirty="0">
                <a:effectLst/>
                <a:latin typeface="Calibri" panose="020F0502020204030204" pitchFamily="34" charset="0"/>
                <a:ea typeface="等线" panose="02010600030101010101" pitchFamily="2" charset="-122"/>
              </a:rPr>
              <a:t>: energy landscape-based inference of transition probabilities and cellular trajectories from single-cell transcriptomic data.</a:t>
            </a:r>
            <a:r>
              <a:rPr lang="en-US" altLang="zh-CN" sz="1500" kern="100" dirty="0">
                <a:effectLst/>
                <a:latin typeface="Calibri" panose="020F0502020204030204" pitchFamily="34" charset="0"/>
                <a:ea typeface="等线" panose="02010600030101010101" pitchFamily="2" charset="-122"/>
              </a:rPr>
              <a:t> Bioinformatics, 2018. 34(12): p. 2077-2086.</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8.	Wang, R., et al., </a:t>
            </a:r>
            <a:r>
              <a:rPr lang="en-US" altLang="zh-CN" sz="1500" i="1" kern="100" dirty="0">
                <a:effectLst/>
                <a:latin typeface="Calibri" panose="020F0502020204030204" pitchFamily="34" charset="0"/>
                <a:ea typeface="等线" panose="02010600030101010101" pitchFamily="2" charset="-122"/>
              </a:rPr>
              <a:t>Time space and single-cell resolved tissue lineage trajectories and laterality of body plan at gastrulation.</a:t>
            </a:r>
            <a:r>
              <a:rPr lang="en-US" altLang="zh-CN" sz="1500" kern="100" dirty="0">
                <a:effectLst/>
                <a:latin typeface="Calibri" panose="020F0502020204030204" pitchFamily="34" charset="0"/>
                <a:ea typeface="等线" panose="02010600030101010101" pitchFamily="2" charset="-122"/>
              </a:rPr>
              <a:t> Nature Communications, 2023. 14(1): p. 5675.</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9.	</a:t>
            </a:r>
            <a:r>
              <a:rPr lang="en-US" altLang="zh-CN" sz="1500" kern="100" dirty="0" err="1">
                <a:effectLst/>
                <a:latin typeface="Calibri" panose="020F0502020204030204" pitchFamily="34" charset="0"/>
                <a:ea typeface="等线" panose="02010600030101010101" pitchFamily="2" charset="-122"/>
              </a:rPr>
              <a:t>Qiu</a:t>
            </a:r>
            <a:r>
              <a:rPr lang="en-US" altLang="zh-CN" sz="1500" kern="100" dirty="0">
                <a:effectLst/>
                <a:latin typeface="Calibri" panose="020F0502020204030204" pitchFamily="34" charset="0"/>
                <a:ea typeface="等线" panose="02010600030101010101" pitchFamily="2" charset="-122"/>
              </a:rPr>
              <a:t>, C., et al., </a:t>
            </a:r>
            <a:r>
              <a:rPr lang="en-US" altLang="zh-CN" sz="1500" i="1" kern="100" dirty="0">
                <a:effectLst/>
                <a:latin typeface="Calibri" panose="020F0502020204030204" pitchFamily="34" charset="0"/>
                <a:ea typeface="等线" panose="02010600030101010101" pitchFamily="2" charset="-122"/>
              </a:rPr>
              <a:t>Systematic reconstruction of cellular trajectories across mouse embryogenesis.</a:t>
            </a:r>
            <a:r>
              <a:rPr lang="en-US" altLang="zh-CN" sz="1500" kern="100" dirty="0">
                <a:effectLst/>
                <a:latin typeface="Calibri" panose="020F0502020204030204" pitchFamily="34" charset="0"/>
                <a:ea typeface="等线" panose="02010600030101010101" pitchFamily="2" charset="-122"/>
              </a:rPr>
              <a:t> Nature Genetics, 2022. 54(3): p. 328-341.</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10.	Wagner, D.E., et al., </a:t>
            </a:r>
            <a:r>
              <a:rPr lang="en-US" altLang="zh-CN" sz="1500" i="1" kern="100" dirty="0">
                <a:effectLst/>
                <a:latin typeface="Calibri" panose="020F0502020204030204" pitchFamily="34" charset="0"/>
                <a:ea typeface="等线" panose="02010600030101010101" pitchFamily="2" charset="-122"/>
              </a:rPr>
              <a:t>Single-cell mapping of gene expression landscapes and lineage in the zebrafish embryo.</a:t>
            </a:r>
            <a:r>
              <a:rPr lang="en-US" altLang="zh-CN" sz="1500" kern="100" dirty="0">
                <a:effectLst/>
                <a:latin typeface="Calibri" panose="020F0502020204030204" pitchFamily="34" charset="0"/>
                <a:ea typeface="等线" panose="02010600030101010101" pitchFamily="2" charset="-122"/>
              </a:rPr>
              <a:t> Science, 2018. 360(6392): p. 981-987.</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11.	Farrell, J.A., et al., </a:t>
            </a:r>
            <a:r>
              <a:rPr lang="en-US" altLang="zh-CN" sz="1500" i="1" kern="100" dirty="0">
                <a:effectLst/>
                <a:latin typeface="Calibri" panose="020F0502020204030204" pitchFamily="34" charset="0"/>
                <a:ea typeface="等线" panose="02010600030101010101" pitchFamily="2" charset="-122"/>
              </a:rPr>
              <a:t>Single-cell reconstruction of developmental trajectories during zebrafish embryogenesis.</a:t>
            </a:r>
            <a:r>
              <a:rPr lang="en-US" altLang="zh-CN" sz="1500" kern="100" dirty="0">
                <a:effectLst/>
                <a:latin typeface="Calibri" panose="020F0502020204030204" pitchFamily="34" charset="0"/>
                <a:ea typeface="等线" panose="02010600030101010101" pitchFamily="2" charset="-122"/>
              </a:rPr>
              <a:t> Science, 2018. 360(6392): p. eaar3131.</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12.	Green, G.S., et al., </a:t>
            </a:r>
            <a:r>
              <a:rPr lang="en-US" altLang="zh-CN" sz="1500" i="1" kern="100" dirty="0">
                <a:effectLst/>
                <a:latin typeface="Calibri" panose="020F0502020204030204" pitchFamily="34" charset="0"/>
                <a:ea typeface="等线" panose="02010600030101010101" pitchFamily="2" charset="-122"/>
              </a:rPr>
              <a:t>Cellular communities reveal trajectories of brain ageing and Alzheimer’s disease.</a:t>
            </a:r>
            <a:r>
              <a:rPr lang="en-US" altLang="zh-CN" sz="1500" kern="100" dirty="0">
                <a:effectLst/>
                <a:latin typeface="Calibri" panose="020F0502020204030204" pitchFamily="34" charset="0"/>
                <a:ea typeface="等线" panose="02010600030101010101" pitchFamily="2" charset="-122"/>
              </a:rPr>
              <a:t> Nature, 2024. 633(8030): p. 634-645.</a:t>
            </a:r>
            <a:endParaRPr lang="zh-CN" altLang="zh-CN" sz="1500" kern="100" dirty="0">
              <a:effectLst/>
              <a:latin typeface="Calibri" panose="020F0502020204030204" pitchFamily="34" charset="0"/>
              <a:ea typeface="等线" panose="02010600030101010101" pitchFamily="2" charset="-122"/>
            </a:endParaRPr>
          </a:p>
          <a:p>
            <a:pPr marL="457200" indent="0">
              <a:lnSpc>
                <a:spcPct val="100000"/>
              </a:lnSpc>
              <a:spcBef>
                <a:spcPts val="0"/>
              </a:spcBef>
              <a:buNone/>
            </a:pPr>
            <a:r>
              <a:rPr lang="en-US" altLang="zh-CN" sz="1500" kern="100" dirty="0">
                <a:effectLst/>
                <a:latin typeface="Calibri" panose="020F0502020204030204" pitchFamily="34" charset="0"/>
                <a:ea typeface="等线" panose="02010600030101010101" pitchFamily="2" charset="-122"/>
              </a:rPr>
              <a:t>13.	Kirschenbaum, D., et al., </a:t>
            </a:r>
            <a:r>
              <a:rPr lang="en-US" altLang="zh-CN" sz="1500" i="1" kern="100" dirty="0">
                <a:effectLst/>
                <a:latin typeface="Calibri" panose="020F0502020204030204" pitchFamily="34" charset="0"/>
                <a:ea typeface="等线" panose="02010600030101010101" pitchFamily="2" charset="-122"/>
              </a:rPr>
              <a:t>Time-resolved single-cell transcriptomics defines immune trajectories in glioblastoma.</a:t>
            </a:r>
            <a:r>
              <a:rPr lang="en-US" altLang="zh-CN" sz="1500" kern="100" dirty="0">
                <a:effectLst/>
                <a:latin typeface="Calibri" panose="020F0502020204030204" pitchFamily="34" charset="0"/>
                <a:ea typeface="等线" panose="02010600030101010101" pitchFamily="2" charset="-122"/>
              </a:rPr>
              <a:t> Cell, 2024. 187(1): p. 149-165.e23.</a:t>
            </a:r>
            <a:endParaRPr lang="zh-CN" altLang="zh-CN" sz="1500" kern="100" dirty="0">
              <a:effectLst/>
              <a:latin typeface="Calibri" panose="020F0502020204030204" pitchFamily="34" charset="0"/>
              <a:ea typeface="等线" panose="02010600030101010101" pitchFamily="2" charset="-122"/>
            </a:endParaRPr>
          </a:p>
          <a:p>
            <a:pPr marL="800100" indent="-342900">
              <a:lnSpc>
                <a:spcPct val="100000"/>
              </a:lnSpc>
              <a:spcBef>
                <a:spcPts val="0"/>
              </a:spcBef>
              <a:buAutoNum type="arabicPeriod" startAt="14"/>
            </a:pPr>
            <a:r>
              <a:rPr lang="en-US" altLang="zh-CN" sz="1500" kern="100" dirty="0" err="1">
                <a:effectLst/>
                <a:latin typeface="Calibri" panose="020F0502020204030204" pitchFamily="34" charset="0"/>
                <a:ea typeface="等线" panose="02010600030101010101" pitchFamily="2" charset="-122"/>
              </a:rPr>
              <a:t>Schiebinger</a:t>
            </a:r>
            <a:r>
              <a:rPr lang="en-US" altLang="zh-CN" sz="1500" kern="100" dirty="0">
                <a:effectLst/>
                <a:latin typeface="Calibri" panose="020F0502020204030204" pitchFamily="34" charset="0"/>
                <a:ea typeface="等线" panose="02010600030101010101" pitchFamily="2" charset="-122"/>
              </a:rPr>
              <a:t>, G., et al., </a:t>
            </a:r>
            <a:r>
              <a:rPr lang="en-US" altLang="zh-CN" sz="1500" i="1" kern="100" dirty="0">
                <a:effectLst/>
                <a:latin typeface="Calibri" panose="020F0502020204030204" pitchFamily="34" charset="0"/>
                <a:ea typeface="等线" panose="02010600030101010101" pitchFamily="2" charset="-122"/>
              </a:rPr>
              <a:t>Optimal-Transport Analysis of Single-Cell Gene Expression Identifies Developmental Trajectories in Reprogramming.</a:t>
            </a:r>
            <a:r>
              <a:rPr lang="en-US" altLang="zh-CN" sz="1500" kern="100" dirty="0">
                <a:effectLst/>
                <a:latin typeface="Calibri" panose="020F0502020204030204" pitchFamily="34" charset="0"/>
                <a:ea typeface="等线" panose="02010600030101010101" pitchFamily="2" charset="-122"/>
              </a:rPr>
              <a:t> Cell, 2019. 176(4): p. 928-943.e22.</a:t>
            </a:r>
          </a:p>
          <a:p>
            <a:pPr marL="800100" indent="-342900">
              <a:lnSpc>
                <a:spcPct val="100000"/>
              </a:lnSpc>
              <a:spcBef>
                <a:spcPts val="0"/>
              </a:spcBef>
              <a:buAutoNum type="arabicPeriod" startAt="14"/>
            </a:pPr>
            <a:r>
              <a:rPr lang="en-US" altLang="zh-CN" sz="1500" kern="100" dirty="0" err="1">
                <a:effectLst/>
                <a:latin typeface="Calibri" panose="020F0502020204030204" pitchFamily="34" charset="0"/>
                <a:ea typeface="等线" panose="02010600030101010101" pitchFamily="2" charset="-122"/>
              </a:rPr>
              <a:t>Thowfeequ</a:t>
            </a:r>
            <a:r>
              <a:rPr lang="en-US" altLang="zh-CN" sz="1500" kern="100" dirty="0">
                <a:effectLst/>
                <a:latin typeface="Calibri" panose="020F0502020204030204" pitchFamily="34" charset="0"/>
                <a:ea typeface="等线" panose="02010600030101010101" pitchFamily="2" charset="-122"/>
              </a:rPr>
              <a:t>, S., Hanna, C.W. &amp; Srinivas, S. Origin, fate and function of extraembryonic tissues during mammalian development. Nat Rev Mol Cell Biol 26, 255–275 (2025). https://doi.org/10.1038/s41580-024-00809-w</a:t>
            </a:r>
          </a:p>
          <a:p>
            <a:pPr marL="0" indent="0">
              <a:lnSpc>
                <a:spcPct val="100000"/>
              </a:lnSpc>
              <a:spcBef>
                <a:spcPts val="0"/>
              </a:spcBef>
              <a:buNone/>
            </a:pPr>
            <a:endParaRPr lang="zh-CN" altLang="en-US" sz="1500" dirty="0"/>
          </a:p>
        </p:txBody>
      </p:sp>
    </p:spTree>
    <p:extLst>
      <p:ext uri="{BB962C8B-B14F-4D97-AF65-F5344CB8AC3E}">
        <p14:creationId xmlns:p14="http://schemas.microsoft.com/office/powerpoint/2010/main" val="765141841"/>
      </p:ext>
    </p:extLst>
  </p:cSld>
  <p:clrMapOvr>
    <a:masterClrMapping/>
  </p:clrMapOvr>
  <mc:AlternateContent xmlns:mc="http://schemas.openxmlformats.org/markup-compatibility/2006" xmlns:p14="http://schemas.microsoft.com/office/powerpoint/2010/main">
    <mc:Choice Requires="p14">
      <p:transition spd="slow" p14:dur="2000" advTm="4472"/>
    </mc:Choice>
    <mc:Fallback xmlns="">
      <p:transition spd="slow" advTm="447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4553B-1A61-44DE-AD6E-4E19642FB13E}"/>
              </a:ext>
            </a:extLst>
          </p:cNvPr>
          <p:cNvSpPr>
            <a:spLocks noGrp="1"/>
          </p:cNvSpPr>
          <p:nvPr>
            <p:ph type="title"/>
          </p:nvPr>
        </p:nvSpPr>
        <p:spPr>
          <a:xfrm>
            <a:off x="828675" y="1341752"/>
            <a:ext cx="10515600" cy="1325563"/>
          </a:xfrm>
        </p:spPr>
        <p:txBody>
          <a:bodyPr/>
          <a:lstStyle/>
          <a:p>
            <a:r>
              <a:rPr lang="zh-CN" altLang="en-US" dirty="0"/>
              <a:t>恳请老师批评指正！</a:t>
            </a:r>
          </a:p>
        </p:txBody>
      </p:sp>
      <p:sp>
        <p:nvSpPr>
          <p:cNvPr id="3" name="文本框 2">
            <a:extLst>
              <a:ext uri="{FF2B5EF4-FFF2-40B4-BE49-F238E27FC236}">
                <a16:creationId xmlns:a16="http://schemas.microsoft.com/office/drawing/2014/main" id="{B666CDE6-63E1-4D54-B635-C68C68803252}"/>
              </a:ext>
            </a:extLst>
          </p:cNvPr>
          <p:cNvSpPr txBox="1"/>
          <p:nvPr/>
        </p:nvSpPr>
        <p:spPr>
          <a:xfrm>
            <a:off x="3733996" y="4805050"/>
            <a:ext cx="4929556" cy="707886"/>
          </a:xfrm>
          <a:prstGeom prst="rect">
            <a:avLst/>
          </a:prstGeom>
          <a:noFill/>
        </p:spPr>
        <p:txBody>
          <a:bodyPr wrap="none" rtlCol="0">
            <a:spAutoFit/>
          </a:bodyPr>
          <a:lstStyle/>
          <a:p>
            <a:pPr algn="ctr"/>
            <a:r>
              <a:rPr lang="zh-CN" altLang="en-US" sz="2000" dirty="0">
                <a:latin typeface="黑体" panose="02010609060101010101" pitchFamily="49" charset="-122"/>
                <a:ea typeface="黑体" panose="02010609060101010101" pitchFamily="49" charset="-122"/>
              </a:rPr>
              <a:t>化生</a:t>
            </a:r>
            <a:r>
              <a:rPr lang="en-US" altLang="zh-CN" sz="2000" dirty="0">
                <a:latin typeface="黑体" panose="02010609060101010101" pitchFamily="49" charset="-122"/>
                <a:ea typeface="黑体" panose="02010609060101010101" pitchFamily="49" charset="-122"/>
              </a:rPr>
              <a:t>2101 </a:t>
            </a:r>
            <a:r>
              <a:rPr lang="zh-CN" altLang="en-US" sz="2000" dirty="0">
                <a:latin typeface="黑体" panose="02010609060101010101" pitchFamily="49" charset="-122"/>
                <a:ea typeface="黑体" panose="02010609060101010101" pitchFamily="49" charset="-122"/>
              </a:rPr>
              <a:t>刘般若</a:t>
            </a: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指导老师：王然研究员</a:t>
            </a:r>
            <a:endParaRPr lang="en-US" altLang="zh-CN" sz="2000" dirty="0">
              <a:latin typeface="黑体" panose="02010609060101010101" pitchFamily="49" charset="-122"/>
              <a:ea typeface="黑体" panose="02010609060101010101" pitchFamily="49" charset="-122"/>
            </a:endParaRPr>
          </a:p>
          <a:p>
            <a:pPr algn="ctr"/>
            <a:r>
              <a:rPr lang="en-US" altLang="zh-CN" sz="2000" dirty="0">
                <a:latin typeface="黑体" panose="02010609060101010101" pitchFamily="49" charset="-122"/>
                <a:ea typeface="黑体" panose="02010609060101010101" pitchFamily="49" charset="-122"/>
              </a:rPr>
              <a:t>2025</a:t>
            </a:r>
            <a:r>
              <a:rPr lang="zh-CN" altLang="en-US" sz="2000" dirty="0">
                <a:latin typeface="黑体" panose="02010609060101010101" pitchFamily="49" charset="-122"/>
                <a:ea typeface="黑体" panose="02010609060101010101" pitchFamily="49" charset="-122"/>
              </a:rPr>
              <a:t>年</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月</a:t>
            </a:r>
            <a:r>
              <a:rPr lang="en-US" altLang="zh-CN" sz="2000" dirty="0">
                <a:latin typeface="黑体" panose="02010609060101010101" pitchFamily="49" charset="-122"/>
                <a:ea typeface="黑体" panose="02010609060101010101" pitchFamily="49" charset="-122"/>
              </a:rPr>
              <a:t>16</a:t>
            </a:r>
            <a:r>
              <a:rPr lang="zh-CN" altLang="en-US" sz="2000" dirty="0">
                <a:latin typeface="黑体" panose="02010609060101010101" pitchFamily="49" charset="-122"/>
                <a:ea typeface="黑体" panose="02010609060101010101" pitchFamily="49" charset="-122"/>
              </a:rPr>
              <a:t>日</a:t>
            </a:r>
          </a:p>
        </p:txBody>
      </p:sp>
      <p:sp>
        <p:nvSpPr>
          <p:cNvPr id="4" name="标题 1">
            <a:extLst>
              <a:ext uri="{FF2B5EF4-FFF2-40B4-BE49-F238E27FC236}">
                <a16:creationId xmlns:a16="http://schemas.microsoft.com/office/drawing/2014/main" id="{B972EFC2-7A84-437C-A78E-A46031FA4155}"/>
              </a:ext>
            </a:extLst>
          </p:cNvPr>
          <p:cNvSpPr txBox="1">
            <a:spLocks/>
          </p:cNvSpPr>
          <p:nvPr/>
        </p:nvSpPr>
        <p:spPr>
          <a:xfrm>
            <a:off x="940970" y="2412295"/>
            <a:ext cx="10515600" cy="2030098"/>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黑体" panose="02010609060101010101" pitchFamily="49" charset="-122"/>
                <a:ea typeface="黑体" panose="02010609060101010101" pitchFamily="49" charset="-122"/>
                <a:cs typeface="+mj-cs"/>
              </a:defRPr>
            </a:lvl1pPr>
          </a:lstStyle>
          <a:p>
            <a:r>
              <a:rPr lang="zh-CN" altLang="en-US" sz="3600" dirty="0"/>
              <a:t>利用单细胞测序技术研究小鼠中胚层细胞</a:t>
            </a:r>
            <a:br>
              <a:rPr lang="en-US" altLang="zh-CN" sz="3600" dirty="0"/>
            </a:br>
            <a:r>
              <a:rPr lang="zh-CN" altLang="en-US" sz="3600" dirty="0"/>
              <a:t>的命运决定过程</a:t>
            </a:r>
            <a:br>
              <a:rPr lang="en-US" altLang="zh-CN" sz="3600" dirty="0"/>
            </a:br>
            <a:br>
              <a:rPr lang="en-US" altLang="zh-CN" sz="3600" dirty="0"/>
            </a:br>
            <a:r>
              <a:rPr lang="zh-CN" altLang="en-US" sz="2800" dirty="0"/>
              <a:t>中期答辩</a:t>
            </a:r>
            <a:endParaRPr lang="zh-CN" altLang="en-US" sz="3600" dirty="0"/>
          </a:p>
        </p:txBody>
      </p:sp>
    </p:spTree>
    <p:extLst>
      <p:ext uri="{BB962C8B-B14F-4D97-AF65-F5344CB8AC3E}">
        <p14:creationId xmlns:p14="http://schemas.microsoft.com/office/powerpoint/2010/main" val="1181202137"/>
      </p:ext>
    </p:extLst>
  </p:cSld>
  <p:clrMapOvr>
    <a:masterClrMapping/>
  </p:clrMapOvr>
  <mc:AlternateContent xmlns:mc="http://schemas.openxmlformats.org/markup-compatibility/2006" xmlns:p14="http://schemas.microsoft.com/office/powerpoint/2010/main">
    <mc:Choice Requires="p14">
      <p:transition spd="slow" p14:dur="2000" advTm="3472"/>
    </mc:Choice>
    <mc:Fallback xmlns="">
      <p:transition spd="slow" advTm="3472"/>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2445</TotalTime>
  <Words>2055</Words>
  <Application>Microsoft Office PowerPoint</Application>
  <PresentationFormat>宽屏</PresentationFormat>
  <Paragraphs>181</Paragraphs>
  <Slides>19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-apple-system</vt:lpstr>
      <vt:lpstr>等线</vt:lpstr>
      <vt:lpstr>黑体</vt:lpstr>
      <vt:lpstr>Arial</vt:lpstr>
      <vt:lpstr>Calibri</vt:lpstr>
      <vt:lpstr>Wingdings</vt:lpstr>
      <vt:lpstr>Office 主题​​</vt:lpstr>
      <vt:lpstr>利用单细胞测序技术研究小鼠中胚层细胞 的命运决定过程  中期答辩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恳请老师批评指正！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般若</dc:creator>
  <cp:lastModifiedBy>刘 般若</cp:lastModifiedBy>
  <cp:revision>114</cp:revision>
  <dcterms:created xsi:type="dcterms:W3CDTF">2025-01-08T14:02:00Z</dcterms:created>
  <dcterms:modified xsi:type="dcterms:W3CDTF">2025-04-16T05:24:36Z</dcterms:modified>
</cp:coreProperties>
</file>